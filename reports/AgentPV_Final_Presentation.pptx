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各位老师好。我汇报的项目叫 AgentPV，全称是面向光伏和电池储能的云边协同故障诊断与推理流水线。这个项目解决的是一个很实际的问题：电站和储能站有大量传感器数据，边缘设备算力有限但必须在毫秒到百毫秒级给出告警；运维人员又不满足于只知道「是什么故障」，还需要知道「现在该做什么、有多紧急、依据哪条内部规程」。  </a:t>
            </a:r>
          </a:p>
          <a:p>
            <a:r>
              <a:t>AgentPV 的架构因此分成两层：边缘是量化 CNN，云端是 ReAct + RAG 智能体；中间还有多节点编排器写 JSONL，以及 Component 7 的操作员界面（本 PPT 只讲设计与脚本化证据，**网页现场演示另场进行**）。  </a:t>
            </a:r>
          </a:p>
          <a:p>
            <a:r>
              <a:t>今天我会按 C1 到 C8 完整讲一遍：数据、模型与压缩、鲁棒性、智能体评测、集成与 graceful degradation、C7 交付物与终稿报告。所有 headline 数字来自 2026-06-03 全链路产物。</a:t>
            </a:r>
          </a:p>
          <a:p/>
          <a:p>
            <a:r>
              <a:t>【English Narration】</a:t>
            </a:r>
          </a:p>
          <a:p>
            <a:r>
              <a:t>Good morning. I present **AgentPV**—an end-to-end cloud–edge pipeline for fault diagnosis and operator assistance in PV plants and grid-scale BESS.  </a:t>
            </a:r>
          </a:p>
          <a:p>
            <a:r>
              <a:t>The operational problem is twofold. At the edge, gateways have limited CPU and memory but must classify faults within milliseconds to hundreds of milliseconds, often while cloud connectivity is degraded. At the operator desk, a bare class label is insufficient: crews need an actionable recommendation, an urgency level, and citations to the internal playbook so actions are auditable.  </a:t>
            </a:r>
          </a:p>
          <a:p>
            <a:r>
              <a:t>AgentPV addresses both layers. A quantised 1D-CNN on the edge labels sixty-second, eight-channel windows into eleven fault classes. A cloud ReAct agent returns recommendations with knowledge-base citations. A ten-node orchestrator proves scale-out and graceful degradation on the **same HTTP path** as benchmarks. Component seven includes an operator UI and scripted fault-injection reports—we describe that deliverable here; the **live browser demo is a separate session**, not part of this slide deck.  </a:t>
            </a:r>
          </a:p>
          <a:p>
            <a:r>
              <a:t>Today I walk through components C1 through C8 with numbers from our 2026-06-03 full pipeline run—traceable in `reports/final_report.pdf`.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这是今天的路线图。我会先讲为什么需要云边协同、我们和已有工作的差异、以及六大贡献；然后用一张表对照作业 C1 到 C8，让各位老师清楚每一项要求对应仓库里的哪份证据。  </a:t>
            </a:r>
          </a:p>
          <a:p>
            <a:r>
              <a:t>之后按数据流顺序展开：仿真数据 → 边缘训练与 ONNX/INT8 → 六轴鲁棒性 → ReAct 智能体与 33 场景 benchmark → 三种集成模式的真 HTTP 延迟与十节点编排 → C7 脚本化故障注入报告（**不在此 PPT 里做网页演示**）。最后讲工程质量、局限、复现路径与 Q&amp;A 备份。</a:t>
            </a:r>
          </a:p>
          <a:p/>
          <a:p>
            <a:r>
              <a:t>【English Narration】</a:t>
            </a:r>
          </a:p>
          <a:p>
            <a:r>
              <a:t>This slide is the roadmap for a complete, structured defence. I start with motivation, related work, and six concrete contributions, then map every assignment component C1–C8 to verifiable artefacts in the repository.  </a:t>
            </a:r>
          </a:p>
          <a:p>
            <a:r>
              <a:t>The technical narrative follows the pipeline: synthetic data, edge training and quantisation, six-axis robustness, the ReAct agent benchmark, live HTTP integration and orchestrator evidence, then component-seven **scripted** fault-injection results—not a live browser walkthrough in this deck. I close with engineering quality, limitations, reproducibility, and Q&amp;A backup slides.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光伏和储能站点都是典型的信息物理系统：每秒都有电压、电流、温度、辐照度或 SOC 等遥测进来。如果故障发现晚，轻则发电损失，重则热失控或设备不可逆损伤。边缘网关通常只有 CPU、内存都很有限，而且现场经常断网——所以第一层必须本地、快速、可靠地给出告警。  </a:t>
            </a:r>
          </a:p>
          <a:p>
            <a:r>
              <a:t>但运维一线反馈是：光告诉「Partial_shading」或「Thermal_anomaly」不够，他们还要知道是先降功率、先隔离、还是先叫人，以及依据哪条 SOP。这就必须有一层云端推理，把结构化告警变成自然语言建议，并且引用知识库 chunk，方便事后审计。  </a:t>
            </a:r>
          </a:p>
          <a:p>
            <a:r>
              <a:t>AgentPV 不是把两件事硬拼在一起，而是用明确的 HTTP 契约连接：`SensorWindow` 进 edge，`Alert` 进 agent，输出 `Recommendation`。这样 benchmark、编排器、故障注入脚本都走同一条路，评测结果才代表真系统。操作员界面单独有网页演示环节，本 PPT 只讲设计与脚本化证据。</a:t>
            </a:r>
          </a:p>
          <a:p/>
          <a:p>
            <a:r>
              <a:t>【English Narration】</a:t>
            </a:r>
          </a:p>
          <a:p>
            <a:r>
              <a:t>PV and BESS sites are classic cyber-physical systems: continuous telemetry on voltage, current, temperature, irradiance or state-of-charge. Late detection costs money and can create safety incidents. Edge gateways have tight resource budgets and often lose cloud connectivity—so the first tier must classify locally, quickly, and reliably.  </a:t>
            </a:r>
          </a:p>
          <a:p>
            <a:r>
              <a:t>Operators consistently ask for more than a fault name. They need an imperative action, an urgency level, and a traceable link to the playbook—not a bare softmax label. That motivates a cloud tier that turns structured alerts into recommendations with knowledge-base citations.  </a:t>
            </a:r>
          </a:p>
          <a:p>
            <a:r>
              <a:t>AgentPV connects the tiers through explicit HTTP schemas: `SensorWindow` into edge `/predict`, `Alert` into agent `/recommend`, yielding a `Recommendation`. Benchmarks, the orchestrator, and scripted fault injection all reuse that path—so evaluation results reflect the real system. The browser-based operator UI is demonstrated in a separate session; this deck covers design and scripted evidence only.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相关工作可以分四块。第一，光伏故障深度学习文献很多停在准确率或混淆矩阵，很少同时报告 ONNX 导出、INT8 压缩、CPU P95 延迟和模型体积是否满足部署预算——我们把这些写进 C3 对照表。第二，储能领域常见的是 RUL 或 SOH 估计；在本项目里 RUL 是智能体可调用的工具之一，而不是边缘主分类任务，这样分工更清晰。第三，ReAct 和 RAG 在 NLP 里很常见，但很多 demo 是 isolated prompt；我们是真 edge 服务 in the loop，对 33 个场景跑消融。第四，OOD 检测我们采用 energy score，但不止报 AUROC，还做六轴 stress，并明确写「什么时候策略有效、什么时候无效」。  </a:t>
            </a:r>
          </a:p>
          <a:p>
            <a:r>
              <a:t>差异化总结：AgentPV 评的是**整条运维链**——准确率、延迟、压缩、grounding、graceful degradation——而不是单一 offline metric。</a:t>
            </a:r>
          </a:p>
          <a:p/>
          <a:p>
            <a:r>
              <a:t>【English Narration】</a:t>
            </a:r>
          </a:p>
          <a:p>
            <a:r>
              <a:t>Related work falls into four buckets. PV fault-detection papers often report accuracy or confusion matrices but rarely commit to ONNX export, INT8 trade-offs, CPU P95 latency, and model size against explicit deployment budgets—we report all of that in component three. BESS literature emphasises RUL or SOH; in AgentPV, RUL is a tool the agent may call, not the edge headline classifier. ReAct and RAG are well known in NLP, but many demos use isolated prompts; we close the loop with live edge HTTP and thirty-three benchmark scenarios under three ablations. For OOD, we use energy scores but go further with six stress axes and documented failure boundaries—not just AUROC.  </a:t>
            </a:r>
          </a:p>
          <a:p>
            <a:r>
              <a:t>The differentiator is evaluating the **full operator-facing chain**: accuracy, latency, compression, grounding, and graceful degradation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这页是全文贡献的「目录」。第一，代码库可复现：从 `simulation/generate_dataset.py` 到 `dashboard/inject.py` 全链路有脚本，284 条单元测试 guarding 关键路径。第二，PV 和 BESS 各训一套 CNN，每条线有 PyTorch、ONNX FP32、ONNX INT8 三种后端，Macro-F1、P95、MiB 都有表。第三，应导师 2026-05-13 反馈，我们做了 distribution shift、缺通道、噪声、漂移、FGSM、跨系统 OOD 六轴测试，并加 energy-based 选择性预测。第四，智能体用真 Ollama llama3.2，33 场景 × 三消融，LLM-as-judge 平均 4.10。第五，集成评测是真 HTTP：三种模式各 50 次，再加 10 节点编排 144 events。第六，C7 交付物包括双语操作员界面与 `demo_fault_injection.py` 脚本报告——与编排器同 HTTP 路径，五场景全部通过；**网页现场演示不在本 PPT 内**。  </a:t>
            </a:r>
          </a:p>
          <a:p>
            <a:r>
              <a:t>右下角小图预告 C6：full 模式 P95 约 9.8 秒，edge_only 只有几毫秒——后面会分解。</a:t>
            </a:r>
          </a:p>
          <a:p/>
          <a:p>
            <a:r>
              <a:t>【English Narration】</a:t>
            </a:r>
          </a:p>
          <a:p>
            <a:r>
              <a:t>These six bullets index everything I will unpack. First, end-to-end reproducibility with two hundred eighty-four unit tests guarding simulation through dashboard inject. Second, dual-system models with three deployment backends each—PyTorch FP32, ONNX FP32, ONNX INT8—with macro-F1, P95 latency, and size tabulated honestly, including BESS INT8 failure. Third, responding to instructor feedback, six stress axes plus energy-based selective prediction calibrated on validation coverage. Fourth, a real local LLM benchmark—thirty-three scenarios, three ablations, LLM-as-judge mean four point one zero. Fifth, live HTTP integration—fifty iterations per mode plus a ten-node orchestrator session yielding one hundred forty-four events. Sixth, component seven delivers an operator UI plus scripted fault-injection report on the same HTTP path as the orchestrator—all five scenarios pass; the live browser walkthrough is a separate session, not in this deck.  </a:t>
            </a:r>
          </a:p>
          <a:p>
            <a:r>
              <a:t>The small latency bar chart previews component six: full-mode P95 near nine point eight seconds versus edge-only in single-digit milliseconds—we decompose that 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这张表直接对应评分 rubric，每一行都可以在仓库里打开验证。C1：50500 样本，超过 50000 门槛；data card 十四节模板完整。C2：时序 CNN、ONNX 导出、INT8 静态量化，体积远小于 50MB，边缘 P95 亚毫秒到毫秒级。C3：三种后端对照、混淆矩阵、trade-off 图。C4：ReAct 五阶段、30 篇 playbook、四个工具。C5：33 场景、三种消融、启发式 rubric + LLM judge。C6：`pv6_bess4` 十节点、三种 integration mode、full P95 9803 ms 小于 10 秒。C7：`dashboard/app.py` 四 Tab 操作员界面 + `scripts/demo_fault_injection.py` 脚本报告（五场景全 ✅，事件写入 `events_c7_demo.jsonl`）。C8：24 页 A4 PDF。  </a:t>
            </a:r>
          </a:p>
          <a:p>
            <a:r>
              <a:t>本 PPT 不展开浏览器操作步骤；网页演示按 `docs/网页演示指南.md` 另场进行。</a:t>
            </a:r>
          </a:p>
          <a:p/>
          <a:p>
            <a:r>
              <a:t>【English Narration】</a:t>
            </a:r>
          </a:p>
          <a:p>
            <a:r>
              <a:t>This slide maps the grading rubric to concrete artefacts—every row is verifiable on disk or via pytest. C1: fifty thousand five hundred samples with a full data card. C2: temporal CNN, ONNX export, static INT8, sub-fifty-megabyte models, edge P95 within one hundred milliseconds. C3: three backends, confusion matrices, compression trade-offs—including honest BESS INT8 degradation. C4: ReAct workflow, thirty playbook documents, four tools. C5: thirty-three scenarios, three ablations, heuristic plus LLM-as-judge scoring. C6: ten-node catalogue `pv6_bess4`, three integration modes, full-mode P95 nine thousand eight hundred three milliseconds under the ten-second budget. C7: operator UI in `dashboard/app.py` plus scripted fault injection—all five scenarios pass in `fault_injection_demo.md`. C8: twenty-four-page A4 PDF.  </a:t>
            </a:r>
          </a:p>
          <a:p>
            <a:r>
              <a:t>This deck does not walk through the browser UI; that live demo follows `docs/网页演示指南.md` in a separate segment.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架构分四层，每层对应清晰目录。数据层用三个仿真脚本生成 NPZ 和 split CSV，`version.txt` 冻结 seed 和样本数。边缘层 `edge_service` 加载 ONNX（生产默认 BESS 用 FP32），输入 Pydantic 校验过的 `SensorWindow`，输出 `Alert`。云端 `agent_service` 跑 ReAct，输入 `Alert`，输出 `Recommendation`，其中 `knowledge_sources` 是审计关键字段。第四层是运维视角：`orchestrator` 模拟十个资产并发 tick，写 JSONL；`dashboard` 读 JSONL 并通过 `inject.py` 注入——与 `NodeRunner` 同 HTTP 路径。  </a:t>
            </a:r>
          </a:p>
          <a:p>
            <a:r>
              <a:t>为什么强调 HTTP 契约？因为 agent_eval、C6 bench、C7 脚本注入都调同一套 API——如果 UI 走 mock 而集成走真服务，答辩说服力会下降。我们刻意避免这种 split-brain。</a:t>
            </a:r>
          </a:p>
          <a:p/>
          <a:p>
            <a:r>
              <a:t>【English Narration】</a:t>
            </a:r>
          </a:p>
          <a:p>
            <a:r>
              <a:t>The architecture has four layers with clear directory boundaries. The data layer uses simulators and `generate_dataset.py`, freezing metadata in `version.txt`. The edge tier loads ONNX artefacts—production defaults to BESS FP32—and exposes `/predict` returning validated `Alert` objects. The cloud tier runs ReAct via `/recommend`, returning `Recommendation` objects whose `knowledge_sources` field is the audit trail. The operations layer includes a ten-node orchestrator writing JSONL and a dashboard that reads and injects via `dashboard/inject.py` on the same HTTP path as the node runner.  </a:t>
            </a:r>
          </a:p>
          <a:p>
            <a:r>
              <a:t>We stress HTTP contracts because agent evaluation, component-six benches, and component-seven scripted injection all call the same APIs. Split-brain demos—mock in the UI, real services in tests—would weaken the defence; we avoided that by sharing the inject module with the orchestrator.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左列是离线训练评测链：从仿真到 robustness script。右列是在线服务与报告渲染。老师问「某个数字从哪来」，按用途回表：延迟看 `integration_eval.md` 和 `e2e_latency_*.json`；智能体看 `agent_eval.md` 和 with_judge JSON；分类看 `reports/pv/comparison.md`。复现入口两处：`复现指南.md` 逐步版、`final_report.md` §11.3 一键 PowerShell 块。本 PPT 不引入新数字，只做终稿与子报告的 readable 索引。</a:t>
            </a:r>
          </a:p>
          <a:p/>
          <a:p>
            <a:r>
              <a:t>【English Narration】</a:t>
            </a:r>
          </a:p>
          <a:p>
            <a:r>
              <a:t>The left column is the offline chain from simulation through robustness evaluation. The right column is online services and report scripts. When asked where a number comes from, point to the artefact: latency from `integration_eval.md` and JSON benches; agent scores from `agent_eval.md` and the with-judge JSON; classification from PV/BESS comparison tables. Reproduction is documented twice—step-by-step in `复现指南.md` and one-shot in final report section eleven point three. This deck indexes those sources; it introduces no new metrics.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C1 首先要解释数据来源合法性。课程 §8.5 明确禁止直接用 Kaggle 或 HuggingFace 上的 PV/BESS 故障数据集；真实现场数据又往往签 NDA，无法提交。所以我们用自研仿真器：PV 侧有辐照度、组件温度、DC 电压电流功率等简化物理关系；BESS 侧是 RC 等效电路加 SOC、内阻、循环老化项；`fault_injector` 对干净窗口施加确定性扰动，每种故障一个纯函数，RNG 可 seed。  </a:t>
            </a:r>
          </a:p>
          <a:p>
            <a:r>
              <a:t>固定 seed 42 后，任何人重跑 `generate_dataset` 应得到相同 NPZ 和 split，元数据写在 `data/version.txt`。三类 operating condition（高辐照、低辐照、高温）按 5:3:2 采样，保证每个 fault class 在每种工况下都有样本——这是后续 distribution shift 测试的基础。</a:t>
            </a:r>
          </a:p>
          <a:p/>
          <a:p>
            <a:r>
              <a:t>【English Narration】</a:t>
            </a:r>
          </a:p>
          <a:p>
            <a:r>
              <a:t>Component one begins with data provenance. The course forbids off-the-shelf Kaggle or HuggingFace PV/BESS fault sets; real plant data is typically proprietary. We therefore built physics-inspired simulators: PV channels follow simplified irradiance-to-power relationships; BESS channels follow an RC equivalent-circuit with SOC, resistance, and ageing terms; `fault_injector` applies deterministic, seedable perturbations per fault class.  </a:t>
            </a:r>
          </a:p>
          <a:p>
            <a:r>
              <a:t>With seed forty-two, regeneration is byte-identical—recorded in `data/version.txt`. Three operating conditions sampled five-three-two ensure every fault class appears in every condition, which later supports distribution-shift evaluation in component three extensions.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50500 总样本，PV 28000、BESS 22500，满足「≥50000」硬门槛。每个样本是 60 秒、8 通道窗口，采样率 1 Hz，与边缘推理输入一致。划分不是简单 random row split，而是按 `system_id` 分层：同一个模拟资产的所有窗口只出现在 train、val 或 test 之一，避免「同一条串」泄漏到测试集导致 F1 虚高。比例大约 70/15/15，具体数字以 `version.txt` 为准：35126 / 7768 / 7606。  </a:t>
            </a:r>
          </a:p>
          <a:p>
            <a:r>
              <a:t>2026-06-03 这轮是全链路 refresh 的时间戳；如果老师问「你的数字是不是旧的」，可以当场打开 `data/version.txt` 核对 `generated_at` 和 splits 字段。</a:t>
            </a:r>
          </a:p>
          <a:p/>
          <a:p>
            <a:r>
              <a:t>【English Narration】</a:t>
            </a:r>
          </a:p>
          <a:p>
            <a:r>
              <a:t>Fifty thousand five hundred samples—twenty-eight thousand PV and twenty-two thousand five hundred BESS—exceed the fifty-thousand requirement. Each example is a sixty-step, eight-channel window at one hertz, matching edge inference input. Splits are stratified by `system_id` so the same simulated asset never appears in both train and test—a common leakage mistake we avoided. Approximate seventy-fifteen-fifteen split yields thirty-five thousand one hundred twenty-six train, seven thousand seven hundred sixty-eight validation, and seven thousand six hundred six test rows per the live `version.txt`.  </a:t>
            </a:r>
          </a:p>
          <a:p>
            <a:r>
              <a:t>The 2026-06-03 timestamp marks our full-pipeline refresh; auditors can open `data/version.txt` on the spot to verify `generated_at` and split counts.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C1 的标签体系直接来自 `api/schemas.py` 里的单一真源元组，PV 七类故障加 BESS 五类，边缘一共输出十一种非重复故障名（含两套 Normal）。正常类在生成时故意过采样：PV_Normal 约 8002、BESS_Normal 约 5000，用来压低运维误报率，训练侧再用 class-balanced cross-entropy 保护少数故障类。  </a:t>
            </a:r>
          </a:p>
          <a:p>
            <a:r>
              <a:t>severity 是云边契约的第二维：monitor 只落盘 Edge Alert，不调用 `/recommend`；warning 和 critical 才走全链路。这与编排器 `AGENT_TRIGGER_SEVERITIES`、C7 场景 4（PV_Normal）完全一致，避免「演示一套规则、集成另一套规则」。  </a:t>
            </a:r>
          </a:p>
          <a:p>
            <a:r>
              <a:t>答辩时若被问「为什么 eleven classes」，答：作业要求 PV≥7、BESS≥5，我们按系统拆开训练两个 CNN head，但运维视图统一成 Alert JSON。</a:t>
            </a:r>
          </a:p>
          <a:p/>
          <a:p>
            <a:r>
              <a:t>【English Narration】</a:t>
            </a:r>
          </a:p>
          <a:p>
            <a:r>
              <a:t>Component one’s label taxonomy is frozen in `api/schemas.py`: seven PV faults plus five BESS faults, eleven distinct class names at the edge. Normal classes are oversampled—roughly eight thousand PV_Normal and five thousand BESS_Normal windows—to reflect operator tolerance for false alarms; training uses class-balanced cross-entropy so minority faults still learn well.  </a:t>
            </a:r>
          </a:p>
          <a:p>
            <a:r>
              <a:t>Severity is the second contract dimension. `monitor` persists an edge alert only; `warning` and `critical` trigger `/recommend`. That gate matches the orchestrator’s `AGENT_TRIGGER_SEVERITIES` and C7 scenario four, so demo, benchmark, and integration share one rule—not two.  </a:t>
            </a:r>
          </a:p>
          <a:p>
            <a:r>
              <a:t>If asked why eleven classes: the assignment requires at least seven PV and five BESS labels; we train separate CNN heads per system but expose a unified `Alert` schema to the cloud tier.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三类 operating condition 按 5:3:2 采样，高辐照占约一半，高温最少但每个故障类在三种工况下都有样本——这是作业「≥3 工况」的硬要求，也是后面 robustness「distribution shift」轴能切片的前提。具体计数 25110 / 15359 / 10031 与 `docs/data_card.md` §7 一致。  </a:t>
            </a:r>
          </a:p>
          <a:p>
            <a:r>
              <a:t>八个通道的顺序写死在 Pydantic `SensorWindow` 和训练 NPZ 里，训练和 ONNX 推理必须同一顺序；鲁棒性实验里的 missing-feature mask 也是按通道索引施加的。PV 侧偏电气与热环境，BESS 侧强调内阻估计、电压散布和循环老化代理量。  </a:t>
            </a:r>
          </a:p>
          <a:p>
            <a:r>
              <a:t>右下 condition heatmap 会在后面鲁棒性章节再次出现：三类工况下 macro-F1 仍高位，说明 shift 轴上模型没有「只会高辐照」。</a:t>
            </a:r>
          </a:p>
          <a:p/>
          <a:p>
            <a:r>
              <a:t>【English Narration】</a:t>
            </a:r>
          </a:p>
          <a:p>
            <a:r>
              <a:t>Three operating conditions are sampled five-three-two: high irradiance about half the corpus, high temperature the rarest—but every fault class appears in every condition. That satisfies the assignment and underpins our distribution-shift stress axis. Counts twenty-five thousand one hundred ten, fifteen thousand three hundred fifty-nine, and ten thousand thirty-one match `docs/data_card.md` section seven.  </a:t>
            </a:r>
          </a:p>
          <a:p>
            <a:r>
              <a:t>Eight channels are order-locked in `SensorWindow` and training tensors; ONNX inference and missing-feature masks rely on the same indices. PV channels emphasise electrical and thermal environment; BESS channels emphasise resistance estimates, voltage spread, and ageing proxies.  </a:t>
            </a:r>
          </a:p>
          <a:p>
            <a:r>
              <a:t>The condition heatmap preview shows macro-F1 stays high across regimes—we return to that under robustness.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边缘模型是刻意小的 1D-CNN：两层卷积加 BN、ReLU，全局平均池化后接全连接，每系统约四万八千参数，远小于 50 MiB 预算。PV 与 BESS **共享结构、不共享权重**，避免跨系统 shortcut。训练目标用 validation macro-F1 做 early stop，比裸 accuracy 更适合轻度不平衡。  </a:t>
            </a:r>
          </a:p>
          <a:p>
            <a:r>
              <a:t>导出链把标准化 (μ,σ) 烘焙进 ONNX 图前端，保证 edge 服务只做一次 forward；静态 INT8 用 1024 条校准样本做 per-tensor MinMax——这也是 BESS INT8 失败的根因之一，后面会诚实展示。  </a:t>
            </a:r>
          </a:p>
          <a:p>
            <a:r>
              <a:t>老师若问「为何不用 Transformer/LSTM」，答：作业强调部署预算；我们实测 ONNX FP32 P95 约 0.15 ms，满足亚百毫秒约束，且可解释、可量化。</a:t>
            </a:r>
          </a:p>
          <a:p/>
          <a:p>
            <a:r>
              <a:t>【English Narration】</a:t>
            </a:r>
          </a:p>
          <a:p>
            <a:r>
              <a:t>The edge tier is a deliberately small 1D-CNN: two convolution–batch-norm–ReLU stages, global average pooling, dense classifier—about forty-eight thousand parameters per system, far below the fifty-megabyte cap. PV and BESS share architecture but not weights, avoiding cross-system shortcuts. Early stopping tracks validation macro-F1, fairer than accuracy under mild imbalance.  </a:t>
            </a:r>
          </a:p>
          <a:p>
            <a:r>
              <a:t>Export bakes input standardisation into the ONNX graph front; static INT8 uses one thousand twenty-four calibration windows with per-tensor MinMax—the same policy that later breaks BESS INT8, which we report honestly.  </a:t>
            </a:r>
          </a:p>
          <a:p>
            <a:r>
              <a:t>If asked why not Transformer or LSTM: the assignment stresses deployment budgets; ONNX FP32 P95 near zero point one five milliseconds meets sub-hundred-millisecond edge goals with a transparent, quantisable CNN.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这张表是 C3 交付的核心数字墙。PV 三条线 macro-F1 都是 0.9994，INT8 甚至无损，体积从 0.184 MiB 压到 0.058 MiB。BESS FP32 同样 0.9980，但 INT8 掉到 0.7058——不是训练失败，而是量化与窄特征带冲突，下一页用混淆矩阵证明。  </a:t>
            </a:r>
          </a:p>
          <a:p>
            <a:r>
              <a:t>延迟上 ONNX FP32 相对 PyTorch 约六倍加速，INT8 再减半；全部远低于 100 ms CPU P95 作业上限。生产建议写死在报告里：BESS 默认 FP32 ONNX，仍只有 0.175 MiB。  </a:t>
            </a:r>
          </a:p>
          <a:p>
            <a:r>
              <a:t>底图 trade-off 把 accuracy–size–latency 三点连成曲线，方便老师一眼看到「我们 characterise compression trade-off，而不是只报最好点」。</a:t>
            </a:r>
          </a:p>
          <a:p/>
          <a:p>
            <a:r>
              <a:t>【English Narration】</a:t>
            </a:r>
          </a:p>
          <a:p>
            <a:r>
              <a:t>This table is the component-three number wall. PV macro-F1 stays zero point nine nine nine four across PyTorch, ONNX FP32, and INT8—effectively lossless compression to zero point zero five eight megabytes. BESS FP32 matches zero point nine nine eight zero; INT8 falls to zero point seven zero five eight—not a training failure but quantisation colliding with narrow feature bands, shown on the next slide.  </a:t>
            </a:r>
          </a:p>
          <a:p>
            <a:r>
              <a:t>ONNX FP32 yields roughly six-fold CPU speed-up over PyTorch with zero F1 drift; INT8 halves latency again. All variants sit far below the one-hundred-millisecond edge P95 budget. Production guidance: default BESS to FP32 ONNX at zero point one seven five megabytes.  </a:t>
            </a:r>
          </a:p>
          <a:p>
            <a:r>
              <a:t>Bottom trade-off plots connect accuracy, size, and latency—evidence we characterise compression honestly, not cherry-pick the best cell.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左两图说明 FP32 部署形态下 PV、BESS 对角线干净，满足「macro-F1 ≥0.99」叙事。第三张是 BESS INT8 的 canonical failure：Normal、热异常、内阻上升三类互混，和我们在 §4.4 写的机理一致——三类在估计内阻和电压散布上数值带很窄，per-tensor MinMax 把尺度压扁。  </a:t>
            </a:r>
          </a:p>
          <a:p>
            <a:r>
              <a:t>我们刻意把 INT8 失败放在答辩正文，而不是只放附录，因为这是作业 §4.3 要求的 trade-off characterisation。补救路线也写在 `开发记录.md`：Entropy 校准、per-channel 权重量化；当前 scope 内生产默认 BESS FP32。  </a:t>
            </a:r>
          </a:p>
          <a:p>
            <a:r>
              <a:t>若老师问「INT8 是否完全不可用」，答：PV 可用；BESS 需换量化策略前不建议上线 INT8。</a:t>
            </a:r>
          </a:p>
          <a:p/>
          <a:p>
            <a:r>
              <a:t>【English Narration】</a:t>
            </a:r>
          </a:p>
          <a:p>
            <a:r>
              <a:t>The first two matrices show clean FP32 diagonals for PV and BESS—supporting macro-F1 at or above zero point nine nine. The third is the canonical BESS INT8 failure: Normal, thermal anomaly, and internal-resistance increase collapse together, matching section four point four—narrow bands in resistance and voltage-spread features crushed by per-tensor MinMax, a twenty-nine point two percentage-point macro-F1 drop.  </a:t>
            </a:r>
          </a:p>
          <a:p>
            <a:r>
              <a:t>We show INT8 failure in the main deck, not hidden in appendix, because the assignment demands compression trade-off characterisation. Documented remediations include entropy calibration and per-channel quantisation; production defaults to BESS FP32 until then.  </a:t>
            </a:r>
          </a:p>
          <a:p>
            <a:r>
              <a:t>If asked whether INT8 is useless: PV INT8 is effectively lossless; BESS INT8 is a documented negative result pending better quantisation policy.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2026-05-13 导师反馈的核心是：高测试 F1 不等于现场可靠。因此我们扩展了六轴压力测试，每一轴都有可复现 generator 和 sweep 表，结果写入 `reports/robustness_eval.md` 与九张/system 图。  </a:t>
            </a:r>
          </a:p>
          <a:p>
            <a:r>
              <a:t>分布内切片用 meta CSV 的 operating_condition；缺通道、噪声、漂移、FGSM、跨系统 OOD 分别对应不同 failure mode，后面一页会写「何时成功、何时失败」。选择性预测是 training-free 的 energy score，在 validation 上校准到 95% coverage，低于阈值就拒绝给出自信但错误的类。  </a:t>
            </a:r>
          </a:p>
          <a:p>
            <a:r>
              <a:t>这一整章回答的是 deployment realism，而不是再刷一个 baseline 分数。</a:t>
            </a:r>
          </a:p>
          <a:p/>
          <a:p>
            <a:r>
              <a:t>【English Narration】</a:t>
            </a:r>
          </a:p>
          <a:p>
            <a:r>
              <a:t>Instructor feedback on 2026-05-13 stressed that high test F1 does not imply field reliability. We therefore added six stress axes—each with reproducible generators and sweeps—documented in `reports/robustness_eval.md` and nine figures per system.  </a:t>
            </a:r>
          </a:p>
          <a:p>
            <a:r>
              <a:t>Distribution shift slices by operating condition; missing channels, noise, drift, FGSM, and cross-system OOD target distinct failure modes documented on slide eighteen. Selective prediction uses a training-free energy score calibrated to ninety-five percent validation coverage—rejecting over-confident wrong classes.  </a:t>
            </a:r>
          </a:p>
          <a:p>
            <a:r>
              <a:t>This chapter answers deployment realism, not another leaderboard baseline.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表头数字全部来自 2026-06-03 重跑的 robustness 报告，与 fifty thousand five hundred 样本刷新一致。分布内：PV/BESS 在 95% coverage 下 selective accuracy 接近 1，risk-coverage 曲线贴近左上角，说明「拒绝最不确定的 5%」策略有效。  </a:t>
            </a:r>
          </a:p>
          <a:p>
            <a:r>
              <a:t>跨系统 OOD 时 energy 分数方向 inverted——高能量反而更像 in-distribution，但 AUROC 仍高于随机（PV 0.6037，BESS 1.0），所以部署不能盲用默认阈值，需要 flip 或 Mahalanobis 补充。我们选择在报告里写清，而不是只报一个好看的 AUROC。  </a:t>
            </a:r>
          </a:p>
          <a:p>
            <a:r>
              <a:t>右图 risk-coverage 是答辩时解释 selective prediction 的首选视觉证据。</a:t>
            </a:r>
          </a:p>
          <a:p/>
          <a:p>
            <a:r>
              <a:t>【English Narration】</a:t>
            </a:r>
          </a:p>
          <a:p>
            <a:r>
              <a:t>All headline cells come from the 2026-06-03 robustness rerun aligned with `data/version.txt`. In-distribution, selective accuracy nears one at ninety-five percent coverage for both systems—the risk-coverage curve hugs the ideal corner.  </a:t>
            </a:r>
          </a:p>
          <a:p>
            <a:r>
              <a:t>Cross-system OOD inverts the energy direction—high scores look in-distribution—yet AUROC remains above chance, so deployment needs a flip rule or Mahalanobis fallback, documented rather than hidden behind a single metric.  </a:t>
            </a:r>
          </a:p>
          <a:p>
            <a:r>
              <a:t>The risk-coverage figure is the preferred visual for explaining selective prediction in Q&amp;A.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成功边界：分布内 selective prediction 几乎完美；轻噪声和轻漂移下 macro-F1 仍高于 0.9，说明仿真器生成的干净信号在小幅扰动下仍可分。失败边界同样重要——缺 10% 通道时准确率掉四十个百分点，而 energy confidence 反而上升，说明 rejection policy **挡不住** 坏输入，必须上游做 NaN/缺测检查。  </a:t>
            </a:r>
          </a:p>
          <a:p>
            <a:r>
              <a:t>跨系统 OOD 与 INT8 脆弱性形成呼应：BESS 对 FGSM 小 ε 更敏感，单靠事后拒绝不够，需要对抗训练或更强特征正则。答辩策略是主动讲失败，体现 critical thinking。  </a:t>
            </a:r>
          </a:p>
          <a:p>
            <a:r>
              <a:t>左右曲线分别是 missing features 和 FGSM，老师追问时指图指轴，不要只背口号。</a:t>
            </a:r>
          </a:p>
          <a:p/>
          <a:p>
            <a:r>
              <a:t>【English Narration】</a:t>
            </a:r>
          </a:p>
          <a:p>
            <a:r>
              <a:t>Success: selective prediction near perfect in-distribution; mild noise and drift keep macro-F1 above zero point nine. Failures matter equally—ten percent missing channels drop accuracy forty points while confidence rises, so rejection cannot replace upstream completeness checks.  </a:t>
            </a:r>
          </a:p>
          <a:p>
            <a:r>
              <a:t>Cross-system OOD echoes INT8 fragility; BESS degrades faster under small FGSM epsilon—post-hoc rejection is insufficient without adversarial or regularisation work. We state failures proactively for critical thinking credit.  </a:t>
            </a:r>
          </a:p>
          <a:p>
            <a:r>
              <a:t>Use the missing-feature and FGSM curves as evidence, not slogans.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左图是跨系统喂 PV 模型时的 energy 分布：in 与 out 重叠且方向与教科书假设相反，这就是 slide 17「inverted」的直观来源。右图 condition heatmap 显示三类工况下 F1 仍高，支撑「distribution shift 轴相对稳」的结论。  </a:t>
            </a:r>
          </a:p>
          <a:p>
            <a:r>
              <a:t>BESS 侧另有九张标准图，答辩若时间紧可指路径 `reports/robustness/bess/figures/`，不必全贴进 deck；正文已用 missing 与 FGSM 代表最难轴。  </a:t>
            </a:r>
          </a:p>
          <a:p>
            <a:r>
              <a:t>两图合起来传达：我们不仅算 AUROC，还要求能 **看见** 失败形态。</a:t>
            </a:r>
          </a:p>
          <a:p/>
          <a:p>
            <a:r>
              <a:t>【English Narration】</a:t>
            </a:r>
          </a:p>
          <a:p>
            <a:r>
              <a:t>The OOD histogram shows cross-system energy overlap with inverted direction—the visual behind slide seventeen. The condition heatmap shows high macro-F1 across three regimes—shift axis relatively stable.  </a:t>
            </a:r>
          </a:p>
          <a:p>
            <a:r>
              <a:t>BESS ships nine standard figures under `reports/robustness/bess/figures/`; the deck cites missing-feature and FGSM curves as hardest axes. Together, the slides show we require visible failure morphology, not AUROC alone.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C4 云端不是裸 ChatGPT，而是带工具调用的 ReAct：`observe` 读 Alert，`reason` 规划，`act` 调工具，`reflect` 校验，`report` 输出 Recommendation。四个工具中 `retrieve_knowledge` 是 grounding 核心，连接 30 篇 playbook 与 Chroma 向量库。  </a:t>
            </a:r>
          </a:p>
          <a:p>
            <a:r>
              <a:t>LLM 用本机 Ollama llama3.2，计划阶段若 JSON 解析失败，会走 `ollama_plan_fallback_mock` 确定性计划，保证工具仍执行、最终仍有 recommendation——这在 agent_eval 和 C7 HTTP 日志里都能观察到。  </a:t>
            </a:r>
          </a:p>
          <a:p>
            <a:r>
              <a:t>Citation 带 chunk_id，是为了运维审计，也是 No-RAG 消融时唯一能证明「依据规程」的指标。</a:t>
            </a:r>
          </a:p>
          <a:p/>
          <a:p>
            <a:r>
              <a:t>【English Narration】</a:t>
            </a:r>
          </a:p>
          <a:p>
            <a:r>
              <a:t>Component four is a tool-using ReAct agent—not a bare chat model. Observe ingests the alert; reason plans; act invokes tools; reflect checks; report emits the recommendation. `retrieve_knowledge` grounds answers in thirty playbook documents indexed in Chroma.  </a:t>
            </a:r>
          </a:p>
          <a:p>
            <a:r>
              <a:t>Ollama llama3.2 powers plan and synthesis; invalid planner JSON triggers `ollama_plan_fallback_mock` so tools still run—observed in agent_eval and C7 logs. Citations carry chunk IDs for operator audit and for measuring No-RAG grounding loss.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数据流是答辩的云边故事线：结构化 `SensorWindow` 进 edge，出 `Alert`；只有 warning/critical 才进 agent 出 `Recommendation`。monitor 类（如 PV_Normal）故意不调用 agent，节省约 8.5 s 的 LLM 时间，也符合运维「正常不需 LLM」的预期。  </a:t>
            </a:r>
          </a:p>
          <a:p>
            <a:r>
              <a:t>JSONL 事件被 orchestrator 和 dashboard 共享，保证被动监控与主动 inject 看同一份时间线。右图强调 full 模式延迟几乎全是 agent，不是 edge 慢——部署优化应优先 LLM，而不是砍掉 CNN。  </a:t>
            </a:r>
          </a:p>
          <a:p>
            <a:r>
              <a:t>`knowledge_sources[]` 是审计字段，No-RAG 消融会把它清零，这是后面最重要的发现。</a:t>
            </a:r>
          </a:p>
          <a:p/>
          <a:p>
            <a:r>
              <a:t>【English Narration】</a:t>
            </a:r>
          </a:p>
          <a:p>
            <a:r>
              <a:t>The data-flow story: `SensorWindow` to edge `Alert`; only warning and critical severities call `/recommend` for a `Recommendation`. Monitor classes skip the agent—saving roughly eight point five seconds and matching operator expectations for healthy assets.  </a:t>
            </a:r>
          </a:p>
          <a:p>
            <a:r>
              <a:t>JSONL feeds both orchestrator and dashboard so passive monitoring and active inject share one timeline. The split chart shows full-mode latency is over ninety-nine percent agent—not edge—so optimise the LLM path first.  </a:t>
            </a:r>
          </a:p>
          <a:p>
            <a:r>
              <a:t>`knowledge_sources[]` is the audit field that No-RAG zeroes—the headline finding ahead.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Benchmark 不是手写几个 prompt，而是 33 个带 oracle 的 JSON 场景，其中 10 个故意模糊，逼 agent 在不确定时仍要给 urgency 和合规措辞。Runner 每场景走真 edge 分类再调 agent，保证「in the loop」而不是离线编造 fault_class。  </a:t>
            </a:r>
          </a:p>
          <a:p>
            <a:r>
              <a:t>双通道评分：启发式 rubric 可复现、可自动化；LLM-as-judge 提供人类可读质量，本轮 99 条全有分，均值 4.10。三消融对应 full、关 RAG、关 trace，共 99 条记录，源文件 `last_run_three_ablations_with_judge.json`。  </a:t>
            </a:r>
          </a:p>
          <a:p>
            <a:r>
              <a:t>设计意图是让 provenance（KB 数）与 surface score 可分离，为 No-RAG 幻灯片埋伏笔。</a:t>
            </a:r>
          </a:p>
          <a:p/>
          <a:p>
            <a:r>
              <a:t>【English Narration】</a:t>
            </a:r>
          </a:p>
          <a:p>
            <a:r>
              <a:t>Thirty-three oracle-annotated scenarios—ten deliberately ambiguous—force sensible urgency and compliant wording under uncertainty. The runner uses the real edge classifier in the loop, not offline fault labels.  </a:t>
            </a:r>
          </a:p>
          <a:p>
            <a:r>
              <a:t>Dual scoring: deterministic rubric for automation; LLM-as-judge for human-readable quality—ninety-nine of ninety-nine scored, mean four point one zero. Three ablations yield ninety-nine records in `last_run_three_ablations_with_judge.json`.  </a:t>
            </a:r>
          </a:p>
          <a:p>
            <a:r>
              <a:t>The design separates provenance from surface score—setting up the No-RAG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Full 配置 heuristic mean 0.9318，LLM judge 4.10；urgency、forbidden、knowledge 三个硬槽位都是 100%，说明安全相关维度没崩。keywords 只有 72.7% perfect，是 lexical drift，不是 urgency 错。  </a:t>
            </a:r>
          </a:p>
          <a:p>
            <a:r>
              <a:t>No-RAG 行最关键：mean 只降到 0.9242，但 KB/scenario 从 2.61→0，% with KB 从 91%→0%——**表面分几乎不变，grounding 全灭**。No-Trace mean 0.9015，但 KB 行为与 full 相近，说明带宽紧时可以丢 trace 不丢 RAG。  </a:t>
            </a:r>
          </a:p>
          <a:p>
            <a:r>
              <a:t>底图 ablation_summary 四槽位并排，适合老师一眼对比。</a:t>
            </a:r>
          </a:p>
          <a:p/>
          <a:p>
            <a:r>
              <a:t>【English Narration】</a:t>
            </a:r>
          </a:p>
          <a:p>
            <a:r>
              <a:t>Full scores mean zero point nine three one eight heuristic and four point one zero judge; urgency, forbidden, and knowledge slots hit one hundred percent—safety-critical dimensions hold. Keywords at seventy-two point seven percent reflect lexical drift, not wrong urgency.  </a:t>
            </a:r>
          </a:p>
          <a:p>
            <a:r>
              <a:t>No-RAG barely moves the mean—zero point nine two four two—but KB per scenario collapses from two point six one to zero and grounded share from ninety-one to zero percent. That is the headline: surface score hides grounding loss. No-Trace drops mean to zero point nine zero one five while preserving KB—drop trace under bandwidth pressure, not RAG.  </a:t>
            </a:r>
          </a:p>
          <a:p>
            <a:r>
              <a:t>The ablation summary figure compares all four rubric slots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这是智能体章节最重要的单页。关掉 RAG 后，LLM 仍能生成读起来合理的建议，启发式总分几乎不掉，但 `% with KB` 归零，运维无法追溯规程依据——在真实电站这等于不可接受。  </a:t>
            </a:r>
          </a:p>
          <a:p>
            <a:r>
              <a:t>因此我们主张：agent 评测必须同时报 provenance 指标（KB/scenario、% with KB），不能只看 composite mean。右图 kb_sources_per_ablation 是答辩必放图，一眼显示 No-RAG 柱为零。  </a:t>
            </a:r>
          </a:p>
          <a:p>
            <a:r>
              <a:t>No-Trace 对照说明 trace 影响可解释性审计表，但不影响 grounding；与 full 比 mean 略低主要伤在 keywords 槽位。</a:t>
            </a:r>
          </a:p>
          <a:p/>
          <a:p>
            <a:r>
              <a:t>【English Narration】</a:t>
            </a:r>
          </a:p>
          <a:p>
            <a:r>
              <a:t>This is the agent chapter’s headline slide. Disabling RAG leaves plausible recommendations and nearly unchanged heuristic means—but zero knowledge citations, unacceptable for audited operations.  </a:t>
            </a:r>
          </a:p>
          <a:p>
            <a:r>
              <a:t>Measure provenance—KB per scenario and percent grounded—not composite mean alone. The KB-sources chart is mandatory: No-RAG bars drop to zero. No-Trace shows trace affects audit tables, not grounding; mean gap is largely keywords.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直方图回答「整体有没有过 0.9 线」：三消融分布重叠较多，说明 LLM 质量整体合格，但仍有长尾低于 1.0。delta 图按场景展示 full 减去消融的差，红色表示去掉 RAG 或 trace 后变差——可指出哪些 scenario 对 grounding 最敏感。  </a:t>
            </a:r>
          </a:p>
          <a:p>
            <a:r>
              <a:t>32 条 sub-1.0 记录几乎全败在 keywords，不是 urgency 或 forbidden，这对安全叙事是好事：我们没有在「该不该立即停机」上翻车。答辩时可挑一个 ambiguous scenario 口述，细节放附录 A5。</a:t>
            </a:r>
          </a:p>
          <a:p/>
          <a:p>
            <a:r>
              <a:t>【English Narration】</a:t>
            </a:r>
          </a:p>
          <a:p>
            <a:r>
              <a:t>The histogram shows whether mass sits above the zero point nine quality bar—three ablations overlap heavily, indicating generally strong LLM behaviour with a sub-one tail. Delta charts show per-scenario full-minus-ablated gaps—red where removing RAG or trace hurts most.  </a:t>
            </a:r>
          </a:p>
          <a:p>
            <a:r>
              <a:t>Thirty-two sub-one records fail mainly on keywords, not urgency or forbidden—a positive safety story. Pick one ambiguous scenario orally; details live in appendix A5.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工具图证明 full 配置确实在调用 RAG 等工具，不是空转 ReAct。No-RAG 工具数下降符合预期；No-Trace 把步数压到 1，只剩最终 recommendation，适合解释「带宽受限时的降级选项」。  </a:t>
            </a:r>
          </a:p>
          <a:p>
            <a:r>
              <a:t>failure_taxonomy 把 sub-1.0 的丢分槽位可视化，答辩强调「软失败在措辞，硬失败在安全槽位很少」。Planner fallback 说明 Ollama JSON 不稳定时系统仍 200 OK，与 C6/C7 graceful degradation 叙事一致。  </a:t>
            </a:r>
          </a:p>
          <a:p>
            <a:r>
              <a:t>若老师问 ReAct 是否 over-engineered，答：步数和工具数是可观测的，且 No-Trace 消融量化了 trace 价值。</a:t>
            </a:r>
          </a:p>
          <a:p/>
          <a:p>
            <a:r>
              <a:t>【English Narration】</a:t>
            </a:r>
          </a:p>
          <a:p>
            <a:r>
              <a:t>Tool charts prove full mode actually invokes RAG—not an empty ReAct theatre. No-RAG lowers tool counts; No-Trace collapses steps to one for bandwidth-limited degradation. Failure taxonomy shows soft failures concentrate on keywords, not safety slots. Planner fallback keeps HTTP two hundred when JSON parsing fails—consistent with integration graceful degradation.  </a:t>
            </a:r>
          </a:p>
          <a:p>
            <a:r>
              <a:t>If asked whether ReAct is over-engineered: step and tool counts are observable, and No-Trace quantifies trace value.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C6 用真 HTTP 而非 mock：三种 integration mode 各跑 50 次，warmup 丢弃 3 次后统计 P50/P95/P99。edge_only P95 5.69 ms，是 graceful degradation 的地板；full P95 9803 ms，cloud_only 9941 ms，都低于 10 s 作业预算。  </a:t>
            </a:r>
          </a:p>
          <a:p>
            <a:r>
              <a:t>分解图是关键证据：full 模式里 edge 只占不到 1%，agent/LLM 占 99% 以上——优化 E2E 应换更快本地模型、缓存或 speculative decode，而不是去掉 CNN。数字与 `integration_eval_meta.json` 一致，2026-06-03 生成。  </a:t>
            </a:r>
          </a:p>
          <a:p>
            <a:r>
              <a:t>三张 latency 图（bars、violin、split）建议都放进 deck 或附录，答辩时至少讲 bars + split。</a:t>
            </a:r>
          </a:p>
          <a:p/>
          <a:p>
            <a:r>
              <a:t>【English Narration】</a:t>
            </a:r>
          </a:p>
          <a:p>
            <a:r>
              <a:t>Component six uses live HTTP—fifty iterations per mode, three warmups discarded. Edge-only P95 is five point six nine milliseconds—the degradation floor. Full P95 nine thousand eight hundred three milliseconds; cloud-only nine thousand nine hundred forty-one—both under the ten-second budget.  </a:t>
            </a:r>
          </a:p>
          <a:p>
            <a:r>
              <a:t>Decomposition shows edge under one percent of full-mode latency; the agent exceeds ninety-nine percent—optimise the LLM path, not the CNN. Numbers match `integration_eval_meta.json`, generated 2026-06-03.  </a:t>
            </a:r>
          </a:p>
          <a:p>
            <a:r>
              <a:t>Show at least the bar and split charts in the deck or appendix.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三种模式的**比较意义**比单点延迟更重要。edge_only 定义了「LLM 挂了还能运维什么」——仍有 fault_class 和 severity。cloud_only 与 full 几乎一样慢，却失去边缘 ML 标签对 agent tool 选择的 grounding，因此部署建议永远是 edge always-on。  </a:t>
            </a:r>
          </a:p>
          <a:p>
            <a:r>
              <a:t>full P99 碰到 10.0 s，说明在并发或 tail 场景下仍可能触预算上限；编排器默认 10 s HTTP timeout 会在 fan-out 下产生 `agent_recommend_failed`，下一页用 144 events / 3 failures 证明系统不崩。  </a:t>
            </a:r>
          </a:p>
          <a:p>
            <a:r>
              <a:t>timeout 调到 120 s 是复现建议，不是掩盖问题，而是让 demo 完整跑完同时保留失败计数作为证据。</a:t>
            </a:r>
          </a:p>
          <a:p/>
          <a:p>
            <a:r>
              <a:t>【English Narration】</a:t>
            </a:r>
          </a:p>
          <a:p>
            <a:r>
              <a:t>Compare modes for meaning, not single numbers. Edge-only defines what operators still get when the LLM is down—typed alerts with fault class and severity. Cloud-only is only one point four percent slower than full yet loses ML grounding for tool calls—keep edge always on.  </a:t>
            </a:r>
          </a:p>
          <a:p>
            <a:r>
              <a:t>Full P99 touches ten seconds—tail risk under concurrency. The orchestrator’s ten-second default timeout yields `agent_recommend_failed` events; slide twenty-nine shows one hundred forty-four events with three failures absorbed. Raising timeout to one hundred twenty seconds is a reproduction tip, not hiding failures—we count them.</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`pv6_bess4` 目录十节点、跑 60 秒，共 144 条 JSONL 事件，其中 3 次 agent 推荐因 httpx 超时失败——并发 tail latency 超过编排器 HTTP 上限时的真实行为，不是单元测试 mock。关键是 orchestrator **没有崩溃**，各节点 task 继续 tick，部分节点仍收到 Recommendation。  </a:t>
            </a:r>
          </a:p>
          <a:p>
            <a:r>
              <a:t>fanout 图展示每节点 events/alerts/recommendations/errors；severity mix 展示 monitor/warning/critical 比例，与 AGENT_TRIGGER 规则一致。这页直接支撑 Deliverable #7「empirical graceful degradation」。  </a:t>
            </a:r>
          </a:p>
          <a:p>
            <a:r>
              <a:t>Q&amp;A：为何 120 s timeout 仍有 3 次失败？——并发下 agent 队列仍可能触顶；证据是 failure count + 系统存活，而非零失败吹牛。</a:t>
            </a:r>
          </a:p>
          <a:p/>
          <a:p>
            <a:r>
              <a:t>【English Narration】</a:t>
            </a:r>
          </a:p>
          <a:p>
            <a:r>
              <a:t>Ten nodes for sixty seconds yield one hundred forty-four JSONL events and three `agent_recommend_failed` timeouts—real concurrent tail behaviour, not mocks. The orchestrator never crashed; nodes kept ticking and some still received recommendations.  </a:t>
            </a:r>
          </a:p>
          <a:p>
            <a:r>
              <a:t>Fanout and severity-mix figures prove per-node behaviour and severity gating. This slide supports deliverable seven—empirical graceful degradation.  </a:t>
            </a:r>
          </a:p>
          <a:p>
            <a:r>
              <a:t>If asked why failures remain with a one-hundred-twenty-second timeout: concurrency still queues the agent; evidence is bounded failures plus system survival.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C7 要求「可交互的原型」，我们交付两层证据。第一层是 `dashboard/app.py`：双语操作员界面，四个 Tab 分别看节点概览、时间线、单条事件详情和全局统计；数据来自 orchestrator 写的 JSONL，注入走 `dashboard/inject.py`，与 C6 编排器 `NodeRunner` 完全同路径——不是 mock 分支。  </a:t>
            </a:r>
          </a:p>
          <a:p>
            <a:r>
              <a:t>第二层是脚本化复现：`python scripts/demo_fault_injection.py` 生成 `fault_injection_demo.md`，五场景全部 ✅。场景 1–3 走全链路，edge 个位数到二十多 ms，agent 约 8.5–8.7 s，各有 3 条 KB 引用。场景 4 证明 monitor 不触发 agent（与 `AGENT_TRIGGER_SEVERITIES` 一致）。场景 5 用 `skip_agent=True` 演示 LLM 不可用时仍有 critical Alert——graceful degradation。  </a:t>
            </a:r>
          </a:p>
          <a:p>
            <a:r>
              <a:t>场景 3 最能说明云边价值：边缘给出 Thermal_anomaly + critical；云端返回 immediate urgency，并引用 `kb_thermal_anomaly_bess.md` 的 containment 步骤，而不是重复标签。Recommendation 全文在 demo 报告里可查，knowledge_sources 可追溯到向量库 chunk。  </a:t>
            </a:r>
          </a:p>
          <a:p>
            <a:r>
              <a:t>**本 PPT 不做浏览器逐步演示**；若老师要看界面，说明另场按 `docs/网页演示指南.md` 进行。答辩口述此表即可证明 C7 可审计、可重复。</a:t>
            </a:r>
          </a:p>
          <a:p/>
          <a:p>
            <a:r>
              <a:t>【English Narration】</a:t>
            </a:r>
          </a:p>
          <a:p>
            <a:r>
              <a:t>Component seven delivers two layers of evidence—not a live browser walkthrough in this deck. First, `dashboard/app.py`: a bilingual operator UI with four tabs reading orchestrator JSONL and injecting via `dashboard/inject.py` on the **same HTTP path** as the node runner—not a mock branch. Second, scripted reproduction: `demo_fault_injection.py` produces `fault_injection_demo.md` with all five scenarios passing. Scenarios one through three are full pipeline with three KB sources; four skips the agent for monitor severity; five forces edge-only degradation when the LLM is unavailable.  </a:t>
            </a:r>
          </a:p>
          <a:p>
            <a:r>
              <a:t>Scenario three best shows cloud value: edge emits thermal anomaly critical; cloud returns immediate urgency citing containment steps from `kb_thermal_anomaly_bess.md`. Full recommendation text and chunk IDs are in the report.  </a:t>
            </a:r>
          </a:p>
          <a:p>
            <a:r>
              <a:t>If asked about the UI, note the live browser demo is a **separate session** per `docs/网页演示指南.md`. For this deck, the scripted table is auditable C7 evidence.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工程质量与模型分数同等重要：284 条单元测试覆盖 simulation 到 dashboard inject，其中 inject 路径用 MockTransport 测 11 例，保证 C7 注入逻辑在答辩前已被验证。ruff 零 warning 在终稿声明，体现可维护性。  </a:t>
            </a:r>
          </a:p>
          <a:p>
            <a:r>
              <a:t>集成评测、智能体 benchmark 和 C7 脚本都需要本机起 edge/agent 与 Ollama——复现步骤见 `复现指南.md` §4 与终稿 §11.3。RAG 30 文档需 `rag.ingest` 后才可检索。  </a:t>
            </a:r>
          </a:p>
          <a:p>
            <a:r>
              <a:t>老师问「有没有 CI」：可指 pytest 全绿 + 报告 JSON 时间戳；GitHub Actions 非本作业硬性要求。</a:t>
            </a:r>
          </a:p>
          <a:p/>
          <a:p>
            <a:r>
              <a:t>【English Narration】</a:t>
            </a:r>
          </a:p>
          <a:p>
            <a:r>
              <a:t>Two hundred eighty-four unit tests span simulation through dashboard inject—including eleven mocked inject tests so C7 logic is verified before defence. Zero ruff warnings are claimed in the final report.  </a:t>
            </a:r>
          </a:p>
          <a:p>
            <a:r>
              <a:t>Integration benches, agent evaluation, and C7 scripts require local edge and agent services plus Ollama—documented in `复现指南.md` section four and final report section eleven point three. Thirty playbooks require `rag.ingest` before retrieval works.  </a:t>
            </a:r>
          </a:p>
          <a:p>
            <a:r>
              <a:t>Point to pytest green and timestamped JSON artefacts if asked about automation.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讨论章先讲 worked：双系统 FP32 高精度与亚毫秒边缘延迟；INT8 失败被诚实记录反而增强可信度；编排器与 mock plan fallback 展示 graceful degradation；真 LLM 下 rubric 与 judge 双通道都过线；inject 与集成同路径；鲁棒性六轴回应导师 deployment realism。  </a:t>
            </a:r>
          </a:p>
          <a:p>
            <a:r>
              <a:t>这页为下一页局限做铺垫，体现「我们知道哪里好、哪里不好」。不要只报喜——评委更信 balanced narrative。  </a:t>
            </a:r>
          </a:p>
          <a:p>
            <a:r>
              <a:t>可口头补一句：19+ 报告图、6 份子报告、24 页 PDF 都是同一晚 refresh 产物，时间戳 2026-06-03。</a:t>
            </a:r>
          </a:p>
          <a:p/>
          <a:p>
            <a:r>
              <a:t>【English Narration】</a:t>
            </a:r>
          </a:p>
          <a:p>
            <a:r>
              <a:t>What worked: dual-system FP32 accuracy and sub-millisecond ONNX edge latency; honest BESS INT8 failure strengthens credibility; orchestrator and mock-plan fallback show graceful degradation; real LLM passes rubric and judge with safety slots at one hundred percent; shared HTTP inject path; six-axis robustness beyond baseline F1.  </a:t>
            </a:r>
          </a:p>
          <a:p>
            <a:r>
              <a:t>This slide sets up limitations—balanced narrative beats cheerleading. Mention nineteen plus figures and six sub-reports refreshed 2026-06-03.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局限与终稿 §9 一一对应：BESS INT8、OOD 方向、缺通道、E2E 贴近 10 s、planner JSON、Dashboard 需手动刷新 JSONL、训练数据为合成。每条局限都绑了优先 future work，说明不是「不会做」而是 scope 内诚实交付。  </a:t>
            </a:r>
          </a:p>
          <a:p>
            <a:r>
              <a:t>答辩时主动讲 limitation 通常比等提问得分更高，尤其 INT8 和 No-RAG 已在正文展开，这里做收束。未来工作避免空泛，全部可追溯到 `开发记录.md` 或 final report §9.3。  </a:t>
            </a:r>
          </a:p>
          <a:p>
            <a:r>
              <a:t>若老师问「若重做会改什么」，答：先 BESS 量化策略 + 7B LLM，再 adversarial training。</a:t>
            </a:r>
          </a:p>
          <a:p/>
          <a:p>
            <a:r>
              <a:t>【English Narration】</a:t>
            </a:r>
          </a:p>
          <a:p>
            <a:r>
              <a:t>Limitations mirror final report section nine—INT8, inverted OOD, missing channels, tail latency, planner JSON, manual JSONL refresh, synthetic-only data—each paired with prioritised future work, not hand-waving. Proactive limitation discussion scores well after INT8 and No-RAG already in the body.  </a:t>
            </a:r>
          </a:p>
          <a:p>
            <a:r>
              <a:t>If asked what to change first: BESS quantisation policy and a faster local LLM, then adversarial training.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结论句：AgentPV 不是单一高 F1 分类器，而是可运维、可降级、可审计的云边系统。数值上满足作业四条预算；方法上回应 deployment realism——鲁棒六轴、选择性预测、No-RAG provenance、编排器失败吸收。  </a:t>
            </a:r>
          </a:p>
          <a:p>
            <a:r>
              <a:t>284 测试、6 份子报告、终稿 PDF 均可按 §11.3 一键复现。保持语调自信但克制，数字已在前文证明，这里做 synthesis 即可。追问时可打开 `final_report.pdf` 任意章节 supplement。</a:t>
            </a:r>
          </a:p>
          <a:p/>
          <a:p>
            <a:r>
              <a:t>【English Narration】</a:t>
            </a:r>
          </a:p>
          <a:p>
            <a:r>
              <a:t>AgentPV is not just a high-F1 classifier—it is an operable, degradable, auditable cloud–edge stack meeting numeric budgets and deployment-realism questions: six stress axes, selective prediction, No-RAG provenance collapse, and orchestrator failure absorption.  </a:t>
            </a:r>
          </a:p>
          <a:p>
            <a:r>
              <a:t>Two hundred eighty-four tests, six reports, and a twenty-four-page PDF reproduce from section eleven point three. Close confidently but modestly—numbers already earned; this slide synthesises. Offer the PDF for follow-up detail.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复现不需要猜命令：`复现指南.md` §4 与终稿 §11.3 提供 PowerShell 复制块，含 judge 环境变量与 `--http-timeout 120`。表中路径是答辩追问时的「导航页」——数据看 version.txt，模型看 artifacts，智能体看 with_judge JSON，集成看 integration_eval.md，C7 看 fault_injection_demo.md。  </a:t>
            </a:r>
          </a:p>
          <a:p>
            <a:r>
              <a:t>强调：文档对齐的答辩不必重跑全链路；只有改代码、权重或 benchmark 才需重跑对应步骤。PDF 可用 `render_final_report.py` 再生。  </a:t>
            </a:r>
          </a:p>
          <a:p>
            <a:r>
              <a:t>若时间紧，附录 A6 放完整命令块，本页只讲索引逻辑。</a:t>
            </a:r>
          </a:p>
          <a:p/>
          <a:p>
            <a:r>
              <a:t>【English Narration】</a:t>
            </a:r>
          </a:p>
          <a:p>
            <a:r>
              <a:t>Reproduction is copy-paste from `复现指南.md` section four and final report section eleven point three—including judge env vars and orchestrator timeout one hundred twenty. The table navigates artefacts for follow-up questions.  </a:t>
            </a:r>
          </a:p>
          <a:p>
            <a:r>
              <a:t>Aligned documentation defence need not rerun the full pipeline—only changed code or weights require partial reruns. Regenerate PDF via `render_final_report.py`. Full commands live in appendix A6.</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备份页不念，供追问扫读。数据合法性：合成 + seed 42 + version.txt。50500 构成与 split 35126/7768/7606 指 data card。INT8 答窄带 + MinMax + 生产 FP32。延迟答 evaluation 脚本千次推理。指标答 macro-F1 与 per-class report 并用。  </a:t>
            </a:r>
          </a:p>
          <a:p>
            <a:r>
              <a:t>若被问「合成是否过于简单」，答：六轴 stress 正是为了检验离开训练分布时的行为；且 full pipeline 在真 HTTP 下已验证。  </a:t>
            </a:r>
          </a:p>
          <a:p>
            <a:r>
              <a:t>保持回答短句，引用路径即可。</a:t>
            </a:r>
          </a:p>
          <a:p/>
          <a:p>
            <a:r>
              <a:t>【English Narration】</a:t>
            </a:r>
          </a:p>
          <a:p>
            <a:r>
              <a:t>Backup—do not read verbatim. Synthetic seed-forty-two data with `version.txt`; fifty thousand five hundred composition in the data card; BESS INT8 narrow bands and FP32 production default; edge latency via thousand-iteration CPU bench; macro-F1 plus per-class reports.  </a:t>
            </a:r>
          </a:p>
          <a:p>
            <a:r>
              <a:t>If synthetic seems too easy: six stress axes and live HTTP integration test departure from training assumptions. Answer in short sentences with paths.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智能体与集成高频题：模型选型、No-RAG 含义、cloud_only 不推荐、三次 timeout 仍算成功降解、C7 路径一致性、何时重跑。答句都指向 JSON/MD 证据，避免口头新数字。  </a:t>
            </a:r>
          </a:p>
          <a:p>
            <a:r>
              <a:t>可补充：judge mean 4.10 来自 99/99 scored；144 events 来自 orchestrator meta。网页 UI 演示另场进行，本 deck 用 fault_injection_demo 表作 C7 证据。  </a:t>
            </a:r>
          </a:p>
          <a:p>
            <a:r>
              <a:t>与 slide 36 一样，现场扫一眼即可，不要占用主讲时间。</a:t>
            </a:r>
          </a:p>
          <a:p/>
          <a:p>
            <a:r>
              <a:t>【English Narration】</a:t>
            </a:r>
          </a:p>
          <a:p>
            <a:r>
              <a:t>High-frequency agent and integration questions—model choice, No-RAG meaning, cloud_only rejection, three timeouts as absorbed failures, C7 inject path parity, when to rerun—all point to JSON and markdown evidence without new oral numbers.  </a:t>
            </a:r>
          </a:p>
          <a:p>
            <a:r>
              <a:t>Add judge four point one zero on ninety-nine scores and one hundred forty-four orchestrator events if needed. The browser UI demo is off-deck; this deck cites the five-scenario fault-injection report for C7. Scan, do not monopolise main talk time.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致谢页保持简洁。说明可在第二屏打开终稿 PDF 或附录 A6 复现命令，愿意针对任意 C1–C8 组件 deep dive。网页系统演示若尚未进行，可说明将按 `docs/网页演示指南.md` 单独展示。  </a:t>
            </a:r>
          </a:p>
          <a:p>
            <a:r>
              <a:t>中英文都可收尾；语气温和、邀请提问。不要在此页展开新数字。  </a:t>
            </a:r>
          </a:p>
          <a:p>
            <a:r>
              <a:t>记录评委问题，事后可更新 FAQ 进附录。</a:t>
            </a:r>
          </a:p>
          <a:p/>
          <a:p>
            <a:r>
              <a:t>【English Narration】</a:t>
            </a:r>
          </a:p>
          <a:p>
            <a:r>
              <a:t>Keep thanks minimal. Offer a second screen with `final_report.pdf` or appendix A6 for reproduction questions and any C1–C8 deep dive. If the browser demo has not run yet, note it follows `docs/网页演示指南.md` as a separate segment. Invite questions warmly—no new numbers here. Note follow-up questions for FAQ updates.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附录 A1 回答「某一类有多少样本」。总计 50500，Normal 类最多，故障类各 3333 或 4375，比例差约 2.4 倍，训练用加权损失缓解。若评委质疑某类过少，指本表与 `data/splits/meta_*.csv` 交叉验证。  </a:t>
            </a:r>
          </a:p>
          <a:p>
            <a:r>
              <a:t>不必主讲背诵，追问时翻页即可。数字与 2026-06-03 data card 完全一致。</a:t>
            </a:r>
          </a:p>
          <a:p/>
          <a:p>
            <a:r>
              <a:t>【English Narration】</a:t>
            </a:r>
          </a:p>
          <a:p>
            <a:r>
              <a:t>Appendix A1 lists per-class counts totaling fifty thousand five hundred—Normals oversampled, faults balanced via weighted loss. Point to split CSVs if challenged. Numbers match the 2026-06-03 data card—flip to this slide on demand, do not memorise in the main talk.</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A2 给关心「仿真物理是否靠谱」的老师。PV 用简化 NOCT 与 DC/AC 功率关系；BESS 用 RC 等效与 SOC/内阻/循环计数代理量。故障注入对每个 label 独立纯函数，seed 可控。  </a:t>
            </a:r>
          </a:p>
          <a:p>
            <a:r>
              <a:t>强调：仿真不是为了追真实电站每一伏特，而是为了可复现、可应力测试、可写 data card。真数据禁止时，这是合规且可辩护的路径。</a:t>
            </a:r>
          </a:p>
          <a:p/>
          <a:p>
            <a:r>
              <a:t>【English Narration】</a:t>
            </a:r>
          </a:p>
          <a:p>
            <a:r>
              <a:t>Appendix A2 summarises PV NOCT-style thermal and electrical relationships and BESS RC-flavoured SOC/resistance trajectories—seedable per-fault injectors. The goal is reproducible stress testing and a complete data card, not perfect plant cloning—appropriate when real data is forbidden.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A3 是 PV 九图导航，答辩若被问「某轴曲线在哪」直接翻页指缩略图。主文已用 heatmap、histogram、risk-coverage，其余可在 Q&amp;A 展开。路径均在 `reports/robustness/pv/figures/`。</a:t>
            </a:r>
          </a:p>
          <a:p/>
          <a:p>
            <a:r>
              <a:t>【English Narration】</a:t>
            </a:r>
          </a:p>
          <a:p>
            <a:r>
              <a:t>Appendix A3 indexes nine PV robustness figures—use thumbnails to answer “where is the noise curve?” Main slides already cite key plots; others are one page away under `reports/robustness/pv/figures/`.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A4 与 A3 对称，BESS 侧 FGSM 与 missing features 通常更「难看」，适合解释 INT8 与 adversarial 脆弱性同一根源。指图时强调 2026-06-03 同批生成。</a:t>
            </a:r>
          </a:p>
          <a:p/>
          <a:p>
            <a:r>
              <a:t>【English Narration】</a:t>
            </a:r>
          </a:p>
          <a:p>
            <a:r>
              <a:t>Appendix A4 mirrors A3 for BESS—FGSM and missing-feature plots often look worse, supporting the INT8 and adversarial narrative. All generated in the same 2026-06-03 batch.</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A5 解释「为什么 keywords 不是 100%」。ambiguous 场景故意模糊，LLM 措辞与 oracle 短语不完全匹配，启发式扣在 keywords 槽。安全槽 urgency/forbidden/knowledge 仍稳。可对比 No-RAG 同场景 kb=0 仍 0.75，说明 surface 分误导。  </a:t>
            </a:r>
          </a:p>
          <a:p>
            <a:r>
              <a:t>追问「举一条失败例」时读场景 ID 即可，不必展开全文 recommendation。</a:t>
            </a:r>
          </a:p>
          <a:p/>
          <a:p>
            <a:r>
              <a:t>【English Narration】</a:t>
            </a:r>
          </a:p>
          <a:p>
            <a:r>
              <a:t>Appendix A5 explains keyword drift—ambiguous scenarios where LLM wording misses oracle phrases while safety slots hold. Contrast No-RAG: score may stay zero point seven five with zero KB—provenance failure masked by rubric. Cite scenario IDs, not full text.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【中文旁白】</a:t>
            </a:r>
          </a:p>
          <a:p>
            <a:r>
              <a:t>A6 放完整 PowerShell 块给「怎么复现」追问。幻灯片只列骨架，完整可复制段落在 `复现指南.md` §4，含 judge 环境变量与 http-timeout 120。强调 Ollama 需先 serve，agent_eval 耗时长属正常。  </a:t>
            </a:r>
          </a:p>
          <a:p>
            <a:r>
              <a:t>若评委要 overnight 复现，指 §4 顺序与 §5 自检清单（pytest + Test-Path 产物）。</a:t>
            </a:r>
          </a:p>
          <a:p/>
          <a:p>
            <a:r>
              <a:t>【English Narration】</a:t>
            </a:r>
          </a:p>
          <a:p>
            <a:r>
              <a:t>Appendix A6 holds the reproduction skeleton; the full copy-paste block is `复现指南.md` section four with judge variables and orchestrator timeout one hundred twenty. Note Ollama must be running—agent_eval is slow with a real LLM. Point to section five checklists for verification.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914400" y="1828800"/>
            <a:ext cx="10332720" cy="3200400"/>
          </a:xfrm>
          <a:prstGeom prst="rect">
            <a:avLst/>
          </a:prstGeom>
          <a:noFill/>
        </p:spPr>
        <p:txBody>
          <a:bodyPr wrap="square" anchor="t">
            <a:spAutoFit/>
          </a:bodyPr>
          <a:lstStyle/>
          <a:p>
            <a:pPr algn="ctr">
              <a:spcAft>
                <a:spcPts val="300"/>
              </a:spcAft>
            </a:pPr>
            <a:r>
              <a:rPr sz="2400" b="1">
                <a:solidFill>
                  <a:srgbClr val="1A365D"/>
                </a:solidFill>
              </a:rPr>
              <a:t>AgentPV</a:t>
            </a:r>
          </a:p>
          <a:p>
            <a:pPr algn="ctr">
              <a:spcAft>
                <a:spcPts val="300"/>
              </a:spcAft>
            </a:pPr>
            <a:r>
              <a:rPr sz="2200">
                <a:solidFill>
                  <a:srgbClr val="2D3748"/>
                </a:solidFill>
              </a:rPr>
              <a:t>An End-to-End Fault Diagnosis and Reasoning Pipeline</a:t>
            </a:r>
          </a:p>
          <a:p>
            <a:pPr algn="ctr">
              <a:spcAft>
                <a:spcPts val="300"/>
              </a:spcAft>
            </a:pPr>
            <a:r>
              <a:rPr sz="2200">
                <a:solidFill>
                  <a:srgbClr val="2D3748"/>
                </a:solidFill>
              </a:rPr>
              <a:t>for Photovoltaic (PV) and Battery Energy Storage (BESS) Systems</a:t>
            </a:r>
          </a:p>
          <a:p>
            <a:pPr algn="ctr">
              <a:spcAft>
                <a:spcPts val="300"/>
              </a:spcAft>
            </a:pPr>
          </a:p>
          <a:p>
            <a:pPr algn="ctr">
              <a:spcAft>
                <a:spcPts val="300"/>
              </a:spcAft>
            </a:pPr>
            <a:r>
              <a:rPr sz="2200">
                <a:solidFill>
                  <a:srgbClr val="2D3748"/>
                </a:solidFill>
              </a:rPr>
              <a:t>Course: AI-Powered Cyber-Physical Systems (CPS 5802 SP26)</a:t>
            </a:r>
          </a:p>
          <a:p>
            <a:pPr algn="ctr">
              <a:spcAft>
                <a:spcPts val="300"/>
              </a:spcAft>
            </a:pPr>
            <a:r>
              <a:rPr sz="2200">
                <a:solidFill>
                  <a:srgbClr val="2D3748"/>
                </a:solidFill>
              </a:rPr>
              <a:t>Presenter: Mansy</a:t>
            </a:r>
          </a:p>
          <a:p>
            <a:pPr algn="ctr">
              <a:spcAft>
                <a:spcPts val="300"/>
              </a:spcAft>
            </a:pPr>
            <a:r>
              <a:rPr sz="2200">
                <a:solidFill>
                  <a:srgbClr val="2D3748"/>
                </a:solidFill>
              </a:rPr>
              <a:t>Date: 2026-06-03</a:t>
            </a:r>
          </a:p>
          <a:p>
            <a:pPr algn="ctr">
              <a:spcAft>
                <a:spcPts val="300"/>
              </a:spcAft>
            </a:pPr>
            <a:r>
              <a:rPr sz="2200">
                <a:solidFill>
                  <a:srgbClr val="2D3748"/>
                </a:solidFill>
              </a:rPr>
              <a:t>Reproducible full pipeline · 284 unit tests · 24-page final report (PDF)</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1 / 44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§2</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2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Agenda</a:t>
            </a:r>
          </a:p>
        </p:txBody>
      </p:sp>
      <p:sp>
        <p:nvSpPr>
          <p:cNvPr id="5" name="TextBox 4"/>
          <p:cNvSpPr txBox="1"/>
          <p:nvPr/>
        </p:nvSpPr>
        <p:spPr>
          <a:xfrm>
            <a:off x="457200" y="1143000"/>
            <a:ext cx="11247120" cy="5257800"/>
          </a:xfrm>
          <a:prstGeom prst="rect">
            <a:avLst/>
          </a:prstGeom>
          <a:noFill/>
        </p:spPr>
        <p:txBody>
          <a:bodyPr wrap="square" anchor="t">
            <a:spAutoFit/>
          </a:bodyPr>
          <a:lstStyle/>
          <a:p>
            <a:pPr algn="l">
              <a:spcAft>
                <a:spcPts val="300"/>
              </a:spcAft>
            </a:pPr>
            <a:r>
              <a:rPr sz="1600">
                <a:solidFill>
                  <a:srgbClr val="2D3748"/>
                </a:solidFill>
              </a:rPr>
              <a:t>Part I    Motivation &amp; contributions          (Slides 3–5)</a:t>
            </a:r>
          </a:p>
          <a:p>
            <a:pPr algn="l">
              <a:spcAft>
                <a:spcPts val="300"/>
              </a:spcAft>
            </a:pPr>
            <a:r>
              <a:rPr sz="1600">
                <a:solidFill>
                  <a:srgbClr val="2D3748"/>
                </a:solidFill>
              </a:rPr>
              <a:t>Part II   Assignment mapping C1–C8           (Slide 6)</a:t>
            </a:r>
          </a:p>
          <a:p>
            <a:pPr algn="l">
              <a:spcAft>
                <a:spcPts val="300"/>
              </a:spcAft>
            </a:pPr>
            <a:r>
              <a:rPr sz="1600">
                <a:solidFill>
                  <a:srgbClr val="2D3748"/>
                </a:solidFill>
              </a:rPr>
              <a:t>Part III  System architecture                (Slides 7–8)</a:t>
            </a:r>
          </a:p>
          <a:p>
            <a:pPr algn="l">
              <a:spcAft>
                <a:spcPts val="300"/>
              </a:spcAft>
            </a:pPr>
            <a:r>
              <a:rPr sz="1600">
                <a:solidFill>
                  <a:srgbClr val="2D3748"/>
                </a:solidFill>
              </a:rPr>
              <a:t>Part IV   C1 — Data &amp; simulation             (Slides 9–12)</a:t>
            </a:r>
          </a:p>
          <a:p>
            <a:pPr algn="l">
              <a:spcAft>
                <a:spcPts val="300"/>
              </a:spcAft>
            </a:pPr>
            <a:r>
              <a:rPr sz="1600">
                <a:solidFill>
                  <a:srgbClr val="2D3748"/>
                </a:solidFill>
              </a:rPr>
              <a:t>Part V    C2/C3 — Edge models &amp; evaluation   (Slides 13–15)</a:t>
            </a:r>
          </a:p>
          <a:p>
            <a:pPr algn="l">
              <a:spcAft>
                <a:spcPts val="300"/>
              </a:spcAft>
            </a:pPr>
            <a:r>
              <a:rPr sz="1600">
                <a:solidFill>
                  <a:srgbClr val="2D3748"/>
                </a:solidFill>
              </a:rPr>
              <a:t>Part VI   Robustness / OOD / selective pred. (Slides 16–19)</a:t>
            </a:r>
          </a:p>
          <a:p>
            <a:pPr algn="l">
              <a:spcAft>
                <a:spcPts val="300"/>
              </a:spcAft>
            </a:pPr>
            <a:r>
              <a:rPr sz="1600">
                <a:solidFill>
                  <a:srgbClr val="2D3748"/>
                </a:solidFill>
              </a:rPr>
              <a:t>Part VII  C4/C5 — ReAct agent &amp; benchmark    (Slides 20–26)</a:t>
            </a:r>
          </a:p>
          <a:p>
            <a:pPr algn="l">
              <a:spcAft>
                <a:spcPts val="300"/>
              </a:spcAft>
            </a:pPr>
            <a:r>
              <a:rPr sz="1600">
                <a:solidFill>
                  <a:srgbClr val="2D3748"/>
                </a:solidFill>
              </a:rPr>
              <a:t>Part VIII C6 — Integration &amp; 10-node orchestrator  (Slides 27–29)</a:t>
            </a:r>
          </a:p>
          <a:p>
            <a:pPr algn="l">
              <a:spcAft>
                <a:spcPts val="300"/>
              </a:spcAft>
            </a:pPr>
            <a:r>
              <a:rPr sz="1600">
                <a:solidFill>
                  <a:srgbClr val="2D3748"/>
                </a:solidFill>
              </a:rPr>
              <a:t>Part IX   C7 — Interactive prototype (deliverable evidence) (Slide 30)</a:t>
            </a:r>
          </a:p>
          <a:p>
            <a:pPr algn="l">
              <a:spcAft>
                <a:spcPts val="300"/>
              </a:spcAft>
            </a:pPr>
            <a:r>
              <a:rPr sz="1600">
                <a:solidFill>
                  <a:srgbClr val="2D3748"/>
                </a:solidFill>
              </a:rPr>
              <a:t>Part X    Engineering, discussion, conclusion, repro  (Slides 31–35)</a:t>
            </a:r>
          </a:p>
          <a:p>
            <a:pPr algn="l">
              <a:spcAft>
                <a:spcPts val="300"/>
              </a:spcAft>
            </a:pPr>
            <a:r>
              <a:rPr sz="1600">
                <a:solidFill>
                  <a:srgbClr val="2D3748"/>
                </a:solidFill>
              </a:rPr>
              <a:t>Part XI   Q&amp;A backup &amp; closing                        (Slides 36–38)</a:t>
            </a:r>
          </a:p>
          <a:p>
            <a:pPr algn="l">
              <a:spcAft>
                <a:spcPts val="300"/>
              </a:spcAft>
            </a:pPr>
            <a:r>
              <a:rPr sz="1600">
                <a:solidFill>
                  <a:srgbClr val="2D3748"/>
                </a:solidFill>
              </a:rPr>
              <a:t>Appendix  Class counts, figures index, commands       (A1–A6)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§3</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3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Problem — Why cloud–edge co-design?</a:t>
            </a:r>
          </a:p>
        </p:txBody>
      </p:sp>
      <p:sp>
        <p:nvSpPr>
          <p:cNvPr id="5" name="TextBox 4"/>
          <p:cNvSpPr txBox="1"/>
          <p:nvPr/>
        </p:nvSpPr>
        <p:spPr>
          <a:xfrm>
            <a:off x="457200" y="1143000"/>
            <a:ext cx="11247120" cy="5257800"/>
          </a:xfrm>
          <a:prstGeom prst="rect">
            <a:avLst/>
          </a:prstGeom>
          <a:noFill/>
        </p:spPr>
        <p:txBody>
          <a:bodyPr wrap="square" anchor="t">
            <a:spAutoFit/>
          </a:bodyPr>
          <a:lstStyle/>
          <a:p>
            <a:pPr algn="l">
              <a:spcAft>
                <a:spcPts val="300"/>
              </a:spcAft>
            </a:pPr>
            <a:r>
              <a:rPr sz="1600">
                <a:solidFill>
                  <a:srgbClr val="2D3748"/>
                </a:solidFill>
              </a:rPr>
              <a:t>Industrial pain points</a:t>
            </a:r>
          </a:p>
          <a:p>
            <a:pPr algn="l">
              <a:spcAft>
                <a:spcPts val="300"/>
              </a:spcAft>
            </a:pPr>
            <a:r>
              <a:rPr sz="1600">
                <a:solidFill>
                  <a:srgbClr val="2D3748"/>
                </a:solidFill>
              </a:rPr>
              <a:t>• Dense PV/BESS telemetry — late fault detection → revenue loss, asset damage, safety risk</a:t>
            </a:r>
          </a:p>
          <a:p>
            <a:pPr algn="l">
              <a:spcAft>
                <a:spcPts val="300"/>
              </a:spcAft>
            </a:pPr>
            <a:r>
              <a:rPr sz="1600">
                <a:solidFill>
                  <a:srgbClr val="2D3748"/>
                </a:solidFill>
              </a:rPr>
              <a:t>• Edge gateways: limited compute; need ms–100 ms decisions; must alert when cloud is down</a:t>
            </a:r>
          </a:p>
          <a:p>
            <a:pPr algn="l">
              <a:spcAft>
                <a:spcPts val="300"/>
              </a:spcAft>
            </a:pPr>
            <a:r>
              <a:rPr sz="1600">
                <a:solidFill>
                  <a:srgbClr val="2D3748"/>
                </a:solidFill>
              </a:rPr>
              <a:t>• Operators need more than a label: what to do, how urgent, which playbook section applies</a:t>
            </a:r>
          </a:p>
          <a:p>
            <a:pPr algn="l">
              <a:spcAft>
                <a:spcPts val="300"/>
              </a:spcAft>
            </a:pPr>
          </a:p>
          <a:p>
            <a:pPr algn="l">
              <a:spcAft>
                <a:spcPts val="300"/>
              </a:spcAft>
            </a:pPr>
            <a:r>
              <a:rPr sz="1600">
                <a:solidFill>
                  <a:srgbClr val="2D3748"/>
                </a:solidFill>
              </a:rPr>
              <a:t>Two competing requirements</a:t>
            </a:r>
          </a:p>
          <a:p>
            <a:pPr algn="l">
              <a:spcAft>
                <a:spcPts val="300"/>
              </a:spcAft>
            </a:pPr>
            <a:r>
              <a:rPr sz="1600">
                <a:solidFill>
                  <a:srgbClr val="2D3748"/>
                </a:solidFill>
              </a:rPr>
              <a:t>1. Edge constraints — low latency, small model, offline graceful degradation</a:t>
            </a:r>
          </a:p>
          <a:p>
            <a:pPr algn="l">
              <a:spcAft>
                <a:spcPts val="300"/>
              </a:spcAft>
            </a:pPr>
            <a:r>
              <a:rPr sz="1600">
                <a:solidFill>
                  <a:srgbClr val="2D3748"/>
                </a:solidFill>
              </a:rPr>
              <a:t>2. Operator interpretability — actionable text + priority + auditable KB citations</a:t>
            </a:r>
          </a:p>
          <a:p>
            <a:pPr algn="l">
              <a:spcAft>
                <a:spcPts val="300"/>
              </a:spcAft>
            </a:pPr>
          </a:p>
          <a:p>
            <a:pPr algn="l">
              <a:spcAft>
                <a:spcPts val="300"/>
              </a:spcAft>
            </a:pPr>
            <a:r>
              <a:rPr sz="1600">
                <a:solidFill>
                  <a:srgbClr val="2D3748"/>
                </a:solidFill>
              </a:rPr>
              <a:t>AgentPV design</a:t>
            </a:r>
          </a:p>
          <a:p>
            <a:pPr algn="l">
              <a:spcAft>
                <a:spcPts val="300"/>
              </a:spcAft>
            </a:pPr>
            <a:r>
              <a:rPr sz="1600">
                <a:solidFill>
                  <a:srgbClr val="2D3748"/>
                </a:solidFill>
              </a:rPr>
              <a:t>• Edge CNN-1D → structured Alert (class, severity, confidence, snapshot)</a:t>
            </a:r>
          </a:p>
          <a:p>
            <a:pPr algn="l">
              <a:spcAft>
                <a:spcPts val="300"/>
              </a:spcAft>
            </a:pPr>
            <a:r>
              <a:rPr sz="1600">
                <a:solidFill>
                  <a:srgbClr val="2D3748"/>
                </a:solidFill>
              </a:rPr>
              <a:t>• Cloud ReAct + RAG → Recommendation (action, urgency, knowledge_sources[])</a:t>
            </a:r>
          </a:p>
          <a:p>
            <a:pPr algn="l">
              <a:spcAft>
                <a:spcPts val="300"/>
              </a:spcAft>
            </a:pPr>
            <a:r>
              <a:rPr sz="1600">
                <a:solidFill>
                  <a:srgbClr val="2D3748"/>
                </a:solidFill>
              </a:rPr>
              <a:t>• Orchestrator + operator UI → multi-node scale + auditable JSONL events (same HTTP path as C6)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§4</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4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Related work &amp; our differentiation</a:t>
            </a:r>
          </a:p>
        </p:txBody>
      </p:sp>
      <p:graphicFrame>
        <p:nvGraphicFramePr>
          <p:cNvPr id="5" name="Table 4"/>
          <p:cNvGraphicFramePr>
            <a:graphicFrameLocks noGrp="1"/>
          </p:cNvGraphicFramePr>
          <p:nvPr/>
        </p:nvGraphicFramePr>
        <p:xfrm>
          <a:off x="457200" y="1143000"/>
          <a:ext cx="11247119" cy="1325880"/>
        </p:xfrm>
        <a:graphic>
          <a:graphicData uri="http://schemas.openxmlformats.org/drawingml/2006/table">
            <a:tbl>
              <a:tblPr firstRow="1" bandRow="1">
                <a:tableStyleId>{5C22544A-7EE6-4342-B048-85BDC9FD1C3A}</a:tableStyleId>
              </a:tblPr>
              <a:tblGrid>
                <a:gridCol w="1554250"/>
                <a:gridCol w="3362832"/>
                <a:gridCol w="6330037"/>
              </a:tblGrid>
              <a:tr h="265176">
                <a:tc>
                  <a:txBody>
                    <a:bodyPr wrap="square" anchor="ctr" lIns="50800" rIns="50800" tIns="25400" bIns="25400"/>
                    <a:lstStyle/>
                    <a:p>
                      <a:pPr algn="ctr"/>
                      <a:r>
                        <a:rPr sz="1200" b="1">
                          <a:solidFill>
                            <a:srgbClr val="FFFFFF"/>
                          </a:solidFill>
                        </a:rPr>
                        <a:t>Topic</a:t>
                      </a:r>
                    </a:p>
                  </a:txBody>
                  <a:tcPr>
                    <a:solidFill>
                      <a:srgbClr val="1A365D"/>
                    </a:solidFill>
                  </a:tcPr>
                </a:tc>
                <a:tc>
                  <a:txBody>
                    <a:bodyPr wrap="square" anchor="ctr" lIns="50800" rIns="50800" tIns="25400" bIns="25400"/>
                    <a:lstStyle/>
                    <a:p>
                      <a:pPr algn="l"/>
                      <a:r>
                        <a:rPr sz="1200" b="1">
                          <a:solidFill>
                            <a:srgbClr val="FFFFFF"/>
                          </a:solidFill>
                        </a:rPr>
                        <a:t>Typical prior work</a:t>
                      </a:r>
                    </a:p>
                  </a:txBody>
                  <a:tcPr>
                    <a:solidFill>
                      <a:srgbClr val="1A365D"/>
                    </a:solidFill>
                  </a:tcPr>
                </a:tc>
                <a:tc>
                  <a:txBody>
                    <a:bodyPr wrap="square" anchor="ctr" lIns="50800" rIns="50800" tIns="25400" bIns="25400"/>
                    <a:lstStyle/>
                    <a:p>
                      <a:pPr algn="l"/>
                      <a:r>
                        <a:rPr sz="1200" b="1">
                          <a:solidFill>
                            <a:srgbClr val="FFFFFF"/>
                          </a:solidFill>
                        </a:rPr>
                        <a:t>AgentPV difference</a:t>
                      </a:r>
                    </a:p>
                  </a:txBody>
                  <a:tcPr>
                    <a:solidFill>
                      <a:srgbClr val="1A365D"/>
                    </a:solidFill>
                  </a:tcPr>
                </a:tc>
              </a:tr>
              <a:tr h="265176">
                <a:tc>
                  <a:txBody>
                    <a:bodyPr wrap="square" anchor="ctr" lIns="50800" rIns="50800" tIns="25400" bIns="25400"/>
                    <a:lstStyle/>
                    <a:p>
                      <a:pPr algn="l"/>
                      <a:r>
                        <a:rPr sz="1200" b="0">
                          <a:solidFill>
                            <a:srgbClr val="2D3748"/>
                          </a:solidFill>
                        </a:rPr>
                        <a:t>PV fault DL</a:t>
                      </a:r>
                    </a:p>
                  </a:txBody>
                  <a:tcPr>
                    <a:solidFill>
                      <a:srgbClr val="FFFFFF"/>
                    </a:solidFill>
                  </a:tcPr>
                </a:tc>
                <a:tc>
                  <a:txBody>
                    <a:bodyPr wrap="square" anchor="ctr" lIns="50800" rIns="50800" tIns="25400" bIns="25400"/>
                    <a:lstStyle/>
                    <a:p>
                      <a:pPr algn="l"/>
                      <a:r>
                        <a:rPr sz="1200" b="0">
                          <a:solidFill>
                            <a:srgbClr val="2D3748"/>
                          </a:solidFill>
                        </a:rPr>
                        <a:t>ResNet / CNN / LSTM + confusion matrix</a:t>
                      </a:r>
                    </a:p>
                  </a:txBody>
                  <a:tcPr>
                    <a:solidFill>
                      <a:srgbClr val="FFFFFF"/>
                    </a:solidFill>
                  </a:tcPr>
                </a:tc>
                <a:tc>
                  <a:txBody>
                    <a:bodyPr wrap="square" anchor="ctr" lIns="50800" rIns="50800" tIns="25400" bIns="25400"/>
                    <a:lstStyle/>
                    <a:p>
                      <a:pPr algn="l"/>
                      <a:r>
                        <a:rPr sz="1200" b="0">
                          <a:solidFill>
                            <a:srgbClr val="2D3748"/>
                          </a:solidFill>
                        </a:rPr>
                        <a:t>ONNX/INT8 deployment budgets + full-chain latency</a:t>
                      </a:r>
                    </a:p>
                  </a:txBody>
                  <a:tcPr>
                    <a:solidFill>
                      <a:srgbClr val="FFFFFF"/>
                    </a:solidFill>
                  </a:tcPr>
                </a:tc>
              </a:tr>
              <a:tr h="265176">
                <a:tc>
                  <a:txBody>
                    <a:bodyPr wrap="square" anchor="ctr" lIns="50800" rIns="50800" tIns="25400" bIns="25400"/>
                    <a:lstStyle/>
                    <a:p>
                      <a:pPr algn="l"/>
                      <a:r>
                        <a:rPr sz="1200" b="0">
                          <a:solidFill>
                            <a:srgbClr val="2D3748"/>
                          </a:solidFill>
                        </a:rPr>
                        <a:t>BESS prognostics</a:t>
                      </a:r>
                    </a:p>
                  </a:txBody>
                  <a:tcPr>
                    <a:solidFill>
                      <a:srgbClr val="EDF2F7"/>
                    </a:solidFill>
                  </a:tcPr>
                </a:tc>
                <a:tc>
                  <a:txBody>
                    <a:bodyPr wrap="square" anchor="ctr" lIns="50800" rIns="50800" tIns="25400" bIns="25400"/>
                    <a:lstStyle/>
                    <a:p>
                      <a:pPr algn="l"/>
                      <a:r>
                        <a:rPr sz="1200" b="0">
                          <a:solidFill>
                            <a:srgbClr val="2D3748"/>
                          </a:solidFill>
                        </a:rPr>
                        <a:t>RUL / SOH models</a:t>
                      </a:r>
                    </a:p>
                  </a:txBody>
                  <a:tcPr>
                    <a:solidFill>
                      <a:srgbClr val="EDF2F7"/>
                    </a:solidFill>
                  </a:tcPr>
                </a:tc>
                <a:tc>
                  <a:txBody>
                    <a:bodyPr wrap="square" anchor="ctr" lIns="50800" rIns="50800" tIns="25400" bIns="25400"/>
                    <a:lstStyle/>
                    <a:p>
                      <a:pPr algn="l"/>
                      <a:r>
                        <a:rPr sz="1200" b="0">
                          <a:solidFill>
                            <a:srgbClr val="2D3748"/>
                          </a:solidFill>
                        </a:rPr>
                        <a:t>RUL as an agent *tool*, not the headline classifier</a:t>
                      </a:r>
                    </a:p>
                  </a:txBody>
                  <a:tcPr>
                    <a:solidFill>
                      <a:srgbClr val="EDF2F7"/>
                    </a:solidFill>
                  </a:tcPr>
                </a:tc>
              </a:tr>
              <a:tr h="265176">
                <a:tc>
                  <a:txBody>
                    <a:bodyPr wrap="square" anchor="ctr" lIns="50800" rIns="50800" tIns="25400" bIns="25400"/>
                    <a:lstStyle/>
                    <a:p>
                      <a:pPr algn="l"/>
                      <a:r>
                        <a:rPr sz="1200" b="0">
                          <a:solidFill>
                            <a:srgbClr val="2D3748"/>
                          </a:solidFill>
                        </a:rPr>
                        <a:t>LLM agents</a:t>
                      </a:r>
                    </a:p>
                  </a:txBody>
                  <a:tcPr>
                    <a:solidFill>
                      <a:srgbClr val="FFFFFF"/>
                    </a:solidFill>
                  </a:tcPr>
                </a:tc>
                <a:tc>
                  <a:txBody>
                    <a:bodyPr wrap="square" anchor="ctr" lIns="50800" rIns="50800" tIns="25400" bIns="25400"/>
                    <a:lstStyle/>
                    <a:p>
                      <a:pPr algn="l"/>
                      <a:r>
                        <a:rPr sz="1200" b="0">
                          <a:solidFill>
                            <a:srgbClr val="2D3748"/>
                          </a:solidFill>
                        </a:rPr>
                        <a:t>ReAct + RAG in isolation</a:t>
                      </a:r>
                    </a:p>
                  </a:txBody>
                  <a:tcPr>
                    <a:solidFill>
                      <a:srgbClr val="FFFFFF"/>
                    </a:solidFill>
                  </a:tcPr>
                </a:tc>
                <a:tc>
                  <a:txBody>
                    <a:bodyPr wrap="square" anchor="ctr" lIns="50800" rIns="50800" tIns="25400" bIns="25400"/>
                    <a:lstStyle/>
                    <a:p>
                      <a:pPr algn="l"/>
                      <a:r>
                        <a:rPr sz="1200" b="0">
                          <a:solidFill>
                            <a:srgbClr val="2D3748"/>
                          </a:solidFill>
                        </a:rPr>
                        <a:t>Closed loop with live edge HTTP + 33-scenario benchmark</a:t>
                      </a:r>
                    </a:p>
                  </a:txBody>
                  <a:tcPr>
                    <a:solidFill>
                      <a:srgbClr val="FFFFFF"/>
                    </a:solidFill>
                  </a:tcPr>
                </a:tc>
              </a:tr>
              <a:tr h="265176">
                <a:tc>
                  <a:txBody>
                    <a:bodyPr wrap="square" anchor="ctr" lIns="50800" rIns="50800" tIns="25400" bIns="25400"/>
                    <a:lstStyle/>
                    <a:p>
                      <a:pPr algn="l"/>
                      <a:r>
                        <a:rPr sz="1200" b="0">
                          <a:solidFill>
                            <a:srgbClr val="2D3748"/>
                          </a:solidFill>
                        </a:rPr>
                        <a:t>OOD detection</a:t>
                      </a:r>
                    </a:p>
                  </a:txBody>
                  <a:tcPr>
                    <a:solidFill>
                      <a:srgbClr val="EDF2F7"/>
                    </a:solidFill>
                  </a:tcPr>
                </a:tc>
                <a:tc>
                  <a:txBody>
                    <a:bodyPr wrap="square" anchor="ctr" lIns="50800" rIns="50800" tIns="25400" bIns="25400"/>
                    <a:lstStyle/>
                    <a:p>
                      <a:pPr algn="l"/>
                      <a:r>
                        <a:rPr sz="1200" b="0">
                          <a:solidFill>
                            <a:srgbClr val="2D3748"/>
                          </a:solidFill>
                        </a:rPr>
                        <a:t>Energy score, MSP, etc.</a:t>
                      </a:r>
                    </a:p>
                  </a:txBody>
                  <a:tcPr>
                    <a:solidFill>
                      <a:srgbClr val="EDF2F7"/>
                    </a:solidFill>
                  </a:tcPr>
                </a:tc>
                <a:tc>
                  <a:txBody>
                    <a:bodyPr wrap="square" anchor="ctr" lIns="50800" rIns="50800" tIns="25400" bIns="25400"/>
                    <a:lstStyle/>
                    <a:p>
                      <a:pPr algn="l"/>
                      <a:r>
                        <a:rPr sz="1200" b="0">
                          <a:solidFill>
                            <a:srgbClr val="2D3748"/>
                          </a:solidFill>
                        </a:rPr>
                        <a:t>Six stress axes + honest success/failure boundaries</a:t>
                      </a:r>
                    </a:p>
                  </a:txBody>
                  <a:tcPr>
                    <a:solidFill>
                      <a:srgbClr val="EDF2F7"/>
                    </a:solidFill>
                  </a:tcPr>
                </a:tc>
              </a:tr>
            </a:tbl>
          </a:graphicData>
        </a:graphic>
      </p:graphicFrame>
      <p:sp>
        <p:nvSpPr>
          <p:cNvPr id="6" name="TextBox 5"/>
          <p:cNvSpPr txBox="1"/>
          <p:nvPr/>
        </p:nvSpPr>
        <p:spPr>
          <a:xfrm>
            <a:off x="457200" y="2578608"/>
            <a:ext cx="11247120" cy="1530477"/>
          </a:xfrm>
          <a:prstGeom prst="rect">
            <a:avLst/>
          </a:prstGeom>
          <a:noFill/>
        </p:spPr>
        <p:txBody>
          <a:bodyPr wrap="square" anchor="t">
            <a:spAutoFit/>
          </a:bodyPr>
          <a:lstStyle/>
          <a:p>
            <a:pPr algn="l">
              <a:spcAft>
                <a:spcPts val="300"/>
              </a:spcAft>
            </a:pPr>
            <a:r>
              <a:rPr sz="1700">
                <a:solidFill>
                  <a:srgbClr val="2D3748"/>
                </a:solidFill>
              </a:rPr>
              <a:t>References (final report §11.4): Goodfellow et al. FGSM; Liu et al. energy OOD;</a:t>
            </a:r>
          </a:p>
          <a:p>
            <a:pPr algn="l">
              <a:spcAft>
                <a:spcPts val="300"/>
              </a:spcAft>
            </a:pPr>
            <a:r>
              <a:rPr sz="1700">
                <a:solidFill>
                  <a:srgbClr val="2D3748"/>
                </a:solidFill>
              </a:rPr>
              <a:t>Lewis et al. RAG; Yao et al. ReAct; Hendrycks &amp; Gimpel MSP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§5</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5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Six contributions (from abstract)</a:t>
            </a:r>
          </a:p>
        </p:txBody>
      </p:sp>
      <p:sp>
        <p:nvSpPr>
          <p:cNvPr id="5" name="TextBox 4"/>
          <p:cNvSpPr txBox="1"/>
          <p:nvPr/>
        </p:nvSpPr>
        <p:spPr>
          <a:xfrm>
            <a:off x="457200" y="1143000"/>
            <a:ext cx="5486400" cy="5257800"/>
          </a:xfrm>
          <a:prstGeom prst="rect">
            <a:avLst/>
          </a:prstGeom>
          <a:noFill/>
        </p:spPr>
        <p:txBody>
          <a:bodyPr wrap="square" anchor="t">
            <a:spAutoFit/>
          </a:bodyPr>
          <a:lstStyle/>
          <a:p>
            <a:pPr algn="l">
              <a:spcAft>
                <a:spcPts val="300"/>
              </a:spcAft>
            </a:pPr>
            <a:r>
              <a:rPr sz="1600">
                <a:solidFill>
                  <a:srgbClr val="2D3748"/>
                </a:solidFill>
              </a:rPr>
              <a:t>1. Reproducible codebase — simulation, training, quantisation, RAG, agent,</a:t>
            </a:r>
          </a:p>
          <a:p>
            <a:pPr algn="l">
              <a:spcAft>
                <a:spcPts val="300"/>
              </a:spcAft>
            </a:pPr>
            <a:r>
              <a:rPr sz="1600">
                <a:solidFill>
                  <a:srgbClr val="2D3748"/>
                </a:solidFill>
              </a:rPr>
              <a:t>   orchestrator, dashboard; 284 unit tests; ruff clean</a:t>
            </a:r>
          </a:p>
          <a:p>
            <a:pPr algn="l">
              <a:spcAft>
                <a:spcPts val="300"/>
              </a:spcAft>
            </a:pPr>
            <a:r>
              <a:rPr sz="1600">
                <a:solidFill>
                  <a:srgbClr val="2D3748"/>
                </a:solidFill>
              </a:rPr>
              <a:t>2. Two systems × three backends — PyTorch FP32, ONNX FP32, ONNX INT8;</a:t>
            </a:r>
          </a:p>
          <a:p>
            <a:pPr algn="l">
              <a:spcAft>
                <a:spcPts val="300"/>
              </a:spcAft>
            </a:pPr>
            <a:r>
              <a:rPr sz="1600">
                <a:solidFill>
                  <a:srgbClr val="2D3748"/>
                </a:solidFill>
              </a:rPr>
              <a:t>   full Macro-F1 / P95 / size characterisation</a:t>
            </a:r>
          </a:p>
          <a:p>
            <a:pPr algn="l">
              <a:spcAft>
                <a:spcPts val="300"/>
              </a:spcAft>
            </a:pPr>
            <a:r>
              <a:rPr sz="1600">
                <a:solidFill>
                  <a:srgbClr val="2D3748"/>
                </a:solidFill>
              </a:rPr>
              <a:t>3. Deployment-realism suite — six stress axes + energy-based selective</a:t>
            </a:r>
          </a:p>
          <a:p>
            <a:pPr algn="l">
              <a:spcAft>
                <a:spcPts val="300"/>
              </a:spcAft>
            </a:pPr>
            <a:r>
              <a:rPr sz="1600">
                <a:solidFill>
                  <a:srgbClr val="2D3748"/>
                </a:solidFill>
              </a:rPr>
              <a:t>   prediction calibrated to 95% validation coverage</a:t>
            </a:r>
          </a:p>
          <a:p>
            <a:pPr algn="l">
              <a:spcAft>
                <a:spcPts val="300"/>
              </a:spcAft>
            </a:pPr>
            <a:r>
              <a:rPr sz="1600">
                <a:solidFill>
                  <a:srgbClr val="2D3748"/>
                </a:solidFill>
              </a:rPr>
              <a:t>4. LLM agent benchmark — 33 scenarios × three ablations; LLM-as-judge mean 4.10 / 99</a:t>
            </a:r>
          </a:p>
          <a:p>
            <a:pPr algn="l">
              <a:spcAft>
                <a:spcPts val="300"/>
              </a:spcAft>
            </a:pPr>
            <a:r>
              <a:rPr sz="1600">
                <a:solidFill>
                  <a:srgbClr val="2D3748"/>
                </a:solidFill>
              </a:rPr>
              <a:t>5. Integration ablation — edge_only / full / cloud_only (50 HTTP runs each)</a:t>
            </a:r>
          </a:p>
          <a:p>
            <a:pPr algn="l">
              <a:spcAft>
                <a:spcPts val="300"/>
              </a:spcAft>
            </a:pPr>
            <a:r>
              <a:rPr sz="1600">
                <a:solidFill>
                  <a:srgbClr val="2D3748"/>
                </a:solidFill>
              </a:rPr>
              <a:t>   + 10-node orchestrator (144 events / 60 s)</a:t>
            </a:r>
          </a:p>
          <a:p>
            <a:pPr algn="l">
              <a:spcAft>
                <a:spcPts val="300"/>
              </a:spcAft>
            </a:pPr>
            <a:r>
              <a:rPr sz="1600">
                <a:solidFill>
                  <a:srgbClr val="2D3748"/>
                </a:solidFill>
              </a:rPr>
              <a:t>6. C7 operator UI + scripted fault injection — dashboard/inject.py on orchestrator HTTP path;</a:t>
            </a:r>
          </a:p>
          <a:p>
            <a:pPr algn="l">
              <a:spcAft>
                <a:spcPts val="300"/>
              </a:spcAft>
            </a:pPr>
            <a:r>
              <a:rPr sz="1600">
                <a:solidFill>
                  <a:srgbClr val="2D3748"/>
                </a:solidFill>
              </a:rPr>
              <a:t>   five scenarios in fault_injection_demo.md (all ✅)</a:t>
            </a:r>
          </a:p>
        </p:txBody>
      </p:sp>
      <p:pic>
        <p:nvPicPr>
          <p:cNvPr id="6" name="Picture 5" descr="01_latency_bars.png"/>
          <p:cNvPicPr>
            <a:picLocks noChangeAspect="1"/>
          </p:cNvPicPr>
          <p:nvPr/>
        </p:nvPicPr>
        <p:blipFill>
          <a:blip r:embed="rId2"/>
          <a:stretch>
            <a:fillRect/>
          </a:stretch>
        </p:blipFill>
        <p:spPr>
          <a:xfrm>
            <a:off x="6126480" y="1143000"/>
            <a:ext cx="5303520" cy="457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§6</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6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Assignment compliance C1–C8</a:t>
            </a:r>
          </a:p>
        </p:txBody>
      </p:sp>
      <p:graphicFrame>
        <p:nvGraphicFramePr>
          <p:cNvPr id="5" name="Table 4"/>
          <p:cNvGraphicFramePr>
            <a:graphicFrameLocks noGrp="1"/>
          </p:cNvGraphicFramePr>
          <p:nvPr/>
        </p:nvGraphicFramePr>
        <p:xfrm>
          <a:off x="457200" y="1143000"/>
          <a:ext cx="11247118" cy="2350008"/>
        </p:xfrm>
        <a:graphic>
          <a:graphicData uri="http://schemas.openxmlformats.org/drawingml/2006/table">
            <a:tbl>
              <a:tblPr firstRow="1" bandRow="1">
                <a:tableStyleId>{5C22544A-7EE6-4342-B048-85BDC9FD1C3A}</a:tableStyleId>
              </a:tblPr>
              <a:tblGrid>
                <a:gridCol w="1374150"/>
                <a:gridCol w="4406242"/>
                <a:gridCol w="5257617"/>
                <a:gridCol w="209109"/>
              </a:tblGrid>
              <a:tr h="261112">
                <a:tc>
                  <a:txBody>
                    <a:bodyPr wrap="square" anchor="ctr" lIns="50800" rIns="50800" tIns="25400" bIns="25400"/>
                    <a:lstStyle/>
                    <a:p>
                      <a:pPr algn="ctr"/>
                      <a:r>
                        <a:rPr sz="1000" b="1">
                          <a:solidFill>
                            <a:srgbClr val="FFFFFF"/>
                          </a:solidFill>
                        </a:rPr>
                        <a:t>Component</a:t>
                      </a:r>
                    </a:p>
                  </a:txBody>
                  <a:tcPr>
                    <a:solidFill>
                      <a:srgbClr val="1A365D"/>
                    </a:solidFill>
                  </a:tcPr>
                </a:tc>
                <a:tc>
                  <a:txBody>
                    <a:bodyPr wrap="square" anchor="ctr" lIns="50800" rIns="50800" tIns="25400" bIns="25400"/>
                    <a:lstStyle/>
                    <a:p>
                      <a:pPr algn="l"/>
                      <a:r>
                        <a:rPr sz="1000" b="1">
                          <a:solidFill>
                            <a:srgbClr val="FFFFFF"/>
                          </a:solidFill>
                        </a:rPr>
                        <a:t>Requirement (summary)</a:t>
                      </a:r>
                    </a:p>
                  </a:txBody>
                  <a:tcPr>
                    <a:solidFill>
                      <a:srgbClr val="1A365D"/>
                    </a:solidFill>
                  </a:tcPr>
                </a:tc>
                <a:tc>
                  <a:txBody>
                    <a:bodyPr wrap="square" anchor="ctr" lIns="50800" rIns="50800" tIns="25400" bIns="25400"/>
                    <a:lstStyle/>
                    <a:p>
                      <a:pPr algn="l"/>
                      <a:r>
                        <a:rPr sz="1000" b="1">
                          <a:solidFill>
                            <a:srgbClr val="FFFFFF"/>
                          </a:solidFill>
                        </a:rPr>
                        <a:t>Evidence in repo</a:t>
                      </a:r>
                    </a:p>
                  </a:txBody>
                  <a:tcPr>
                    <a:solidFill>
                      <a:srgbClr val="1A365D"/>
                    </a:solidFill>
                  </a:tcPr>
                </a:tc>
                <a:tc>
                  <a:txBody>
                    <a:bodyPr wrap="square" anchor="ctr" lIns="50800" rIns="50800" tIns="25400" bIns="25400"/>
                    <a:lstStyle/>
                    <a:p>
                      <a:pPr algn="ctr"/>
                      <a:r>
                        <a:rPr sz="1000" b="1">
                          <a:solidFill>
                            <a:srgbClr val="FFFFFF"/>
                          </a:solidFill>
                        </a:rPr>
                        <a:t>Status</a:t>
                      </a:r>
                    </a:p>
                  </a:txBody>
                  <a:tcPr>
                    <a:solidFill>
                      <a:srgbClr val="1A365D"/>
                    </a:solidFill>
                  </a:tcPr>
                </a:tc>
              </a:tr>
              <a:tr h="261112">
                <a:tc>
                  <a:txBody>
                    <a:bodyPr wrap="square" anchor="ctr" lIns="50800" rIns="50800" tIns="25400" bIns="25400"/>
                    <a:lstStyle/>
                    <a:p>
                      <a:pPr algn="l"/>
                      <a:r>
                        <a:rPr sz="1000" b="0">
                          <a:solidFill>
                            <a:srgbClr val="2D3748"/>
                          </a:solidFill>
                        </a:rPr>
                        <a:t>C1 Data</a:t>
                      </a:r>
                    </a:p>
                  </a:txBody>
                  <a:tcPr>
                    <a:solidFill>
                      <a:srgbClr val="FFFFFF"/>
                    </a:solidFill>
                  </a:tcPr>
                </a:tc>
                <a:tc>
                  <a:txBody>
                    <a:bodyPr wrap="square" anchor="ctr" lIns="50800" rIns="50800" tIns="25400" bIns="25400"/>
                    <a:lstStyle/>
                    <a:p>
                      <a:pPr algn="l"/>
                      <a:r>
                        <a:rPr sz="1000" b="0">
                          <a:solidFill>
                            <a:srgbClr val="2D3748"/>
                          </a:solidFill>
                        </a:rPr>
                        <a:t>≥50k; PV≥7 + BESS≥5 classes; ≥3 conditions</a:t>
                      </a:r>
                    </a:p>
                  </a:txBody>
                  <a:tcPr>
                    <a:solidFill>
                      <a:srgbClr val="FFFFFF"/>
                    </a:solidFill>
                  </a:tcPr>
                </a:tc>
                <a:tc>
                  <a:txBody>
                    <a:bodyPr wrap="square" anchor="ctr" lIns="50800" rIns="50800" tIns="25400" bIns="25400"/>
                    <a:lstStyle/>
                    <a:p>
                      <a:pPr algn="r"/>
                      <a:r>
                        <a:rPr sz="1000" b="0">
                          <a:solidFill>
                            <a:srgbClr val="2D3748"/>
                          </a:solidFill>
                        </a:rPr>
                        <a:t>50,500 samples; docs/data_card.md; data/version.txt</a:t>
                      </a:r>
                    </a:p>
                  </a:txBody>
                  <a:tcPr>
                    <a:solidFill>
                      <a:srgbClr val="FFFFFF"/>
                    </a:solidFill>
                  </a:tcPr>
                </a:tc>
                <a:tc>
                  <a:txBody>
                    <a:bodyPr wrap="square" anchor="ctr" lIns="50800" rIns="50800" tIns="25400" bIns="25400"/>
                    <a:lstStyle/>
                    <a:p>
                      <a:pPr algn="l"/>
                      <a:r>
                        <a:rPr sz="1000" b="0">
                          <a:solidFill>
                            <a:srgbClr val="2B6CB0"/>
                          </a:solidFill>
                        </a:rPr>
                        <a:t>✅</a:t>
                      </a:r>
                    </a:p>
                  </a:txBody>
                  <a:tcPr>
                    <a:solidFill>
                      <a:srgbClr val="FFFFFF"/>
                    </a:solidFill>
                  </a:tcPr>
                </a:tc>
              </a:tr>
              <a:tr h="261112">
                <a:tc>
                  <a:txBody>
                    <a:bodyPr wrap="square" anchor="ctr" lIns="50800" rIns="50800" tIns="25400" bIns="25400"/>
                    <a:lstStyle/>
                    <a:p>
                      <a:pPr algn="l"/>
                      <a:r>
                        <a:rPr sz="1000" b="0">
                          <a:solidFill>
                            <a:srgbClr val="2D3748"/>
                          </a:solidFill>
                        </a:rPr>
                        <a:t>C2 Model</a:t>
                      </a:r>
                    </a:p>
                  </a:txBody>
                  <a:tcPr>
                    <a:solidFill>
                      <a:srgbClr val="EDF2F7"/>
                    </a:solidFill>
                  </a:tcPr>
                </a:tc>
                <a:tc>
                  <a:txBody>
                    <a:bodyPr wrap="square" anchor="ctr" lIns="50800" rIns="50800" tIns="25400" bIns="25400"/>
                    <a:lstStyle/>
                    <a:p>
                      <a:pPr algn="l"/>
                      <a:r>
                        <a:rPr sz="1000" b="0">
                          <a:solidFill>
                            <a:srgbClr val="2D3748"/>
                          </a:solidFill>
                        </a:rPr>
                        <a:t>Time-series CNN; ONNX; ≤50 MB; CPU P95≤100 ms</a:t>
                      </a:r>
                    </a:p>
                  </a:txBody>
                  <a:tcPr>
                    <a:solidFill>
                      <a:srgbClr val="EDF2F7"/>
                    </a:solidFill>
                  </a:tcPr>
                </a:tc>
                <a:tc>
                  <a:txBody>
                    <a:bodyPr wrap="square" anchor="ctr" lIns="50800" rIns="50800" tIns="25400" bIns="25400"/>
                    <a:lstStyle/>
                    <a:p>
                      <a:pPr algn="l"/>
                      <a:r>
                        <a:rPr sz="1000" b="0">
                          <a:solidFill>
                            <a:srgbClr val="2D3748"/>
                          </a:solidFill>
                        </a:rPr>
                        <a:t>models/cnn1d.py; quantization/; PV F1 0.9994</a:t>
                      </a:r>
                    </a:p>
                  </a:txBody>
                  <a:tcPr>
                    <a:solidFill>
                      <a:srgbClr val="EDF2F7"/>
                    </a:solidFill>
                  </a:tcPr>
                </a:tc>
                <a:tc>
                  <a:txBody>
                    <a:bodyPr wrap="square" anchor="ctr" lIns="50800" rIns="50800" tIns="25400" bIns="25400"/>
                    <a:lstStyle/>
                    <a:p>
                      <a:pPr algn="l"/>
                      <a:r>
                        <a:rPr sz="1000" b="0">
                          <a:solidFill>
                            <a:srgbClr val="2B6CB0"/>
                          </a:solidFill>
                        </a:rPr>
                        <a:t>✅</a:t>
                      </a:r>
                    </a:p>
                  </a:txBody>
                  <a:tcPr>
                    <a:solidFill>
                      <a:srgbClr val="EDF2F7"/>
                    </a:solidFill>
                  </a:tcPr>
                </a:tc>
              </a:tr>
              <a:tr h="261112">
                <a:tc>
                  <a:txBody>
                    <a:bodyPr wrap="square" anchor="ctr" lIns="50800" rIns="50800" tIns="25400" bIns="25400"/>
                    <a:lstStyle/>
                    <a:p>
                      <a:pPr algn="l"/>
                      <a:r>
                        <a:rPr sz="1000" b="0">
                          <a:solidFill>
                            <a:srgbClr val="2D3748"/>
                          </a:solidFill>
                        </a:rPr>
                        <a:t>C3 Eval</a:t>
                      </a:r>
                    </a:p>
                  </a:txBody>
                  <a:tcPr>
                    <a:solidFill>
                      <a:srgbClr val="FFFFFF"/>
                    </a:solidFill>
                  </a:tcPr>
                </a:tc>
                <a:tc>
                  <a:txBody>
                    <a:bodyPr wrap="square" anchor="ctr" lIns="50800" rIns="50800" tIns="25400" bIns="25400"/>
                    <a:lstStyle/>
                    <a:p>
                      <a:pPr algn="l"/>
                      <a:r>
                        <a:rPr sz="1000" b="0">
                          <a:solidFill>
                            <a:srgbClr val="2D3748"/>
                          </a:solidFill>
                        </a:rPr>
                        <a:t>Macro-F1, confusion matrices, compression trade-off</a:t>
                      </a:r>
                    </a:p>
                  </a:txBody>
                  <a:tcPr>
                    <a:solidFill>
                      <a:srgbClr val="FFFFFF"/>
                    </a:solidFill>
                  </a:tcPr>
                </a:tc>
                <a:tc>
                  <a:txBody>
                    <a:bodyPr wrap="square" anchor="ctr" lIns="50800" rIns="50800" tIns="25400" bIns="25400"/>
                    <a:lstStyle/>
                    <a:p>
                      <a:pPr algn="l"/>
                      <a:r>
                        <a:rPr sz="1000" b="0">
                          <a:solidFill>
                            <a:srgbClr val="2D3748"/>
                          </a:solidFill>
                        </a:rPr>
                        <a:t>python -m evaluation --compare; model_eval.md</a:t>
                      </a:r>
                    </a:p>
                  </a:txBody>
                  <a:tcPr>
                    <a:solidFill>
                      <a:srgbClr val="FFFFFF"/>
                    </a:solidFill>
                  </a:tcPr>
                </a:tc>
                <a:tc>
                  <a:txBody>
                    <a:bodyPr wrap="square" anchor="ctr" lIns="50800" rIns="50800" tIns="25400" bIns="25400"/>
                    <a:lstStyle/>
                    <a:p>
                      <a:pPr algn="l"/>
                      <a:r>
                        <a:rPr sz="1000" b="0">
                          <a:solidFill>
                            <a:srgbClr val="2B6CB0"/>
                          </a:solidFill>
                        </a:rPr>
                        <a:t>✅</a:t>
                      </a:r>
                    </a:p>
                  </a:txBody>
                  <a:tcPr>
                    <a:solidFill>
                      <a:srgbClr val="FFFFFF"/>
                    </a:solidFill>
                  </a:tcPr>
                </a:tc>
              </a:tr>
              <a:tr h="261112">
                <a:tc>
                  <a:txBody>
                    <a:bodyPr wrap="square" anchor="ctr" lIns="50800" rIns="50800" tIns="25400" bIns="25400"/>
                    <a:lstStyle/>
                    <a:p>
                      <a:pPr algn="l"/>
                      <a:r>
                        <a:rPr sz="1000" b="0">
                          <a:solidFill>
                            <a:srgbClr val="2D3748"/>
                          </a:solidFill>
                        </a:rPr>
                        <a:t>C4 Agent</a:t>
                      </a:r>
                    </a:p>
                  </a:txBody>
                  <a:tcPr>
                    <a:solidFill>
                      <a:srgbClr val="EDF2F7"/>
                    </a:solidFill>
                  </a:tcPr>
                </a:tc>
                <a:tc>
                  <a:txBody>
                    <a:bodyPr wrap="square" anchor="ctr" lIns="50800" rIns="50800" tIns="25400" bIns="25400"/>
                    <a:lstStyle/>
                    <a:p>
                      <a:pPr algn="l"/>
                      <a:r>
                        <a:rPr sz="1000" b="0">
                          <a:solidFill>
                            <a:srgbClr val="2D3748"/>
                          </a:solidFill>
                        </a:rPr>
                        <a:t>ReAct; RAG≥30 docs; four tools</a:t>
                      </a:r>
                    </a:p>
                  </a:txBody>
                  <a:tcPr>
                    <a:solidFill>
                      <a:srgbClr val="EDF2F7"/>
                    </a:solidFill>
                  </a:tcPr>
                </a:tc>
                <a:tc>
                  <a:txBody>
                    <a:bodyPr wrap="square" anchor="ctr" lIns="50800" rIns="50800" tIns="25400" bIns="25400"/>
                    <a:lstStyle/>
                    <a:p>
                      <a:pPr algn="l"/>
                      <a:r>
                        <a:rPr sz="1000" b="0">
                          <a:solidFill>
                            <a:srgbClr val="2D3748"/>
                          </a:solidFill>
                        </a:rPr>
                        <a:t>agent/workflows/react.py; rag/ (30 playbooks)</a:t>
                      </a:r>
                    </a:p>
                  </a:txBody>
                  <a:tcPr>
                    <a:solidFill>
                      <a:srgbClr val="EDF2F7"/>
                    </a:solidFill>
                  </a:tcPr>
                </a:tc>
                <a:tc>
                  <a:txBody>
                    <a:bodyPr wrap="square" anchor="ctr" lIns="50800" rIns="50800" tIns="25400" bIns="25400"/>
                    <a:lstStyle/>
                    <a:p>
                      <a:pPr algn="l"/>
                      <a:r>
                        <a:rPr sz="1000" b="0">
                          <a:solidFill>
                            <a:srgbClr val="2B6CB0"/>
                          </a:solidFill>
                        </a:rPr>
                        <a:t>✅</a:t>
                      </a:r>
                    </a:p>
                  </a:txBody>
                  <a:tcPr>
                    <a:solidFill>
                      <a:srgbClr val="EDF2F7"/>
                    </a:solidFill>
                  </a:tcPr>
                </a:tc>
              </a:tr>
              <a:tr h="261112">
                <a:tc>
                  <a:txBody>
                    <a:bodyPr wrap="square" anchor="ctr" lIns="50800" rIns="50800" tIns="25400" bIns="25400"/>
                    <a:lstStyle/>
                    <a:p>
                      <a:pPr algn="l"/>
                      <a:r>
                        <a:rPr sz="1000" b="0">
                          <a:solidFill>
                            <a:srgbClr val="2D3748"/>
                          </a:solidFill>
                        </a:rPr>
                        <a:t>C5 Benchmark</a:t>
                      </a:r>
                    </a:p>
                  </a:txBody>
                  <a:tcPr>
                    <a:solidFill>
                      <a:srgbClr val="FFFFFF"/>
                    </a:solidFill>
                  </a:tcPr>
                </a:tc>
                <a:tc>
                  <a:txBody>
                    <a:bodyPr wrap="square" anchor="ctr" lIns="50800" rIns="50800" tIns="25400" bIns="25400"/>
                    <a:lstStyle/>
                    <a:p>
                      <a:pPr algn="l"/>
                      <a:r>
                        <a:rPr sz="1000" b="0">
                          <a:solidFill>
                            <a:srgbClr val="2D3748"/>
                          </a:solidFill>
                        </a:rPr>
                        <a:t>≥30 scenarios; ablations; scoring</a:t>
                      </a:r>
                    </a:p>
                  </a:txBody>
                  <a:tcPr>
                    <a:solidFill>
                      <a:srgbClr val="FFFFFF"/>
                    </a:solidFill>
                  </a:tcPr>
                </a:tc>
                <a:tc>
                  <a:txBody>
                    <a:bodyPr wrap="square" anchor="ctr" lIns="50800" rIns="50800" tIns="25400" bIns="25400"/>
                    <a:lstStyle/>
                    <a:p>
                      <a:pPr algn="r"/>
                      <a:r>
                        <a:rPr sz="1000" b="0">
                          <a:solidFill>
                            <a:srgbClr val="2D3748"/>
                          </a:solidFill>
                        </a:rPr>
                        <a:t>33×3 ablations; judge 4.10</a:t>
                      </a:r>
                    </a:p>
                  </a:txBody>
                  <a:tcPr>
                    <a:solidFill>
                      <a:srgbClr val="FFFFFF"/>
                    </a:solidFill>
                  </a:tcPr>
                </a:tc>
                <a:tc>
                  <a:txBody>
                    <a:bodyPr wrap="square" anchor="ctr" lIns="50800" rIns="50800" tIns="25400" bIns="25400"/>
                    <a:lstStyle/>
                    <a:p>
                      <a:pPr algn="l"/>
                      <a:r>
                        <a:rPr sz="1000" b="0">
                          <a:solidFill>
                            <a:srgbClr val="2B6CB0"/>
                          </a:solidFill>
                        </a:rPr>
                        <a:t>✅</a:t>
                      </a:r>
                    </a:p>
                  </a:txBody>
                  <a:tcPr>
                    <a:solidFill>
                      <a:srgbClr val="FFFFFF"/>
                    </a:solidFill>
                  </a:tcPr>
                </a:tc>
              </a:tr>
              <a:tr h="261112">
                <a:tc>
                  <a:txBody>
                    <a:bodyPr wrap="square" anchor="ctr" lIns="50800" rIns="50800" tIns="25400" bIns="25400"/>
                    <a:lstStyle/>
                    <a:p>
                      <a:pPr algn="l"/>
                      <a:r>
                        <a:rPr sz="1000" b="0">
                          <a:solidFill>
                            <a:srgbClr val="2D3748"/>
                          </a:solidFill>
                        </a:rPr>
                        <a:t>C6 Integration</a:t>
                      </a:r>
                    </a:p>
                  </a:txBody>
                  <a:tcPr>
                    <a:solidFill>
                      <a:srgbClr val="EDF2F7"/>
                    </a:solidFill>
                  </a:tcPr>
                </a:tc>
                <a:tc>
                  <a:txBody>
                    <a:bodyPr wrap="square" anchor="ctr" lIns="50800" rIns="50800" tIns="25400" bIns="25400"/>
                    <a:lstStyle/>
                    <a:p>
                      <a:pPr algn="l"/>
                      <a:r>
                        <a:rPr sz="1000" b="0">
                          <a:solidFill>
                            <a:srgbClr val="2D3748"/>
                          </a:solidFill>
                        </a:rPr>
                        <a:t>≥10 nodes; E2E P95≤10 s; three modes</a:t>
                      </a:r>
                    </a:p>
                  </a:txBody>
                  <a:tcPr>
                    <a:solidFill>
                      <a:srgbClr val="EDF2F7"/>
                    </a:solidFill>
                  </a:tcPr>
                </a:tc>
                <a:tc>
                  <a:txBody>
                    <a:bodyPr wrap="square" anchor="ctr" lIns="50800" rIns="50800" tIns="25400" bIns="25400"/>
                    <a:lstStyle/>
                    <a:p>
                      <a:pPr algn="l"/>
                      <a:r>
                        <a:rPr sz="1000" b="0">
                          <a:solidFill>
                            <a:srgbClr val="2D3748"/>
                          </a:solidFill>
                        </a:rPr>
                        <a:t>pv6_bess4; full P95 9803 ms</a:t>
                      </a:r>
                    </a:p>
                  </a:txBody>
                  <a:tcPr>
                    <a:solidFill>
                      <a:srgbClr val="EDF2F7"/>
                    </a:solidFill>
                  </a:tcPr>
                </a:tc>
                <a:tc>
                  <a:txBody>
                    <a:bodyPr wrap="square" anchor="ctr" lIns="50800" rIns="50800" tIns="25400" bIns="25400"/>
                    <a:lstStyle/>
                    <a:p>
                      <a:pPr algn="l"/>
                      <a:r>
                        <a:rPr sz="1000" b="0">
                          <a:solidFill>
                            <a:srgbClr val="2B6CB0"/>
                          </a:solidFill>
                        </a:rPr>
                        <a:t>✅</a:t>
                      </a:r>
                    </a:p>
                  </a:txBody>
                  <a:tcPr>
                    <a:solidFill>
                      <a:srgbClr val="EDF2F7"/>
                    </a:solidFill>
                  </a:tcPr>
                </a:tc>
              </a:tr>
              <a:tr h="261112">
                <a:tc>
                  <a:txBody>
                    <a:bodyPr wrap="square" anchor="ctr" lIns="50800" rIns="50800" tIns="25400" bIns="25400"/>
                    <a:lstStyle/>
                    <a:p>
                      <a:pPr algn="l"/>
                      <a:r>
                        <a:rPr sz="1000" b="0">
                          <a:solidFill>
                            <a:srgbClr val="2D3748"/>
                          </a:solidFill>
                        </a:rPr>
                        <a:t>C7 Prototype</a:t>
                      </a:r>
                    </a:p>
                  </a:txBody>
                  <a:tcPr>
                    <a:solidFill>
                      <a:srgbClr val="FFFFFF"/>
                    </a:solidFill>
                  </a:tcPr>
                </a:tc>
                <a:tc>
                  <a:txBody>
                    <a:bodyPr wrap="square" anchor="ctr" lIns="50800" rIns="50800" tIns="25400" bIns="25400"/>
                    <a:lstStyle/>
                    <a:p>
                      <a:pPr algn="l"/>
                      <a:r>
                        <a:rPr sz="1000" b="0">
                          <a:solidFill>
                            <a:srgbClr val="2D3748"/>
                          </a:solidFill>
                        </a:rPr>
                        <a:t>Web UI + interactive demo</a:t>
                      </a:r>
                    </a:p>
                  </a:txBody>
                  <a:tcPr>
                    <a:solidFill>
                      <a:srgbClr val="FFFFFF"/>
                    </a:solidFill>
                  </a:tcPr>
                </a:tc>
                <a:tc>
                  <a:txBody>
                    <a:bodyPr wrap="square" anchor="ctr" lIns="50800" rIns="50800" tIns="25400" bIns="25400"/>
                    <a:lstStyle/>
                    <a:p>
                      <a:pPr algn="l"/>
                      <a:r>
                        <a:rPr sz="1000" b="0">
                          <a:solidFill>
                            <a:srgbClr val="2D3748"/>
                          </a:solidFill>
                        </a:rPr>
                        <a:t>dashboard/app.py; inject.py; fault_injection_demo.md (5/5 ✅)</a:t>
                      </a:r>
                    </a:p>
                  </a:txBody>
                  <a:tcPr>
                    <a:solidFill>
                      <a:srgbClr val="FFFFFF"/>
                    </a:solidFill>
                  </a:tcPr>
                </a:tc>
                <a:tc>
                  <a:txBody>
                    <a:bodyPr wrap="square" anchor="ctr" lIns="50800" rIns="50800" tIns="25400" bIns="25400"/>
                    <a:lstStyle/>
                    <a:p>
                      <a:pPr algn="l"/>
                      <a:r>
                        <a:rPr sz="1000" b="0">
                          <a:solidFill>
                            <a:srgbClr val="2B6CB0"/>
                          </a:solidFill>
                        </a:rPr>
                        <a:t>✅</a:t>
                      </a:r>
                    </a:p>
                  </a:txBody>
                  <a:tcPr>
                    <a:solidFill>
                      <a:srgbClr val="FFFFFF"/>
                    </a:solidFill>
                  </a:tcPr>
                </a:tc>
              </a:tr>
              <a:tr h="261112">
                <a:tc>
                  <a:txBody>
                    <a:bodyPr wrap="square" anchor="ctr" lIns="50800" rIns="50800" tIns="25400" bIns="25400"/>
                    <a:lstStyle/>
                    <a:p>
                      <a:pPr algn="l"/>
                      <a:r>
                        <a:rPr sz="1000" b="0">
                          <a:solidFill>
                            <a:srgbClr val="2D3748"/>
                          </a:solidFill>
                        </a:rPr>
                        <a:t>C8 Final report</a:t>
                      </a:r>
                    </a:p>
                  </a:txBody>
                  <a:tcPr>
                    <a:solidFill>
                      <a:srgbClr val="EDF2F7"/>
                    </a:solidFill>
                  </a:tcPr>
                </a:tc>
                <a:tc>
                  <a:txBody>
                    <a:bodyPr wrap="square" anchor="ctr" lIns="50800" rIns="50800" tIns="25400" bIns="25400"/>
                    <a:lstStyle/>
                    <a:p>
                      <a:pPr algn="l"/>
                      <a:r>
                        <a:rPr sz="1000" b="0">
                          <a:solidFill>
                            <a:srgbClr val="2D3748"/>
                          </a:solidFill>
                        </a:rPr>
                        <a:t>Academic PDF</a:t>
                      </a:r>
                    </a:p>
                  </a:txBody>
                  <a:tcPr>
                    <a:solidFill>
                      <a:srgbClr val="EDF2F7"/>
                    </a:solidFill>
                  </a:tcPr>
                </a:tc>
                <a:tc>
                  <a:txBody>
                    <a:bodyPr wrap="square" anchor="ctr" lIns="50800" rIns="50800" tIns="25400" bIns="25400"/>
                    <a:lstStyle/>
                    <a:p>
                      <a:pPr algn="l"/>
                      <a:r>
                        <a:rPr sz="1000" b="0">
                          <a:solidFill>
                            <a:srgbClr val="2D3748"/>
                          </a:solidFill>
                        </a:rPr>
                        <a:t>reports/final_report.pdf (24 pages A4)</a:t>
                      </a:r>
                    </a:p>
                  </a:txBody>
                  <a:tcPr>
                    <a:solidFill>
                      <a:srgbClr val="EDF2F7"/>
                    </a:solidFill>
                  </a:tcPr>
                </a:tc>
                <a:tc>
                  <a:txBody>
                    <a:bodyPr wrap="square" anchor="ctr" lIns="50800" rIns="50800" tIns="25400" bIns="25400"/>
                    <a:lstStyle/>
                    <a:p>
                      <a:pPr algn="l"/>
                      <a:r>
                        <a:rPr sz="1000" b="0">
                          <a:solidFill>
                            <a:srgbClr val="2B6CB0"/>
                          </a:solidFill>
                        </a:rPr>
                        <a:t>✅</a:t>
                      </a:r>
                    </a:p>
                  </a:txBody>
                  <a:tcPr>
                    <a:solidFill>
                      <a:srgbClr val="EDF2F7"/>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§7</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7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System architecture (four layers)</a:t>
            </a:r>
          </a:p>
        </p:txBody>
      </p:sp>
      <p:sp>
        <p:nvSpPr>
          <p:cNvPr id="5" name="TextBox 4"/>
          <p:cNvSpPr txBox="1"/>
          <p:nvPr/>
        </p:nvSpPr>
        <p:spPr>
          <a:xfrm>
            <a:off x="457200" y="1143000"/>
            <a:ext cx="11247120" cy="5257800"/>
          </a:xfrm>
          <a:prstGeom prst="rect">
            <a:avLst/>
          </a:prstGeom>
          <a:noFill/>
        </p:spPr>
        <p:txBody>
          <a:bodyPr wrap="square" anchor="t">
            <a:spAutoFit/>
          </a:bodyPr>
          <a:lstStyle/>
          <a:p>
            <a:pPr algn="l">
              <a:spcAft>
                <a:spcPts val="300"/>
              </a:spcAft>
            </a:pPr>
            <a:r>
              <a:rPr sz="1700">
                <a:solidFill>
                  <a:srgbClr val="2D3748"/>
                </a:solidFill>
              </a:rPr>
              <a:t>Four layers</a:t>
            </a:r>
          </a:p>
          <a:p>
            <a:pPr algn="l">
              <a:spcAft>
                <a:spcPts val="300"/>
              </a:spcAft>
            </a:pPr>
            <a:r>
              <a:rPr sz="1700">
                <a:solidFill>
                  <a:srgbClr val="2D3748"/>
                </a:solidFill>
              </a:rPr>
              <a:t>① Data      simulation/ → data/processed, splits/, version.txt</a:t>
            </a:r>
          </a:p>
          <a:p>
            <a:pPr algn="l">
              <a:spcAft>
                <a:spcPts val="300"/>
              </a:spcAft>
            </a:pPr>
            <a:r>
              <a:rPr sz="1700">
                <a:solidFill>
                  <a:srgbClr val="2D3748"/>
                </a:solidFill>
              </a:rPr>
              <a:t>② Edge      api/edge_service → POST /predict → Alert JSON</a:t>
            </a:r>
          </a:p>
          <a:p>
            <a:pPr algn="l">
              <a:spcAft>
                <a:spcPts val="300"/>
              </a:spcAft>
            </a:pPr>
            <a:r>
              <a:rPr sz="1700">
                <a:solidFill>
                  <a:srgbClr val="2D3748"/>
                </a:solidFill>
              </a:rPr>
              <a:t>③ Cloud     api/agent_service → POST /recommend → Recommendation + KB sources</a:t>
            </a:r>
          </a:p>
          <a:p>
            <a:pPr algn="l">
              <a:spcAft>
                <a:spcPts val="300"/>
              </a:spcAft>
            </a:pPr>
            <a:r>
              <a:rPr sz="1700">
                <a:solidFill>
                  <a:srgbClr val="2D3748"/>
                </a:solidFill>
              </a:rPr>
              <a:t>④ Ops UI    orchestrator/ + dashboard/ → JSONL events + operator console (inject via inject.py)</a:t>
            </a:r>
          </a:p>
          <a:p>
            <a:pPr algn="l">
              <a:spcAft>
                <a:spcPts val="300"/>
              </a:spcAft>
            </a:pPr>
          </a:p>
          <a:p>
            <a:pPr algn="l">
              <a:spcAft>
                <a:spcPts val="300"/>
              </a:spcAft>
            </a:pPr>
            <a:r>
              <a:rPr sz="1700">
                <a:solidFill>
                  <a:srgbClr val="2D3748"/>
                </a:solidFill>
              </a:rPr>
              <a:t>HTTP contracts (api/schemas.py)</a:t>
            </a:r>
          </a:p>
          <a:p>
            <a:pPr algn="l">
              <a:spcAft>
                <a:spcPts val="300"/>
              </a:spcAft>
            </a:pPr>
            <a:r>
              <a:rPr sz="1700">
                <a:solidFill>
                  <a:srgbClr val="2D3748"/>
                </a:solidFill>
              </a:rPr>
              <a:t>• SensorWindow — 60×8 float32 window</a:t>
            </a:r>
          </a:p>
          <a:p>
            <a:pPr algn="l">
              <a:spcAft>
                <a:spcPts val="300"/>
              </a:spcAft>
            </a:pPr>
            <a:r>
              <a:rPr sz="1700">
                <a:solidFill>
                  <a:srgbClr val="2D3748"/>
                </a:solidFill>
              </a:rPr>
              <a:t>• Alert — fault_class, severity, confidence, sensor_snapshot</a:t>
            </a:r>
          </a:p>
          <a:p>
            <a:pPr algn="l">
              <a:spcAft>
                <a:spcPts val="300"/>
              </a:spcAft>
            </a:pPr>
            <a:r>
              <a:rPr sz="1700">
                <a:solidFill>
                  <a:srgbClr val="2D3748"/>
                </a:solidFill>
              </a:rPr>
              <a:t>• Recommendation — action, urgency, confidence, escalate_to?, knowledge_sources[]</a:t>
            </a:r>
          </a:p>
          <a:p>
            <a:pPr algn="l">
              <a:spcAft>
                <a:spcPts val="300"/>
              </a:spcAft>
            </a:pPr>
          </a:p>
          <a:p>
            <a:pPr algn="l">
              <a:spcAft>
                <a:spcPts val="300"/>
              </a:spcAft>
            </a:pPr>
            <a:r>
              <a:rPr sz="1700">
                <a:solidFill>
                  <a:srgbClr val="2D3748"/>
                </a:solidFill>
              </a:rPr>
              <a:t>Service ports (local dev): Edge :8000 · Agent :8001 · Ollama :11434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§8</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8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Repository map &amp; reproducibility entry points</a:t>
            </a:r>
          </a:p>
        </p:txBody>
      </p:sp>
      <p:sp>
        <p:nvSpPr>
          <p:cNvPr id="5" name="TextBox 4"/>
          <p:cNvSpPr txBox="1"/>
          <p:nvPr/>
        </p:nvSpPr>
        <p:spPr>
          <a:xfrm>
            <a:off x="457200" y="1143000"/>
            <a:ext cx="11247120" cy="5257800"/>
          </a:xfrm>
          <a:prstGeom prst="rect">
            <a:avLst/>
          </a:prstGeom>
          <a:noFill/>
        </p:spPr>
        <p:txBody>
          <a:bodyPr wrap="square" anchor="t">
            <a:spAutoFit/>
          </a:bodyPr>
          <a:lstStyle/>
          <a:p>
            <a:pPr algn="l">
              <a:spcAft>
                <a:spcPts val="300"/>
              </a:spcAft>
            </a:pPr>
            <a:r>
              <a:rPr sz="1600">
                <a:solidFill>
                  <a:srgbClr val="2D3748"/>
                </a:solidFill>
              </a:rPr>
              <a:t>Train &amp; evaluate                    Run &amp; report</a:t>
            </a:r>
          </a:p>
          <a:p>
            <a:pPr algn="l">
              <a:spcAft>
                <a:spcPts val="300"/>
              </a:spcAft>
            </a:pPr>
            <a:r>
              <a:rPr sz="1600">
                <a:solidFill>
                  <a:srgbClr val="2D3748"/>
                </a:solidFill>
              </a:rPr>
              <a:t>simulation/                         api/edge_service.py</a:t>
            </a:r>
          </a:p>
          <a:p>
            <a:pPr algn="l">
              <a:spcAft>
                <a:spcPts val="300"/>
              </a:spcAft>
            </a:pPr>
            <a:r>
              <a:rPr sz="1600">
                <a:solidFill>
                  <a:srgbClr val="2D3748"/>
                </a:solidFill>
              </a:rPr>
              <a:t>models/cnn1d.py                     api/agent_service.py</a:t>
            </a:r>
          </a:p>
          <a:p>
            <a:pPr algn="l">
              <a:spcAft>
                <a:spcPts val="300"/>
              </a:spcAft>
            </a:pPr>
            <a:r>
              <a:rPr sz="1600">
                <a:solidFill>
                  <a:srgbClr val="2D3748"/>
                </a:solidFill>
              </a:rPr>
              <a:t>training/train.py                   orchestrator/</a:t>
            </a:r>
          </a:p>
          <a:p>
            <a:pPr algn="l">
              <a:spcAft>
                <a:spcPts val="300"/>
              </a:spcAft>
            </a:pPr>
            <a:r>
              <a:rPr sz="1600">
                <a:solidFill>
                  <a:srgbClr val="2D3748"/>
                </a:solidFill>
              </a:rPr>
              <a:t>quantization/                       dashboard/app.py</a:t>
            </a:r>
          </a:p>
          <a:p>
            <a:pPr algn="l">
              <a:spcAft>
                <a:spcPts val="300"/>
              </a:spcAft>
            </a:pPr>
            <a:r>
              <a:rPr sz="1600">
                <a:solidFill>
                  <a:srgbClr val="2D3748"/>
                </a:solidFill>
              </a:rPr>
              <a:t>evaluation/                         agent_eval/</a:t>
            </a:r>
          </a:p>
          <a:p>
            <a:pPr algn="l">
              <a:spcAft>
                <a:spcPts val="300"/>
              </a:spcAft>
            </a:pPr>
            <a:r>
              <a:rPr sz="1600">
                <a:solidFill>
                  <a:srgbClr val="2D3748"/>
                </a:solidFill>
              </a:rPr>
              <a:t>scripts/run_robustness_eval.py      scripts/e2e_latency_bench.py</a:t>
            </a:r>
          </a:p>
          <a:p>
            <a:pPr algn="l">
              <a:spcAft>
                <a:spcPts val="300"/>
              </a:spcAft>
            </a:pPr>
            <a:r>
              <a:rPr sz="1600">
                <a:solidFill>
                  <a:srgbClr val="2D3748"/>
                </a:solidFill>
              </a:rPr>
              <a:t>                                    scripts/demo_fault_injection.py</a:t>
            </a:r>
          </a:p>
          <a:p>
            <a:pPr algn="l">
              <a:spcAft>
                <a:spcPts val="300"/>
              </a:spcAft>
            </a:pPr>
          </a:p>
          <a:p>
            <a:pPr algn="l">
              <a:spcAft>
                <a:spcPts val="300"/>
              </a:spcAft>
            </a:pPr>
            <a:r>
              <a:rPr sz="1600">
                <a:solidFill>
                  <a:srgbClr val="2D3748"/>
                </a:solidFill>
              </a:rPr>
              <a:t>Docs &amp; authoritative numbers</a:t>
            </a:r>
          </a:p>
          <a:p>
            <a:pPr algn="l">
              <a:spcAft>
                <a:spcPts val="300"/>
              </a:spcAft>
            </a:pPr>
            <a:r>
              <a:rPr sz="1600">
                <a:solidFill>
                  <a:srgbClr val="2D3748"/>
                </a:solidFill>
              </a:rPr>
              <a:t>• Reproduction: 复现指南.md §3 · final_report.md §11.3</a:t>
            </a:r>
          </a:p>
          <a:p>
            <a:pPr algn="l">
              <a:spcAft>
                <a:spcPts val="300"/>
              </a:spcAft>
            </a:pPr>
            <a:r>
              <a:rPr sz="1600">
                <a:solidFill>
                  <a:srgbClr val="2D3748"/>
                </a:solidFill>
              </a:rPr>
              <a:t>• Data card: docs/data_card.md</a:t>
            </a:r>
          </a:p>
          <a:p>
            <a:pPr algn="l">
              <a:spcAft>
                <a:spcPts val="300"/>
              </a:spcAft>
            </a:pPr>
            <a:r>
              <a:rPr sz="1600">
                <a:solidFill>
                  <a:srgbClr val="2D3748"/>
                </a:solidFill>
              </a:rPr>
              <a:t>• C7 scripted demo: reports/integration/fault_injection_demo.md</a:t>
            </a:r>
          </a:p>
          <a:p>
            <a:pPr algn="l">
              <a:spcAft>
                <a:spcPts val="300"/>
              </a:spcAft>
            </a:pPr>
            <a:r>
              <a:rPr sz="1600">
                <a:solidFill>
                  <a:srgbClr val="2D3748"/>
                </a:solidFill>
              </a:rPr>
              <a:t>• Off-deck web demo (separate session): docs/网页演示指南.md</a:t>
            </a:r>
          </a:p>
          <a:p>
            <a:pPr algn="l">
              <a:spcAft>
                <a:spcPts val="300"/>
              </a:spcAft>
            </a:pPr>
            <a:r>
              <a:rPr sz="1600">
                <a:solidFill>
                  <a:srgbClr val="2D3748"/>
                </a:solidFill>
              </a:rPr>
              <a:t>• This deck’s numbers: integration_eval_meta.json, last_run_three_ablations_with_judge.json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§9</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9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C1 — Why synthetic data?</a:t>
            </a:r>
          </a:p>
        </p:txBody>
      </p:sp>
      <p:sp>
        <p:nvSpPr>
          <p:cNvPr id="5" name="TextBox 4"/>
          <p:cNvSpPr txBox="1"/>
          <p:nvPr/>
        </p:nvSpPr>
        <p:spPr>
          <a:xfrm>
            <a:off x="457200" y="1143000"/>
            <a:ext cx="11247120" cy="5257800"/>
          </a:xfrm>
          <a:prstGeom prst="rect">
            <a:avLst/>
          </a:prstGeom>
          <a:noFill/>
        </p:spPr>
        <p:txBody>
          <a:bodyPr wrap="square" anchor="t">
            <a:spAutoFit/>
          </a:bodyPr>
          <a:lstStyle/>
          <a:p>
            <a:pPr algn="l">
              <a:spcAft>
                <a:spcPts val="300"/>
              </a:spcAft>
            </a:pPr>
            <a:r>
              <a:rPr sz="1700">
                <a:solidFill>
                  <a:srgbClr val="2D3748"/>
                </a:solidFill>
              </a:rPr>
              <a:t>Course constraint (§8.5)</a:t>
            </a:r>
          </a:p>
          <a:p>
            <a:pPr algn="l">
              <a:spcAft>
                <a:spcPts val="300"/>
              </a:spcAft>
            </a:pPr>
            <a:r>
              <a:rPr sz="1700">
                <a:solidFill>
                  <a:srgbClr val="2D3748"/>
                </a:solidFill>
              </a:rPr>
              <a:t>• Pre-built PV/BESS fault datasets from Kaggle / HuggingFace are forbidden</a:t>
            </a:r>
          </a:p>
          <a:p>
            <a:pPr algn="l">
              <a:spcAft>
                <a:spcPts val="300"/>
              </a:spcAft>
            </a:pPr>
            <a:r>
              <a:rPr sz="1700">
                <a:solidFill>
                  <a:srgbClr val="2D3748"/>
                </a:solidFill>
              </a:rPr>
              <a:t>• Real plant data is proprietary and non-shareable</a:t>
            </a:r>
          </a:p>
          <a:p>
            <a:pPr algn="l">
              <a:spcAft>
                <a:spcPts val="300"/>
              </a:spcAft>
            </a:pPr>
          </a:p>
          <a:p>
            <a:pPr algn="l">
              <a:spcAft>
                <a:spcPts val="300"/>
              </a:spcAft>
            </a:pPr>
            <a:r>
              <a:rPr sz="1700">
                <a:solidFill>
                  <a:srgbClr val="2D3748"/>
                </a:solidFill>
              </a:rPr>
              <a:t>Our approach</a:t>
            </a:r>
          </a:p>
          <a:p>
            <a:pPr algn="l">
              <a:spcAft>
                <a:spcPts val="300"/>
              </a:spcAft>
            </a:pPr>
            <a:r>
              <a:rPr sz="1700">
                <a:solidFill>
                  <a:srgbClr val="2D3748"/>
                </a:solidFill>
              </a:rPr>
              <a:t>• Physics-inspired simulators: PVSimulator + BatterySimulator + fault_injector</a:t>
            </a:r>
          </a:p>
          <a:p>
            <a:pPr algn="l">
              <a:spcAft>
                <a:spcPts val="300"/>
              </a:spcAft>
            </a:pPr>
            <a:r>
              <a:rPr sz="1700">
                <a:solidFill>
                  <a:srgbClr val="2D3748"/>
                </a:solidFill>
              </a:rPr>
              <a:t>• Fixed seed = 42 → byte-identical regeneration (data/version.txt)</a:t>
            </a:r>
          </a:p>
          <a:p>
            <a:pPr algn="l">
              <a:spcAft>
                <a:spcPts val="300"/>
              </a:spcAft>
            </a:pPr>
            <a:r>
              <a:rPr sz="1700">
                <a:solidFill>
                  <a:srgbClr val="2D3748"/>
                </a:solidFill>
              </a:rPr>
              <a:t>• Three operating conditions for deployment heterogeneity</a:t>
            </a:r>
          </a:p>
          <a:p>
            <a:pPr algn="l">
              <a:spcAft>
                <a:spcPts val="300"/>
              </a:spcAft>
            </a:pPr>
          </a:p>
          <a:p>
            <a:pPr algn="l">
              <a:spcAft>
                <a:spcPts val="300"/>
              </a:spcAft>
            </a:pPr>
            <a:r>
              <a:rPr sz="1700">
                <a:solidFill>
                  <a:srgbClr val="2D3748"/>
                </a:solidFill>
              </a:rPr>
              <a:t>Generation command</a:t>
            </a:r>
          </a:p>
          <a:p>
            <a:pPr algn="l">
              <a:spcAft>
                <a:spcPts val="300"/>
              </a:spcAft>
            </a:pPr>
            <a:r>
              <a:rPr sz="1700">
                <a:solidFill>
                  <a:srgbClr val="2D3748"/>
                </a:solidFill>
              </a:rPr>
              <a:t>python -m simulation.generate_dataset --seed 42 \</a:t>
            </a:r>
          </a:p>
          <a:p>
            <a:pPr algn="l">
              <a:spcAft>
                <a:spcPts val="300"/>
              </a:spcAft>
            </a:pPr>
            <a:r>
              <a:rPr sz="1700">
                <a:solidFill>
                  <a:srgbClr val="2D3748"/>
                </a:solidFill>
              </a:rPr>
              <a:t>  --n-pv 28000 --n-bess 22500 --n-pv-normal 8000 --n-bess-normal 5000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§10</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10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C1 — Dataset scale &amp; splits</a:t>
            </a:r>
          </a:p>
        </p:txBody>
      </p:sp>
      <p:graphicFrame>
        <p:nvGraphicFramePr>
          <p:cNvPr id="5" name="Table 4"/>
          <p:cNvGraphicFramePr>
            <a:graphicFrameLocks noGrp="1"/>
          </p:cNvGraphicFramePr>
          <p:nvPr/>
        </p:nvGraphicFramePr>
        <p:xfrm>
          <a:off x="457200" y="1143000"/>
          <a:ext cx="11247119" cy="1837944"/>
        </p:xfrm>
        <a:graphic>
          <a:graphicData uri="http://schemas.openxmlformats.org/drawingml/2006/table">
            <a:tbl>
              <a:tblPr firstRow="1" bandRow="1">
                <a:tableStyleId>{5C22544A-7EE6-4342-B048-85BDC9FD1C3A}</a:tableStyleId>
              </a:tblPr>
              <a:tblGrid>
                <a:gridCol w="3107756"/>
                <a:gridCol w="8139363"/>
              </a:tblGrid>
              <a:tr h="262563">
                <a:tc>
                  <a:txBody>
                    <a:bodyPr wrap="square" anchor="ctr" lIns="50800" rIns="50800" tIns="25400" bIns="25400"/>
                    <a:lstStyle/>
                    <a:p>
                      <a:pPr algn="ctr"/>
                      <a:r>
                        <a:rPr sz="1200" b="1">
                          <a:solidFill>
                            <a:srgbClr val="FFFFFF"/>
                          </a:solidFill>
                        </a:rPr>
                        <a:t>Metric</a:t>
                      </a:r>
                    </a:p>
                  </a:txBody>
                  <a:tcPr>
                    <a:solidFill>
                      <a:srgbClr val="1A365D"/>
                    </a:solidFill>
                  </a:tcPr>
                </a:tc>
                <a:tc>
                  <a:txBody>
                    <a:bodyPr wrap="square" anchor="ctr" lIns="50800" rIns="50800" tIns="25400" bIns="25400"/>
                    <a:lstStyle/>
                    <a:p>
                      <a:pPr algn="ctr"/>
                      <a:r>
                        <a:rPr sz="1200" b="1">
                          <a:solidFill>
                            <a:srgbClr val="FFFFFF"/>
                          </a:solidFill>
                        </a:rPr>
                        <a:t>Value</a:t>
                      </a:r>
                    </a:p>
                  </a:txBody>
                  <a:tcPr>
                    <a:solidFill>
                      <a:srgbClr val="1A365D"/>
                    </a:solidFill>
                  </a:tcPr>
                </a:tc>
              </a:tr>
              <a:tr h="262563">
                <a:tc>
                  <a:txBody>
                    <a:bodyPr wrap="square" anchor="ctr" lIns="50800" rIns="50800" tIns="25400" bIns="25400"/>
                    <a:lstStyle/>
                    <a:p>
                      <a:pPr algn="l"/>
                      <a:r>
                        <a:rPr sz="1200" b="0">
                          <a:solidFill>
                            <a:srgbClr val="2D3748"/>
                          </a:solidFill>
                        </a:rPr>
                        <a:t>Total samples</a:t>
                      </a:r>
                    </a:p>
                  </a:txBody>
                  <a:tcPr>
                    <a:solidFill>
                      <a:srgbClr val="FFFFFF"/>
                    </a:solidFill>
                  </a:tcPr>
                </a:tc>
                <a:tc>
                  <a:txBody>
                    <a:bodyPr wrap="square" anchor="ctr" lIns="50800" rIns="50800" tIns="25400" bIns="25400"/>
                    <a:lstStyle/>
                    <a:p>
                      <a:pPr algn="r"/>
                      <a:r>
                        <a:rPr sz="1200" b="0">
                          <a:solidFill>
                            <a:srgbClr val="2D3748"/>
                          </a:solidFill>
                        </a:rPr>
                        <a:t>50,500 (PV 28,000 + BESS 22,500)</a:t>
                      </a:r>
                    </a:p>
                  </a:txBody>
                  <a:tcPr>
                    <a:solidFill>
                      <a:srgbClr val="FFFFFF"/>
                    </a:solidFill>
                  </a:tcPr>
                </a:tc>
              </a:tr>
              <a:tr h="262563">
                <a:tc>
                  <a:txBody>
                    <a:bodyPr wrap="square" anchor="ctr" lIns="50800" rIns="50800" tIns="25400" bIns="25400"/>
                    <a:lstStyle/>
                    <a:p>
                      <a:pPr algn="l"/>
                      <a:r>
                        <a:rPr sz="1200" b="0">
                          <a:solidFill>
                            <a:srgbClr val="2D3748"/>
                          </a:solidFill>
                        </a:rPr>
                        <a:t>Window shape</a:t>
                      </a:r>
                    </a:p>
                  </a:txBody>
                  <a:tcPr>
                    <a:solidFill>
                      <a:srgbClr val="EDF2F7"/>
                    </a:solidFill>
                  </a:tcPr>
                </a:tc>
                <a:tc>
                  <a:txBody>
                    <a:bodyPr wrap="square" anchor="ctr" lIns="50800" rIns="50800" tIns="25400" bIns="25400"/>
                    <a:lstStyle/>
                    <a:p>
                      <a:pPr algn="r"/>
                      <a:r>
                        <a:rPr sz="1200" b="0">
                          <a:solidFill>
                            <a:srgbClr val="2D3748"/>
                          </a:solidFill>
                        </a:rPr>
                        <a:t>60 timesteps × 8 channels @ 1 Hz</a:t>
                      </a:r>
                    </a:p>
                  </a:txBody>
                  <a:tcPr>
                    <a:solidFill>
                      <a:srgbClr val="EDF2F7"/>
                    </a:solidFill>
                  </a:tcPr>
                </a:tc>
              </a:tr>
              <a:tr h="262563">
                <a:tc>
                  <a:txBody>
                    <a:bodyPr wrap="square" anchor="ctr" lIns="50800" rIns="50800" tIns="25400" bIns="25400"/>
                    <a:lstStyle/>
                    <a:p>
                      <a:pPr algn="l"/>
                      <a:r>
                        <a:rPr sz="1200" b="0">
                          <a:solidFill>
                            <a:srgbClr val="2D3748"/>
                          </a:solidFill>
                        </a:rPr>
                        <a:t>Train / Val / Test</a:t>
                      </a:r>
                    </a:p>
                  </a:txBody>
                  <a:tcPr>
                    <a:solidFill>
                      <a:srgbClr val="FFFFFF"/>
                    </a:solidFill>
                  </a:tcPr>
                </a:tc>
                <a:tc>
                  <a:txBody>
                    <a:bodyPr wrap="square" anchor="ctr" lIns="50800" rIns="50800" tIns="25400" bIns="25400"/>
                    <a:lstStyle/>
                    <a:p>
                      <a:pPr algn="r"/>
                      <a:r>
                        <a:rPr sz="1200" b="0">
                          <a:solidFill>
                            <a:srgbClr val="2D3748"/>
                          </a:solidFill>
                        </a:rPr>
                        <a:t>35,126 / 7,768 / 7,606 (~70 / 15 / 15%)</a:t>
                      </a:r>
                    </a:p>
                  </a:txBody>
                  <a:tcPr>
                    <a:solidFill>
                      <a:srgbClr val="FFFFFF"/>
                    </a:solidFill>
                  </a:tcPr>
                </a:tc>
              </a:tr>
              <a:tr h="262563">
                <a:tc>
                  <a:txBody>
                    <a:bodyPr wrap="square" anchor="ctr" lIns="50800" rIns="50800" tIns="25400" bIns="25400"/>
                    <a:lstStyle/>
                    <a:p>
                      <a:pPr algn="l"/>
                      <a:r>
                        <a:rPr sz="1200" b="0">
                          <a:solidFill>
                            <a:srgbClr val="2D3748"/>
                          </a:solidFill>
                        </a:rPr>
                        <a:t>Split policy</a:t>
                      </a:r>
                    </a:p>
                  </a:txBody>
                  <a:tcPr>
                    <a:solidFill>
                      <a:srgbClr val="EDF2F7"/>
                    </a:solidFill>
                  </a:tcPr>
                </a:tc>
                <a:tc>
                  <a:txBody>
                    <a:bodyPr wrap="square" anchor="ctr" lIns="50800" rIns="50800" tIns="25400" bIns="25400"/>
                    <a:lstStyle/>
                    <a:p>
                      <a:pPr algn="l"/>
                      <a:r>
                        <a:rPr sz="1200" b="0">
                          <a:solidFill>
                            <a:srgbClr val="2D3748"/>
                          </a:solidFill>
                        </a:rPr>
                        <a:t>Stratified by system_id — no asset leakage across splits</a:t>
                      </a:r>
                    </a:p>
                  </a:txBody>
                  <a:tcPr>
                    <a:solidFill>
                      <a:srgbClr val="EDF2F7"/>
                    </a:solidFill>
                  </a:tcPr>
                </a:tc>
              </a:tr>
              <a:tr h="262563">
                <a:tc>
                  <a:txBody>
                    <a:bodyPr wrap="square" anchor="ctr" lIns="50800" rIns="50800" tIns="25400" bIns="25400"/>
                    <a:lstStyle/>
                    <a:p>
                      <a:pPr algn="l"/>
                      <a:r>
                        <a:rPr sz="1200" b="0">
                          <a:solidFill>
                            <a:srgbClr val="2D3748"/>
                          </a:solidFill>
                        </a:rPr>
                        <a:t>Generated (UTC)</a:t>
                      </a:r>
                    </a:p>
                  </a:txBody>
                  <a:tcPr>
                    <a:solidFill>
                      <a:srgbClr val="FFFFFF"/>
                    </a:solidFill>
                  </a:tcPr>
                </a:tc>
                <a:tc>
                  <a:txBody>
                    <a:bodyPr wrap="square" anchor="ctr" lIns="50800" rIns="50800" tIns="25400" bIns="25400"/>
                    <a:lstStyle/>
                    <a:p>
                      <a:pPr algn="r"/>
                      <a:r>
                        <a:rPr sz="1200" b="0">
                          <a:solidFill>
                            <a:srgbClr val="2D3748"/>
                          </a:solidFill>
                        </a:rPr>
                        <a:t>2026-06-03T15:27:30Z</a:t>
                      </a:r>
                    </a:p>
                  </a:txBody>
                  <a:tcPr>
                    <a:solidFill>
                      <a:srgbClr val="FFFFFF"/>
                    </a:solidFill>
                  </a:tcPr>
                </a:tc>
              </a:tr>
              <a:tr h="262566">
                <a:tc>
                  <a:txBody>
                    <a:bodyPr wrap="square" anchor="ctr" lIns="50800" rIns="50800" tIns="25400" bIns="25400"/>
                    <a:lstStyle/>
                    <a:p>
                      <a:pPr algn="l"/>
                      <a:r>
                        <a:rPr sz="1200" b="0">
                          <a:solidFill>
                            <a:srgbClr val="2D3748"/>
                          </a:solidFill>
                        </a:rPr>
                        <a:t>Metadata</a:t>
                      </a:r>
                    </a:p>
                  </a:txBody>
                  <a:tcPr>
                    <a:solidFill>
                      <a:srgbClr val="EDF2F7"/>
                    </a:solidFill>
                  </a:tcPr>
                </a:tc>
                <a:tc>
                  <a:txBody>
                    <a:bodyPr wrap="square" anchor="ctr" lIns="50800" rIns="50800" tIns="25400" bIns="25400"/>
                    <a:lstStyle/>
                    <a:p>
                      <a:pPr algn="l"/>
                      <a:r>
                        <a:rPr sz="1200" b="0">
                          <a:solidFill>
                            <a:srgbClr val="2D3748"/>
                          </a:solidFill>
                        </a:rPr>
                        <a:t>data/version.txt · data/splits/*.csv</a:t>
                      </a:r>
                    </a:p>
                  </a:txBody>
                  <a:tcPr>
                    <a:solidFill>
                      <a:srgbClr val="EDF2F7"/>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§11</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11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C1 — Fault taxonomy (11 classes)</a:t>
            </a:r>
          </a:p>
        </p:txBody>
      </p:sp>
      <p:sp>
        <p:nvSpPr>
          <p:cNvPr id="5" name="TextBox 4"/>
          <p:cNvSpPr txBox="1"/>
          <p:nvPr/>
        </p:nvSpPr>
        <p:spPr>
          <a:xfrm>
            <a:off x="457200" y="1143000"/>
            <a:ext cx="11247120" cy="5257800"/>
          </a:xfrm>
          <a:prstGeom prst="rect">
            <a:avLst/>
          </a:prstGeom>
          <a:noFill/>
        </p:spPr>
        <p:txBody>
          <a:bodyPr wrap="square" anchor="t">
            <a:spAutoFit/>
          </a:bodyPr>
          <a:lstStyle/>
          <a:p>
            <a:pPr algn="l">
              <a:spcAft>
                <a:spcPts val="300"/>
              </a:spcAft>
            </a:pPr>
            <a:r>
              <a:rPr sz="1700">
                <a:solidFill>
                  <a:srgbClr val="2D3748"/>
                </a:solidFill>
              </a:rPr>
              <a:t>PV (7 classes)                         BESS (5 classes)</a:t>
            </a:r>
          </a:p>
          <a:p>
            <a:pPr algn="l">
              <a:spcAft>
                <a:spcPts val="300"/>
              </a:spcAft>
            </a:pPr>
            <a:r>
              <a:rPr sz="1700">
                <a:solidFill>
                  <a:srgbClr val="2D3748"/>
                </a:solidFill>
              </a:rPr>
              <a:t>PV_Normal                              BESS_Normal</a:t>
            </a:r>
          </a:p>
          <a:p>
            <a:pPr algn="l">
              <a:spcAft>
                <a:spcPts val="300"/>
              </a:spcAft>
            </a:pPr>
            <a:r>
              <a:rPr sz="1700">
                <a:solidFill>
                  <a:srgbClr val="2D3748"/>
                </a:solidFill>
              </a:rPr>
              <a:t>Partial_shading                        Capacity_fade</a:t>
            </a:r>
          </a:p>
          <a:p>
            <a:pPr algn="l">
              <a:spcAft>
                <a:spcPts val="300"/>
              </a:spcAft>
            </a:pPr>
            <a:r>
              <a:rPr sz="1700">
                <a:solidFill>
                  <a:srgbClr val="2D3748"/>
                </a:solidFill>
              </a:rPr>
              <a:t>Soiling                                Internal_resistance_increase</a:t>
            </a:r>
          </a:p>
          <a:p>
            <a:pPr algn="l">
              <a:spcAft>
                <a:spcPts val="300"/>
              </a:spcAft>
            </a:pPr>
            <a:r>
              <a:rPr sz="1700">
                <a:solidFill>
                  <a:srgbClr val="2D3748"/>
                </a:solidFill>
              </a:rPr>
              <a:t>Bypass_diode_fault                     Thermal_anomaly</a:t>
            </a:r>
          </a:p>
          <a:p>
            <a:pPr algn="l">
              <a:spcAft>
                <a:spcPts val="300"/>
              </a:spcAft>
            </a:pPr>
            <a:r>
              <a:rPr sz="1700">
                <a:solidFill>
                  <a:srgbClr val="2D3748"/>
                </a:solidFill>
              </a:rPr>
              <a:t>String_disconnection                   Cell_imbalance</a:t>
            </a:r>
          </a:p>
          <a:p>
            <a:pPr algn="l">
              <a:spcAft>
                <a:spcPts val="300"/>
              </a:spcAft>
            </a:pPr>
            <a:r>
              <a:rPr sz="1700">
                <a:solidFill>
                  <a:srgbClr val="2D3748"/>
                </a:solidFill>
              </a:rPr>
              <a:t>Inverter_fault</a:t>
            </a:r>
          </a:p>
          <a:p>
            <a:pPr algn="l">
              <a:spcAft>
                <a:spcPts val="300"/>
              </a:spcAft>
            </a:pPr>
            <a:r>
              <a:rPr sz="1700">
                <a:solidFill>
                  <a:srgbClr val="2D3748"/>
                </a:solidFill>
              </a:rPr>
              <a:t>Degradation</a:t>
            </a:r>
          </a:p>
          <a:p>
            <a:pPr algn="l">
              <a:spcAft>
                <a:spcPts val="300"/>
              </a:spcAft>
            </a:pPr>
          </a:p>
          <a:p>
            <a:pPr algn="l">
              <a:spcAft>
                <a:spcPts val="300"/>
              </a:spcAft>
            </a:pPr>
            <a:r>
              <a:rPr sz="1700">
                <a:solidFill>
                  <a:srgbClr val="2D3748"/>
                </a:solidFill>
              </a:rPr>
              <a:t>Edge output: 11 fault labels + severity (monitor / warning / critical)</a:t>
            </a:r>
          </a:p>
          <a:p>
            <a:pPr algn="l">
              <a:spcAft>
                <a:spcPts val="300"/>
              </a:spcAft>
            </a:pPr>
            <a:r>
              <a:rPr sz="1700">
                <a:solidFill>
                  <a:srgbClr val="2D3748"/>
                </a:solidFill>
              </a:rPr>
              <a:t>severity = monitor → Agent NOT invoked (AGENT_TRIGGER_SEVERITIES = {warning, critical})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§12</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12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C1 — Operating conditions &amp; feature channels</a:t>
            </a:r>
          </a:p>
        </p:txBody>
      </p:sp>
      <p:sp>
        <p:nvSpPr>
          <p:cNvPr id="5" name="TextBox 4"/>
          <p:cNvSpPr txBox="1"/>
          <p:nvPr/>
        </p:nvSpPr>
        <p:spPr>
          <a:xfrm>
            <a:off x="457200" y="1143000"/>
            <a:ext cx="5486400" cy="947547"/>
          </a:xfrm>
          <a:prstGeom prst="rect">
            <a:avLst/>
          </a:prstGeom>
          <a:noFill/>
        </p:spPr>
        <p:txBody>
          <a:bodyPr wrap="square" anchor="t">
            <a:spAutoFit/>
          </a:bodyPr>
          <a:lstStyle/>
          <a:p>
            <a:pPr algn="l">
              <a:spcAft>
                <a:spcPts val="300"/>
              </a:spcAft>
            </a:pPr>
            <a:r>
              <a:rPr sz="1700">
                <a:solidFill>
                  <a:srgbClr val="2D3748"/>
                </a:solidFill>
              </a:rPr>
              <a:t>Operating conditions (sample weights 5 : 3 : 2)</a:t>
            </a:r>
          </a:p>
        </p:txBody>
      </p:sp>
      <p:graphicFrame>
        <p:nvGraphicFramePr>
          <p:cNvPr id="6" name="Table 5"/>
          <p:cNvGraphicFramePr>
            <a:graphicFrameLocks noGrp="1"/>
          </p:cNvGraphicFramePr>
          <p:nvPr/>
        </p:nvGraphicFramePr>
        <p:xfrm>
          <a:off x="457200" y="2200275"/>
          <a:ext cx="5486398" cy="1069848"/>
        </p:xfrm>
        <a:graphic>
          <a:graphicData uri="http://schemas.openxmlformats.org/drawingml/2006/table">
            <a:tbl>
              <a:tblPr firstRow="1" bandRow="1">
                <a:tableStyleId>{5C22544A-7EE6-4342-B048-85BDC9FD1C3A}</a:tableStyleId>
              </a:tblPr>
              <a:tblGrid>
                <a:gridCol w="2992581"/>
                <a:gridCol w="1385454"/>
                <a:gridCol w="1108363"/>
              </a:tblGrid>
              <a:tr h="267462">
                <a:tc>
                  <a:txBody>
                    <a:bodyPr wrap="square" anchor="ctr" lIns="50800" rIns="50800" tIns="25400" bIns="25400"/>
                    <a:lstStyle/>
                    <a:p>
                      <a:pPr algn="ctr"/>
                      <a:r>
                        <a:rPr sz="1200" b="1">
                          <a:solidFill>
                            <a:srgbClr val="FFFFFF"/>
                          </a:solidFill>
                        </a:rPr>
                        <a:t>Condition</a:t>
                      </a:r>
                    </a:p>
                  </a:txBody>
                  <a:tcPr>
                    <a:solidFill>
                      <a:srgbClr val="1A365D"/>
                    </a:solidFill>
                  </a:tcPr>
                </a:tc>
                <a:tc>
                  <a:txBody>
                    <a:bodyPr wrap="square" anchor="ctr" lIns="50800" rIns="50800" tIns="25400" bIns="25400"/>
                    <a:lstStyle/>
                    <a:p>
                      <a:pPr algn="ctr"/>
                      <a:r>
                        <a:rPr sz="1200" b="1">
                          <a:solidFill>
                            <a:srgbClr val="FFFFFF"/>
                          </a:solidFill>
                        </a:rPr>
                        <a:t>Samples</a:t>
                      </a:r>
                    </a:p>
                  </a:txBody>
                  <a:tcPr>
                    <a:solidFill>
                      <a:srgbClr val="1A365D"/>
                    </a:solidFill>
                  </a:tcPr>
                </a:tc>
                <a:tc>
                  <a:txBody>
                    <a:bodyPr wrap="square" anchor="ctr" lIns="50800" rIns="50800" tIns="25400" bIns="25400"/>
                    <a:lstStyle/>
                    <a:p>
                      <a:pPr algn="ctr"/>
                      <a:r>
                        <a:rPr sz="1200" b="1">
                          <a:solidFill>
                            <a:srgbClr val="FFFFFF"/>
                          </a:solidFill>
                        </a:rPr>
                        <a:t>Share</a:t>
                      </a:r>
                    </a:p>
                  </a:txBody>
                  <a:tcPr>
                    <a:solidFill>
                      <a:srgbClr val="1A365D"/>
                    </a:solidFill>
                  </a:tcPr>
                </a:tc>
              </a:tr>
              <a:tr h="267462">
                <a:tc>
                  <a:txBody>
                    <a:bodyPr wrap="square" anchor="ctr" lIns="50800" rIns="50800" tIns="25400" bIns="25400"/>
                    <a:lstStyle/>
                    <a:p>
                      <a:pPr algn="l"/>
                      <a:r>
                        <a:rPr sz="1200" b="0">
                          <a:solidFill>
                            <a:srgbClr val="2D3748"/>
                          </a:solidFill>
                        </a:rPr>
                        <a:t>high_irradiance</a:t>
                      </a:r>
                    </a:p>
                  </a:txBody>
                  <a:tcPr>
                    <a:solidFill>
                      <a:srgbClr val="FFFFFF"/>
                    </a:solidFill>
                  </a:tcPr>
                </a:tc>
                <a:tc>
                  <a:txBody>
                    <a:bodyPr wrap="square" anchor="ctr" lIns="50800" rIns="50800" tIns="25400" bIns="25400"/>
                    <a:lstStyle/>
                    <a:p>
                      <a:pPr algn="r"/>
                      <a:r>
                        <a:rPr sz="1200" b="0">
                          <a:solidFill>
                            <a:srgbClr val="2D3748"/>
                          </a:solidFill>
                        </a:rPr>
                        <a:t>25,110</a:t>
                      </a:r>
                    </a:p>
                  </a:txBody>
                  <a:tcPr>
                    <a:solidFill>
                      <a:srgbClr val="FFFFFF"/>
                    </a:solidFill>
                  </a:tcPr>
                </a:tc>
                <a:tc>
                  <a:txBody>
                    <a:bodyPr wrap="square" anchor="ctr" lIns="50800" rIns="50800" tIns="25400" bIns="25400"/>
                    <a:lstStyle/>
                    <a:p>
                      <a:pPr algn="r"/>
                      <a:r>
                        <a:rPr sz="1200" b="0">
                          <a:solidFill>
                            <a:srgbClr val="2D3748"/>
                          </a:solidFill>
                        </a:rPr>
                        <a:t>49.7%</a:t>
                      </a:r>
                    </a:p>
                  </a:txBody>
                  <a:tcPr>
                    <a:solidFill>
                      <a:srgbClr val="FFFFFF"/>
                    </a:solidFill>
                  </a:tcPr>
                </a:tc>
              </a:tr>
              <a:tr h="267462">
                <a:tc>
                  <a:txBody>
                    <a:bodyPr wrap="square" anchor="ctr" lIns="50800" rIns="50800" tIns="25400" bIns="25400"/>
                    <a:lstStyle/>
                    <a:p>
                      <a:pPr algn="l"/>
                      <a:r>
                        <a:rPr sz="1200" b="0">
                          <a:solidFill>
                            <a:srgbClr val="2D3748"/>
                          </a:solidFill>
                        </a:rPr>
                        <a:t>low_irradiance</a:t>
                      </a:r>
                    </a:p>
                  </a:txBody>
                  <a:tcPr>
                    <a:solidFill>
                      <a:srgbClr val="EDF2F7"/>
                    </a:solidFill>
                  </a:tcPr>
                </a:tc>
                <a:tc>
                  <a:txBody>
                    <a:bodyPr wrap="square" anchor="ctr" lIns="50800" rIns="50800" tIns="25400" bIns="25400"/>
                    <a:lstStyle/>
                    <a:p>
                      <a:pPr algn="r"/>
                      <a:r>
                        <a:rPr sz="1200" b="0">
                          <a:solidFill>
                            <a:srgbClr val="2D3748"/>
                          </a:solidFill>
                        </a:rPr>
                        <a:t>15,359</a:t>
                      </a:r>
                    </a:p>
                  </a:txBody>
                  <a:tcPr>
                    <a:solidFill>
                      <a:srgbClr val="EDF2F7"/>
                    </a:solidFill>
                  </a:tcPr>
                </a:tc>
                <a:tc>
                  <a:txBody>
                    <a:bodyPr wrap="square" anchor="ctr" lIns="50800" rIns="50800" tIns="25400" bIns="25400"/>
                    <a:lstStyle/>
                    <a:p>
                      <a:pPr algn="r"/>
                      <a:r>
                        <a:rPr sz="1200" b="0">
                          <a:solidFill>
                            <a:srgbClr val="2D3748"/>
                          </a:solidFill>
                        </a:rPr>
                        <a:t>30.4%</a:t>
                      </a:r>
                    </a:p>
                  </a:txBody>
                  <a:tcPr>
                    <a:solidFill>
                      <a:srgbClr val="EDF2F7"/>
                    </a:solidFill>
                  </a:tcPr>
                </a:tc>
              </a:tr>
              <a:tr h="267462">
                <a:tc>
                  <a:txBody>
                    <a:bodyPr wrap="square" anchor="ctr" lIns="50800" rIns="50800" tIns="25400" bIns="25400"/>
                    <a:lstStyle/>
                    <a:p>
                      <a:pPr algn="l"/>
                      <a:r>
                        <a:rPr sz="1200" b="0">
                          <a:solidFill>
                            <a:srgbClr val="2D3748"/>
                          </a:solidFill>
                        </a:rPr>
                        <a:t>high_temperature</a:t>
                      </a:r>
                    </a:p>
                  </a:txBody>
                  <a:tcPr>
                    <a:solidFill>
                      <a:srgbClr val="FFFFFF"/>
                    </a:solidFill>
                  </a:tcPr>
                </a:tc>
                <a:tc>
                  <a:txBody>
                    <a:bodyPr wrap="square" anchor="ctr" lIns="50800" rIns="50800" tIns="25400" bIns="25400"/>
                    <a:lstStyle/>
                    <a:p>
                      <a:pPr algn="r"/>
                      <a:r>
                        <a:rPr sz="1200" b="0">
                          <a:solidFill>
                            <a:srgbClr val="2D3748"/>
                          </a:solidFill>
                        </a:rPr>
                        <a:t>10,031</a:t>
                      </a:r>
                    </a:p>
                  </a:txBody>
                  <a:tcPr>
                    <a:solidFill>
                      <a:srgbClr val="FFFFFF"/>
                    </a:solidFill>
                  </a:tcPr>
                </a:tc>
                <a:tc>
                  <a:txBody>
                    <a:bodyPr wrap="square" anchor="ctr" lIns="50800" rIns="50800" tIns="25400" bIns="25400"/>
                    <a:lstStyle/>
                    <a:p>
                      <a:pPr algn="r"/>
                      <a:r>
                        <a:rPr sz="1200" b="0">
                          <a:solidFill>
                            <a:srgbClr val="2D3748"/>
                          </a:solidFill>
                        </a:rPr>
                        <a:t>19.9%</a:t>
                      </a:r>
                    </a:p>
                  </a:txBody>
                  <a:tcPr>
                    <a:solidFill>
                      <a:srgbClr val="FFFFFF"/>
                    </a:solidFill>
                  </a:tcPr>
                </a:tc>
              </a:tr>
            </a:tbl>
          </a:graphicData>
        </a:graphic>
      </p:graphicFrame>
      <p:sp>
        <p:nvSpPr>
          <p:cNvPr id="7" name="TextBox 6"/>
          <p:cNvSpPr txBox="1"/>
          <p:nvPr/>
        </p:nvSpPr>
        <p:spPr>
          <a:xfrm>
            <a:off x="457200" y="3379851"/>
            <a:ext cx="5486400" cy="3020949"/>
          </a:xfrm>
          <a:prstGeom prst="rect">
            <a:avLst/>
          </a:prstGeom>
          <a:noFill/>
        </p:spPr>
        <p:txBody>
          <a:bodyPr wrap="square" anchor="t">
            <a:spAutoFit/>
          </a:bodyPr>
          <a:lstStyle/>
          <a:p>
            <a:pPr algn="l">
              <a:spcAft>
                <a:spcPts val="300"/>
              </a:spcAft>
            </a:pPr>
            <a:r>
              <a:rPr sz="1700">
                <a:solidFill>
                  <a:srgbClr val="2D3748"/>
                </a:solidFill>
              </a:rPr>
              <a:t>Feature order (contract — do NOT reorder)</a:t>
            </a:r>
          </a:p>
          <a:p>
            <a:pPr algn="l">
              <a:spcAft>
                <a:spcPts val="300"/>
              </a:spcAft>
            </a:pPr>
            <a:r>
              <a:rPr sz="1700">
                <a:solidFill>
                  <a:srgbClr val="2D3748"/>
                </a:solidFill>
              </a:rPr>
              <a:t>PV:   V_dc, I_dc, P, T_module, T_amb, G, P_ac, eta</a:t>
            </a:r>
          </a:p>
          <a:p>
            <a:pPr algn="l">
              <a:spcAft>
                <a:spcPts val="300"/>
              </a:spcAft>
            </a:pPr>
            <a:r>
              <a:rPr sz="1700">
                <a:solidFill>
                  <a:srgbClr val="2D3748"/>
                </a:solidFill>
              </a:rPr>
              <a:t>BESS: V_term, I, SOC, T, R_est, sigma_V, N_cycle, SoH</a:t>
            </a:r>
          </a:p>
          <a:p>
            <a:pPr algn="l">
              <a:spcAft>
                <a:spcPts val="300"/>
              </a:spcAft>
            </a:pPr>
          </a:p>
          <a:p>
            <a:pPr algn="l">
              <a:spcAft>
                <a:spcPts val="300"/>
              </a:spcAft>
            </a:pPr>
            <a:r>
              <a:rPr sz="1700">
                <a:solidFill>
                  <a:srgbClr val="2D3748"/>
                </a:solidFill>
              </a:rPr>
              <a:t>Every (class × condition) pair is non-empty → enables distribution-shift tests</a:t>
            </a:r>
          </a:p>
        </p:txBody>
      </p:sp>
      <p:pic>
        <p:nvPicPr>
          <p:cNvPr id="8" name="Picture 7" descr="condition_heatmap.png"/>
          <p:cNvPicPr>
            <a:picLocks noChangeAspect="1"/>
          </p:cNvPicPr>
          <p:nvPr/>
        </p:nvPicPr>
        <p:blipFill>
          <a:blip r:embed="rId2"/>
          <a:stretch>
            <a:fillRect/>
          </a:stretch>
        </p:blipFill>
        <p:spPr>
          <a:xfrm>
            <a:off x="6126480" y="1143000"/>
            <a:ext cx="5303520" cy="4572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§13</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13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C2 — CNN-1D edge architecture</a:t>
            </a:r>
          </a:p>
        </p:txBody>
      </p:sp>
      <p:sp>
        <p:nvSpPr>
          <p:cNvPr id="5" name="TextBox 4"/>
          <p:cNvSpPr txBox="1"/>
          <p:nvPr/>
        </p:nvSpPr>
        <p:spPr>
          <a:xfrm>
            <a:off x="457200" y="1143000"/>
            <a:ext cx="11247120" cy="5028057"/>
          </a:xfrm>
          <a:prstGeom prst="rect">
            <a:avLst/>
          </a:prstGeom>
          <a:noFill/>
        </p:spPr>
        <p:txBody>
          <a:bodyPr wrap="square" anchor="t">
            <a:spAutoFit/>
          </a:bodyPr>
          <a:lstStyle/>
          <a:p>
            <a:pPr algn="l">
              <a:spcAft>
                <a:spcPts val="300"/>
              </a:spcAft>
            </a:pPr>
            <a:r>
              <a:rPr sz="1700">
                <a:solidFill>
                  <a:srgbClr val="2D3748"/>
                </a:solidFill>
              </a:rPr>
              <a:t>Architecture (models/cnn1d.py, ≈48k parameters per system)</a:t>
            </a:r>
          </a:p>
          <a:p>
            <a:pPr algn="l">
              <a:spcAft>
                <a:spcPts val="300"/>
              </a:spcAft>
            </a:pPr>
            <a:r>
              <a:rPr sz="1700">
                <a:solidFill>
                  <a:srgbClr val="2D3748"/>
                </a:solidFill>
              </a:rPr>
              <a:t>Input (60×8) → Conv1d→BN→ReLU ×2 → GlobalAvgPool → Dense → softmax</a:t>
            </a:r>
          </a:p>
          <a:p>
            <a:pPr algn="l">
              <a:spcAft>
                <a:spcPts val="300"/>
              </a:spcAft>
            </a:pPr>
          </a:p>
          <a:p>
            <a:pPr algn="l">
              <a:spcAft>
                <a:spcPts val="300"/>
              </a:spcAft>
            </a:pPr>
            <a:r>
              <a:rPr sz="1700">
                <a:solidFill>
                  <a:srgbClr val="2D3748"/>
                </a:solidFill>
              </a:rPr>
              <a:t>Training (training/train.py)</a:t>
            </a:r>
          </a:p>
          <a:p>
            <a:pPr algn="l">
              <a:spcAft>
                <a:spcPts val="300"/>
              </a:spcAft>
            </a:pPr>
            <a:r>
              <a:rPr sz="1700">
                <a:solidFill>
                  <a:srgbClr val="2D3748"/>
                </a:solidFill>
              </a:rPr>
              <a:t>• Adam + class-balanced cross-entropy + gradient clipping</a:t>
            </a:r>
          </a:p>
          <a:p>
            <a:pPr algn="l">
              <a:spcAft>
                <a:spcPts val="300"/>
              </a:spcAft>
            </a:pPr>
            <a:r>
              <a:rPr sz="1700">
                <a:solidFill>
                  <a:srgbClr val="2D3748"/>
                </a:solidFill>
              </a:rPr>
              <a:t>• Early stopping on validation macro-F1</a:t>
            </a:r>
          </a:p>
          <a:p>
            <a:pPr algn="l">
              <a:spcAft>
                <a:spcPts val="300"/>
              </a:spcAft>
            </a:pPr>
            <a:r>
              <a:rPr sz="1700">
                <a:solidFill>
                  <a:srgbClr val="2D3748"/>
                </a:solidFill>
              </a:rPr>
              <a:t>• PV: 25 epochs · BESS: 30 epochs (CPU-friendly; GPU optional)</a:t>
            </a:r>
          </a:p>
          <a:p>
            <a:pPr algn="l">
              <a:spcAft>
                <a:spcPts val="300"/>
              </a:spcAft>
            </a:pPr>
          </a:p>
          <a:p>
            <a:pPr algn="l">
              <a:spcAft>
                <a:spcPts val="300"/>
              </a:spcAft>
            </a:pPr>
            <a:r>
              <a:rPr sz="1700">
                <a:solidFill>
                  <a:srgbClr val="2D3748"/>
                </a:solidFill>
              </a:rPr>
              <a:t>Export chain</a:t>
            </a:r>
          </a:p>
          <a:p>
            <a:pPr algn="l">
              <a:spcAft>
                <a:spcPts val="300"/>
              </a:spcAft>
            </a:pPr>
            <a:r>
              <a:rPr sz="1700">
                <a:solidFill>
                  <a:srgbClr val="2D3748"/>
                </a:solidFill>
              </a:rPr>
              <a:t>best .pt → onnx_export (μ, σ baked in) → onnx_fp32 → int8_static (1,024 calib samples)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§14</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14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C2/C3 — Three-backend comparison (headline numbers)</a:t>
            </a:r>
          </a:p>
        </p:txBody>
      </p:sp>
      <p:graphicFrame>
        <p:nvGraphicFramePr>
          <p:cNvPr id="5" name="Table 4"/>
          <p:cNvGraphicFramePr>
            <a:graphicFrameLocks noGrp="1"/>
          </p:cNvGraphicFramePr>
          <p:nvPr/>
        </p:nvGraphicFramePr>
        <p:xfrm>
          <a:off x="457200" y="1143000"/>
          <a:ext cx="5486397" cy="1837944"/>
        </p:xfrm>
        <a:graphic>
          <a:graphicData uri="http://schemas.openxmlformats.org/drawingml/2006/table">
            <a:tbl>
              <a:tblPr firstRow="1" bandRow="1">
                <a:tableStyleId>{5C22544A-7EE6-4342-B048-85BDC9FD1C3A}</a:tableStyleId>
              </a:tblPr>
              <a:tblGrid>
                <a:gridCol w="502570"/>
                <a:gridCol w="1403010"/>
                <a:gridCol w="921380"/>
                <a:gridCol w="1109844"/>
                <a:gridCol w="837618"/>
                <a:gridCol w="711975"/>
              </a:tblGrid>
              <a:tr h="262563">
                <a:tc>
                  <a:txBody>
                    <a:bodyPr wrap="square" anchor="ctr" lIns="50800" rIns="50800" tIns="25400" bIns="25400"/>
                    <a:lstStyle/>
                    <a:p>
                      <a:pPr algn="ctr"/>
                      <a:r>
                        <a:rPr sz="1000" b="1">
                          <a:solidFill>
                            <a:srgbClr val="FFFFFF"/>
                          </a:solidFill>
                        </a:rPr>
                        <a:t>System</a:t>
                      </a:r>
                    </a:p>
                  </a:txBody>
                  <a:tcPr>
                    <a:solidFill>
                      <a:srgbClr val="1A365D"/>
                    </a:solidFill>
                  </a:tcPr>
                </a:tc>
                <a:tc>
                  <a:txBody>
                    <a:bodyPr wrap="square" anchor="ctr" lIns="50800" rIns="50800" tIns="25400" bIns="25400"/>
                    <a:lstStyle/>
                    <a:p>
                      <a:pPr algn="ctr"/>
                      <a:r>
                        <a:rPr sz="1000" b="1">
                          <a:solidFill>
                            <a:srgbClr val="FFFFFF"/>
                          </a:solidFill>
                        </a:rPr>
                        <a:t>Variant</a:t>
                      </a:r>
                    </a:p>
                  </a:txBody>
                  <a:tcPr>
                    <a:solidFill>
                      <a:srgbClr val="1A365D"/>
                    </a:solidFill>
                  </a:tcPr>
                </a:tc>
                <a:tc>
                  <a:txBody>
                    <a:bodyPr wrap="square" anchor="ctr" lIns="50800" rIns="50800" tIns="25400" bIns="25400"/>
                    <a:lstStyle/>
                    <a:p>
                      <a:pPr algn="ctr"/>
                      <a:r>
                        <a:rPr sz="1000" b="1">
                          <a:solidFill>
                            <a:srgbClr val="FFFFFF"/>
                          </a:solidFill>
                        </a:rPr>
                        <a:t>Macro-F1</a:t>
                      </a:r>
                    </a:p>
                  </a:txBody>
                  <a:tcPr>
                    <a:solidFill>
                      <a:srgbClr val="1A365D"/>
                    </a:solidFill>
                  </a:tcPr>
                </a:tc>
                <a:tc>
                  <a:txBody>
                    <a:bodyPr wrap="square" anchor="ctr" lIns="50800" rIns="50800" tIns="25400" bIns="25400"/>
                    <a:lstStyle/>
                    <a:p>
                      <a:pPr algn="ctr"/>
                      <a:r>
                        <a:rPr sz="1000" b="1">
                          <a:solidFill>
                            <a:srgbClr val="FFFFFF"/>
                          </a:solidFill>
                        </a:rPr>
                        <a:t>p95 latency</a:t>
                      </a:r>
                    </a:p>
                  </a:txBody>
                  <a:tcPr>
                    <a:solidFill>
                      <a:srgbClr val="1A365D"/>
                    </a:solidFill>
                  </a:tcPr>
                </a:tc>
                <a:tc>
                  <a:txBody>
                    <a:bodyPr wrap="square" anchor="ctr" lIns="50800" rIns="50800" tIns="25400" bIns="25400"/>
                    <a:lstStyle/>
                    <a:p>
                      <a:pPr algn="ctr"/>
                      <a:r>
                        <a:rPr sz="1000" b="1">
                          <a:solidFill>
                            <a:srgbClr val="FFFFFF"/>
                          </a:solidFill>
                        </a:rPr>
                        <a:t>Size (MiB)</a:t>
                      </a:r>
                    </a:p>
                  </a:txBody>
                  <a:tcPr>
                    <a:solidFill>
                      <a:srgbClr val="1A365D"/>
                    </a:solidFill>
                  </a:tcPr>
                </a:tc>
                <a:tc>
                  <a:txBody>
                    <a:bodyPr wrap="square" anchor="ctr" lIns="50800" rIns="50800" tIns="25400" bIns="25400"/>
                    <a:lstStyle/>
                    <a:p>
                      <a:pPr algn="ctr"/>
                      <a:r>
                        <a:rPr sz="1000" b="1">
                          <a:solidFill>
                            <a:srgbClr val="FFFFFF"/>
                          </a:solidFill>
                        </a:rPr>
                        <a:t>Budget</a:t>
                      </a:r>
                    </a:p>
                  </a:txBody>
                  <a:tcPr>
                    <a:solidFill>
                      <a:srgbClr val="1A365D"/>
                    </a:solidFill>
                  </a:tcPr>
                </a:tc>
              </a:tr>
              <a:tr h="262563">
                <a:tc>
                  <a:txBody>
                    <a:bodyPr wrap="square" anchor="ctr" lIns="50800" rIns="50800" tIns="25400" bIns="25400"/>
                    <a:lstStyle/>
                    <a:p>
                      <a:pPr algn="l"/>
                      <a:r>
                        <a:rPr sz="1000" b="0">
                          <a:solidFill>
                            <a:srgbClr val="2D3748"/>
                          </a:solidFill>
                        </a:rPr>
                        <a:t>PV</a:t>
                      </a:r>
                    </a:p>
                  </a:txBody>
                  <a:tcPr>
                    <a:solidFill>
                      <a:srgbClr val="FFFFFF"/>
                    </a:solidFill>
                  </a:tcPr>
                </a:tc>
                <a:tc>
                  <a:txBody>
                    <a:bodyPr wrap="square" anchor="ctr" lIns="50800" rIns="50800" tIns="25400" bIns="25400"/>
                    <a:lstStyle/>
                    <a:p>
                      <a:pPr algn="l"/>
                      <a:r>
                        <a:rPr sz="1000" b="0">
                          <a:solidFill>
                            <a:srgbClr val="2D3748"/>
                          </a:solidFill>
                        </a:rPr>
                        <a:t>pytorch_fp32</a:t>
                      </a:r>
                    </a:p>
                  </a:txBody>
                  <a:tcPr>
                    <a:solidFill>
                      <a:srgbClr val="FFFFFF"/>
                    </a:solidFill>
                  </a:tcPr>
                </a:tc>
                <a:tc>
                  <a:txBody>
                    <a:bodyPr wrap="square" anchor="ctr" lIns="50800" rIns="50800" tIns="25400" bIns="25400"/>
                    <a:lstStyle/>
                    <a:p>
                      <a:pPr algn="r"/>
                      <a:r>
                        <a:rPr sz="1000" b="0">
                          <a:solidFill>
                            <a:srgbClr val="2D3748"/>
                          </a:solidFill>
                        </a:rPr>
                        <a:t>0.9994</a:t>
                      </a:r>
                    </a:p>
                  </a:txBody>
                  <a:tcPr>
                    <a:solidFill>
                      <a:srgbClr val="FFFFFF"/>
                    </a:solidFill>
                  </a:tcPr>
                </a:tc>
                <a:tc>
                  <a:txBody>
                    <a:bodyPr wrap="square" anchor="ctr" lIns="50800" rIns="50800" tIns="25400" bIns="25400"/>
                    <a:lstStyle/>
                    <a:p>
                      <a:pPr algn="r"/>
                      <a:r>
                        <a:rPr sz="1000" b="0">
                          <a:solidFill>
                            <a:srgbClr val="2D3748"/>
                          </a:solidFill>
                        </a:rPr>
                        <a:t>0.89 ms</a:t>
                      </a:r>
                    </a:p>
                  </a:txBody>
                  <a:tcPr>
                    <a:solidFill>
                      <a:srgbClr val="FFFFFF"/>
                    </a:solidFill>
                  </a:tcPr>
                </a:tc>
                <a:tc>
                  <a:txBody>
                    <a:bodyPr wrap="square" anchor="ctr" lIns="50800" rIns="50800" tIns="25400" bIns="25400"/>
                    <a:lstStyle/>
                    <a:p>
                      <a:pPr algn="r"/>
                      <a:r>
                        <a:rPr sz="1000" b="0">
                          <a:solidFill>
                            <a:srgbClr val="2D3748"/>
                          </a:solidFill>
                        </a:rPr>
                        <a:t>0.184</a:t>
                      </a:r>
                    </a:p>
                  </a:txBody>
                  <a:tcPr>
                    <a:solidFill>
                      <a:srgbClr val="FFFFFF"/>
                    </a:solidFill>
                  </a:tcPr>
                </a:tc>
                <a:tc>
                  <a:txBody>
                    <a:bodyPr wrap="square" anchor="ctr" lIns="50800" rIns="50800" tIns="25400" bIns="25400"/>
                    <a:lstStyle/>
                    <a:p>
                      <a:pPr algn="l"/>
                      <a:r>
                        <a:rPr sz="1000" b="0">
                          <a:solidFill>
                            <a:srgbClr val="2B6CB0"/>
                          </a:solidFill>
                        </a:rPr>
                        <a:t>✅</a:t>
                      </a:r>
                    </a:p>
                  </a:txBody>
                  <a:tcPr>
                    <a:solidFill>
                      <a:srgbClr val="FFFFFF"/>
                    </a:solidFill>
                  </a:tcPr>
                </a:tc>
              </a:tr>
              <a:tr h="262563">
                <a:tc>
                  <a:txBody>
                    <a:bodyPr wrap="square" anchor="ctr" lIns="50800" rIns="50800" tIns="25400" bIns="25400"/>
                    <a:lstStyle/>
                    <a:p>
                      <a:pPr algn="l"/>
                      <a:r>
                        <a:rPr sz="1000" b="0">
                          <a:solidFill>
                            <a:srgbClr val="2D3748"/>
                          </a:solidFill>
                        </a:rPr>
                        <a:t>PV</a:t>
                      </a:r>
                    </a:p>
                  </a:txBody>
                  <a:tcPr>
                    <a:solidFill>
                      <a:srgbClr val="EDF2F7"/>
                    </a:solidFill>
                  </a:tcPr>
                </a:tc>
                <a:tc>
                  <a:txBody>
                    <a:bodyPr wrap="square" anchor="ctr" lIns="50800" rIns="50800" tIns="25400" bIns="25400"/>
                    <a:lstStyle/>
                    <a:p>
                      <a:pPr algn="l"/>
                      <a:r>
                        <a:rPr sz="1000" b="0">
                          <a:solidFill>
                            <a:srgbClr val="2D3748"/>
                          </a:solidFill>
                        </a:rPr>
                        <a:t>onnx_fp32</a:t>
                      </a:r>
                    </a:p>
                  </a:txBody>
                  <a:tcPr>
                    <a:solidFill>
                      <a:srgbClr val="EDF2F7"/>
                    </a:solidFill>
                  </a:tcPr>
                </a:tc>
                <a:tc>
                  <a:txBody>
                    <a:bodyPr wrap="square" anchor="ctr" lIns="50800" rIns="50800" tIns="25400" bIns="25400"/>
                    <a:lstStyle/>
                    <a:p>
                      <a:pPr algn="r"/>
                      <a:r>
                        <a:rPr sz="1000" b="0">
                          <a:solidFill>
                            <a:srgbClr val="2D3748"/>
                          </a:solidFill>
                        </a:rPr>
                        <a:t>0.9994</a:t>
                      </a:r>
                    </a:p>
                  </a:txBody>
                  <a:tcPr>
                    <a:solidFill>
                      <a:srgbClr val="EDF2F7"/>
                    </a:solidFill>
                  </a:tcPr>
                </a:tc>
                <a:tc>
                  <a:txBody>
                    <a:bodyPr wrap="square" anchor="ctr" lIns="50800" rIns="50800" tIns="25400" bIns="25400"/>
                    <a:lstStyle/>
                    <a:p>
                      <a:pPr algn="r"/>
                      <a:r>
                        <a:rPr sz="1000" b="0">
                          <a:solidFill>
                            <a:srgbClr val="2D3748"/>
                          </a:solidFill>
                        </a:rPr>
                        <a:t>0.15 ms</a:t>
                      </a:r>
                    </a:p>
                  </a:txBody>
                  <a:tcPr>
                    <a:solidFill>
                      <a:srgbClr val="EDF2F7"/>
                    </a:solidFill>
                  </a:tcPr>
                </a:tc>
                <a:tc>
                  <a:txBody>
                    <a:bodyPr wrap="square" anchor="ctr" lIns="50800" rIns="50800" tIns="25400" bIns="25400"/>
                    <a:lstStyle/>
                    <a:p>
                      <a:pPr algn="r"/>
                      <a:r>
                        <a:rPr sz="1000" b="0">
                          <a:solidFill>
                            <a:srgbClr val="2D3748"/>
                          </a:solidFill>
                        </a:rPr>
                        <a:t>0.176</a:t>
                      </a:r>
                    </a:p>
                  </a:txBody>
                  <a:tcPr>
                    <a:solidFill>
                      <a:srgbClr val="EDF2F7"/>
                    </a:solidFill>
                  </a:tcPr>
                </a:tc>
                <a:tc>
                  <a:txBody>
                    <a:bodyPr wrap="square" anchor="ctr" lIns="50800" rIns="50800" tIns="25400" bIns="25400"/>
                    <a:lstStyle/>
                    <a:p>
                      <a:pPr algn="l"/>
                      <a:r>
                        <a:rPr sz="1000" b="0">
                          <a:solidFill>
                            <a:srgbClr val="2B6CB0"/>
                          </a:solidFill>
                        </a:rPr>
                        <a:t>✅</a:t>
                      </a:r>
                    </a:p>
                  </a:txBody>
                  <a:tcPr>
                    <a:solidFill>
                      <a:srgbClr val="EDF2F7"/>
                    </a:solidFill>
                  </a:tcPr>
                </a:tc>
              </a:tr>
              <a:tr h="262563">
                <a:tc>
                  <a:txBody>
                    <a:bodyPr wrap="square" anchor="ctr" lIns="50800" rIns="50800" tIns="25400" bIns="25400"/>
                    <a:lstStyle/>
                    <a:p>
                      <a:pPr algn="l"/>
                      <a:r>
                        <a:rPr sz="1000" b="0">
                          <a:solidFill>
                            <a:srgbClr val="2D3748"/>
                          </a:solidFill>
                        </a:rPr>
                        <a:t>PV</a:t>
                      </a:r>
                    </a:p>
                  </a:txBody>
                  <a:tcPr>
                    <a:solidFill>
                      <a:srgbClr val="FFFFFF"/>
                    </a:solidFill>
                  </a:tcPr>
                </a:tc>
                <a:tc>
                  <a:txBody>
                    <a:bodyPr wrap="square" anchor="ctr" lIns="50800" rIns="50800" tIns="25400" bIns="25400"/>
                    <a:lstStyle/>
                    <a:p>
                      <a:pPr algn="l"/>
                      <a:r>
                        <a:rPr sz="1000" b="0">
                          <a:solidFill>
                            <a:srgbClr val="2D3748"/>
                          </a:solidFill>
                        </a:rPr>
                        <a:t>onnx_int8</a:t>
                      </a:r>
                    </a:p>
                  </a:txBody>
                  <a:tcPr>
                    <a:solidFill>
                      <a:srgbClr val="FFFFFF"/>
                    </a:solidFill>
                  </a:tcPr>
                </a:tc>
                <a:tc>
                  <a:txBody>
                    <a:bodyPr wrap="square" anchor="ctr" lIns="50800" rIns="50800" tIns="25400" bIns="25400"/>
                    <a:lstStyle/>
                    <a:p>
                      <a:pPr algn="r"/>
                      <a:r>
                        <a:rPr sz="1000" b="0">
                          <a:solidFill>
                            <a:srgbClr val="2D3748"/>
                          </a:solidFill>
                        </a:rPr>
                        <a:t>0.9994</a:t>
                      </a:r>
                    </a:p>
                  </a:txBody>
                  <a:tcPr>
                    <a:solidFill>
                      <a:srgbClr val="FFFFFF"/>
                    </a:solidFill>
                  </a:tcPr>
                </a:tc>
                <a:tc>
                  <a:txBody>
                    <a:bodyPr wrap="square" anchor="ctr" lIns="50800" rIns="50800" tIns="25400" bIns="25400"/>
                    <a:lstStyle/>
                    <a:p>
                      <a:pPr algn="r"/>
                      <a:r>
                        <a:rPr sz="1000" b="0">
                          <a:solidFill>
                            <a:srgbClr val="2D3748"/>
                          </a:solidFill>
                        </a:rPr>
                        <a:t>0.10 ms</a:t>
                      </a:r>
                    </a:p>
                  </a:txBody>
                  <a:tcPr>
                    <a:solidFill>
                      <a:srgbClr val="FFFFFF"/>
                    </a:solidFill>
                  </a:tcPr>
                </a:tc>
                <a:tc>
                  <a:txBody>
                    <a:bodyPr wrap="square" anchor="ctr" lIns="50800" rIns="50800" tIns="25400" bIns="25400"/>
                    <a:lstStyle/>
                    <a:p>
                      <a:pPr algn="r"/>
                      <a:r>
                        <a:rPr sz="1000" b="0">
                          <a:solidFill>
                            <a:srgbClr val="2D3748"/>
                          </a:solidFill>
                        </a:rPr>
                        <a:t>0.058</a:t>
                      </a:r>
                    </a:p>
                  </a:txBody>
                  <a:tcPr>
                    <a:solidFill>
                      <a:srgbClr val="FFFFFF"/>
                    </a:solidFill>
                  </a:tcPr>
                </a:tc>
                <a:tc>
                  <a:txBody>
                    <a:bodyPr wrap="square" anchor="ctr" lIns="50800" rIns="50800" tIns="25400" bIns="25400"/>
                    <a:lstStyle/>
                    <a:p>
                      <a:pPr algn="l"/>
                      <a:r>
                        <a:rPr sz="1000" b="0">
                          <a:solidFill>
                            <a:srgbClr val="2D3748"/>
                          </a:solidFill>
                        </a:rPr>
                        <a:t>✅ lossless</a:t>
                      </a:r>
                    </a:p>
                  </a:txBody>
                  <a:tcPr>
                    <a:solidFill>
                      <a:srgbClr val="FFFFFF"/>
                    </a:solidFill>
                  </a:tcPr>
                </a:tc>
              </a:tr>
              <a:tr h="262563">
                <a:tc>
                  <a:txBody>
                    <a:bodyPr wrap="square" anchor="ctr" lIns="50800" rIns="50800" tIns="25400" bIns="25400"/>
                    <a:lstStyle/>
                    <a:p>
                      <a:pPr algn="l"/>
                      <a:r>
                        <a:rPr sz="1000" b="0">
                          <a:solidFill>
                            <a:srgbClr val="2D3748"/>
                          </a:solidFill>
                        </a:rPr>
                        <a:t>BESS</a:t>
                      </a:r>
                    </a:p>
                  </a:txBody>
                  <a:tcPr>
                    <a:solidFill>
                      <a:srgbClr val="EDF2F7"/>
                    </a:solidFill>
                  </a:tcPr>
                </a:tc>
                <a:tc>
                  <a:txBody>
                    <a:bodyPr wrap="square" anchor="ctr" lIns="50800" rIns="50800" tIns="25400" bIns="25400"/>
                    <a:lstStyle/>
                    <a:p>
                      <a:pPr algn="l"/>
                      <a:r>
                        <a:rPr sz="1000" b="0">
                          <a:solidFill>
                            <a:srgbClr val="2D3748"/>
                          </a:solidFill>
                        </a:rPr>
                        <a:t>pytorch_fp32</a:t>
                      </a:r>
                    </a:p>
                  </a:txBody>
                  <a:tcPr>
                    <a:solidFill>
                      <a:srgbClr val="EDF2F7"/>
                    </a:solidFill>
                  </a:tcPr>
                </a:tc>
                <a:tc>
                  <a:txBody>
                    <a:bodyPr wrap="square" anchor="ctr" lIns="50800" rIns="50800" tIns="25400" bIns="25400"/>
                    <a:lstStyle/>
                    <a:p>
                      <a:pPr algn="r"/>
                      <a:r>
                        <a:rPr sz="1000" b="0">
                          <a:solidFill>
                            <a:srgbClr val="2D3748"/>
                          </a:solidFill>
                        </a:rPr>
                        <a:t>0.9980</a:t>
                      </a:r>
                    </a:p>
                  </a:txBody>
                  <a:tcPr>
                    <a:solidFill>
                      <a:srgbClr val="EDF2F7"/>
                    </a:solidFill>
                  </a:tcPr>
                </a:tc>
                <a:tc>
                  <a:txBody>
                    <a:bodyPr wrap="square" anchor="ctr" lIns="50800" rIns="50800" tIns="25400" bIns="25400"/>
                    <a:lstStyle/>
                    <a:p>
                      <a:pPr algn="r"/>
                      <a:r>
                        <a:rPr sz="1000" b="0">
                          <a:solidFill>
                            <a:srgbClr val="2D3748"/>
                          </a:solidFill>
                        </a:rPr>
                        <a:t>1.03 ms</a:t>
                      </a:r>
                    </a:p>
                  </a:txBody>
                  <a:tcPr>
                    <a:solidFill>
                      <a:srgbClr val="EDF2F7"/>
                    </a:solidFill>
                  </a:tcPr>
                </a:tc>
                <a:tc>
                  <a:txBody>
                    <a:bodyPr wrap="square" anchor="ctr" lIns="50800" rIns="50800" tIns="25400" bIns="25400"/>
                    <a:lstStyle/>
                    <a:p>
                      <a:pPr algn="r"/>
                      <a:r>
                        <a:rPr sz="1000" b="0">
                          <a:solidFill>
                            <a:srgbClr val="2D3748"/>
                          </a:solidFill>
                        </a:rPr>
                        <a:t>0.184</a:t>
                      </a:r>
                    </a:p>
                  </a:txBody>
                  <a:tcPr>
                    <a:solidFill>
                      <a:srgbClr val="EDF2F7"/>
                    </a:solidFill>
                  </a:tcPr>
                </a:tc>
                <a:tc>
                  <a:txBody>
                    <a:bodyPr wrap="square" anchor="ctr" lIns="50800" rIns="50800" tIns="25400" bIns="25400"/>
                    <a:lstStyle/>
                    <a:p>
                      <a:pPr algn="l"/>
                      <a:r>
                        <a:rPr sz="1000" b="0">
                          <a:solidFill>
                            <a:srgbClr val="2B6CB0"/>
                          </a:solidFill>
                        </a:rPr>
                        <a:t>✅</a:t>
                      </a:r>
                    </a:p>
                  </a:txBody>
                  <a:tcPr>
                    <a:solidFill>
                      <a:srgbClr val="EDF2F7"/>
                    </a:solidFill>
                  </a:tcPr>
                </a:tc>
              </a:tr>
              <a:tr h="262563">
                <a:tc>
                  <a:txBody>
                    <a:bodyPr wrap="square" anchor="ctr" lIns="50800" rIns="50800" tIns="25400" bIns="25400"/>
                    <a:lstStyle/>
                    <a:p>
                      <a:pPr algn="l"/>
                      <a:r>
                        <a:rPr sz="1000" b="0">
                          <a:solidFill>
                            <a:srgbClr val="2D3748"/>
                          </a:solidFill>
                        </a:rPr>
                        <a:t>BESS</a:t>
                      </a:r>
                    </a:p>
                  </a:txBody>
                  <a:tcPr>
                    <a:solidFill>
                      <a:srgbClr val="FFFFFF"/>
                    </a:solidFill>
                  </a:tcPr>
                </a:tc>
                <a:tc>
                  <a:txBody>
                    <a:bodyPr wrap="square" anchor="ctr" lIns="50800" rIns="50800" tIns="25400" bIns="25400"/>
                    <a:lstStyle/>
                    <a:p>
                      <a:pPr algn="l"/>
                      <a:r>
                        <a:rPr sz="1000" b="0">
                          <a:solidFill>
                            <a:srgbClr val="2D3748"/>
                          </a:solidFill>
                        </a:rPr>
                        <a:t>onnx_fp32</a:t>
                      </a:r>
                    </a:p>
                  </a:txBody>
                  <a:tcPr>
                    <a:solidFill>
                      <a:srgbClr val="FFFFFF"/>
                    </a:solidFill>
                  </a:tcPr>
                </a:tc>
                <a:tc>
                  <a:txBody>
                    <a:bodyPr wrap="square" anchor="ctr" lIns="50800" rIns="50800" tIns="25400" bIns="25400"/>
                    <a:lstStyle/>
                    <a:p>
                      <a:pPr algn="r"/>
                      <a:r>
                        <a:rPr sz="1000" b="0">
                          <a:solidFill>
                            <a:srgbClr val="2D3748"/>
                          </a:solidFill>
                        </a:rPr>
                        <a:t>0.9980</a:t>
                      </a:r>
                    </a:p>
                  </a:txBody>
                  <a:tcPr>
                    <a:solidFill>
                      <a:srgbClr val="FFFFFF"/>
                    </a:solidFill>
                  </a:tcPr>
                </a:tc>
                <a:tc>
                  <a:txBody>
                    <a:bodyPr wrap="square" anchor="ctr" lIns="50800" rIns="50800" tIns="25400" bIns="25400"/>
                    <a:lstStyle/>
                    <a:p>
                      <a:pPr algn="r"/>
                      <a:r>
                        <a:rPr sz="1000" b="0">
                          <a:solidFill>
                            <a:srgbClr val="2D3748"/>
                          </a:solidFill>
                        </a:rPr>
                        <a:t>0.15 ms</a:t>
                      </a:r>
                    </a:p>
                  </a:txBody>
                  <a:tcPr>
                    <a:solidFill>
                      <a:srgbClr val="FFFFFF"/>
                    </a:solidFill>
                  </a:tcPr>
                </a:tc>
                <a:tc>
                  <a:txBody>
                    <a:bodyPr wrap="square" anchor="ctr" lIns="50800" rIns="50800" tIns="25400" bIns="25400"/>
                    <a:lstStyle/>
                    <a:p>
                      <a:pPr algn="r"/>
                      <a:r>
                        <a:rPr sz="1000" b="0">
                          <a:solidFill>
                            <a:srgbClr val="2D3748"/>
                          </a:solidFill>
                        </a:rPr>
                        <a:t>0.175</a:t>
                      </a:r>
                    </a:p>
                  </a:txBody>
                  <a:tcPr>
                    <a:solidFill>
                      <a:srgbClr val="FFFFFF"/>
                    </a:solidFill>
                  </a:tcPr>
                </a:tc>
                <a:tc>
                  <a:txBody>
                    <a:bodyPr wrap="square" anchor="ctr" lIns="50800" rIns="50800" tIns="25400" bIns="25400"/>
                    <a:lstStyle/>
                    <a:p>
                      <a:pPr algn="l"/>
                      <a:r>
                        <a:rPr sz="1000" b="0">
                          <a:solidFill>
                            <a:srgbClr val="2B6CB0"/>
                          </a:solidFill>
                        </a:rPr>
                        <a:t>✅</a:t>
                      </a:r>
                    </a:p>
                  </a:txBody>
                  <a:tcPr>
                    <a:solidFill>
                      <a:srgbClr val="FFFFFF"/>
                    </a:solidFill>
                  </a:tcPr>
                </a:tc>
              </a:tr>
              <a:tr h="262566">
                <a:tc>
                  <a:txBody>
                    <a:bodyPr wrap="square" anchor="ctr" lIns="50800" rIns="50800" tIns="25400" bIns="25400"/>
                    <a:lstStyle/>
                    <a:p>
                      <a:pPr algn="l"/>
                      <a:r>
                        <a:rPr sz="1000" b="0">
                          <a:solidFill>
                            <a:srgbClr val="2D3748"/>
                          </a:solidFill>
                        </a:rPr>
                        <a:t>BESS</a:t>
                      </a:r>
                    </a:p>
                  </a:txBody>
                  <a:tcPr>
                    <a:solidFill>
                      <a:srgbClr val="EDF2F7"/>
                    </a:solidFill>
                  </a:tcPr>
                </a:tc>
                <a:tc>
                  <a:txBody>
                    <a:bodyPr wrap="square" anchor="ctr" lIns="50800" rIns="50800" tIns="25400" bIns="25400"/>
                    <a:lstStyle/>
                    <a:p>
                      <a:pPr algn="l"/>
                      <a:r>
                        <a:rPr sz="1000" b="0">
                          <a:solidFill>
                            <a:srgbClr val="2D3748"/>
                          </a:solidFill>
                        </a:rPr>
                        <a:t>onnx_int8</a:t>
                      </a:r>
                    </a:p>
                  </a:txBody>
                  <a:tcPr>
                    <a:solidFill>
                      <a:srgbClr val="EDF2F7"/>
                    </a:solidFill>
                  </a:tcPr>
                </a:tc>
                <a:tc>
                  <a:txBody>
                    <a:bodyPr wrap="square" anchor="ctr" lIns="50800" rIns="50800" tIns="25400" bIns="25400"/>
                    <a:lstStyle/>
                    <a:p>
                      <a:pPr algn="r"/>
                      <a:r>
                        <a:rPr sz="1000" b="0">
                          <a:solidFill>
                            <a:srgbClr val="2D3748"/>
                          </a:solidFill>
                        </a:rPr>
                        <a:t>0.7058</a:t>
                      </a:r>
                    </a:p>
                  </a:txBody>
                  <a:tcPr>
                    <a:solidFill>
                      <a:srgbClr val="EDF2F7"/>
                    </a:solidFill>
                  </a:tcPr>
                </a:tc>
                <a:tc>
                  <a:txBody>
                    <a:bodyPr wrap="square" anchor="ctr" lIns="50800" rIns="50800" tIns="25400" bIns="25400"/>
                    <a:lstStyle/>
                    <a:p>
                      <a:pPr algn="r"/>
                      <a:r>
                        <a:rPr sz="1000" b="0">
                          <a:solidFill>
                            <a:srgbClr val="2D3748"/>
                          </a:solidFill>
                        </a:rPr>
                        <a:t>0.09 ms</a:t>
                      </a:r>
                    </a:p>
                  </a:txBody>
                  <a:tcPr>
                    <a:solidFill>
                      <a:srgbClr val="EDF2F7"/>
                    </a:solidFill>
                  </a:tcPr>
                </a:tc>
                <a:tc>
                  <a:txBody>
                    <a:bodyPr wrap="square" anchor="ctr" lIns="50800" rIns="50800" tIns="25400" bIns="25400"/>
                    <a:lstStyle/>
                    <a:p>
                      <a:pPr algn="r"/>
                      <a:r>
                        <a:rPr sz="1000" b="0">
                          <a:solidFill>
                            <a:srgbClr val="2D3748"/>
                          </a:solidFill>
                        </a:rPr>
                        <a:t>0.058</a:t>
                      </a:r>
                    </a:p>
                  </a:txBody>
                  <a:tcPr>
                    <a:solidFill>
                      <a:srgbClr val="EDF2F7"/>
                    </a:solidFill>
                  </a:tcPr>
                </a:tc>
                <a:tc>
                  <a:txBody>
                    <a:bodyPr wrap="square" anchor="ctr" lIns="50800" rIns="50800" tIns="25400" bIns="25400"/>
                    <a:lstStyle/>
                    <a:p>
                      <a:pPr algn="l"/>
                      <a:r>
                        <a:rPr sz="1000" b="0">
                          <a:solidFill>
                            <a:srgbClr val="2D3748"/>
                          </a:solidFill>
                        </a:rPr>
                        <a:t>⚠ see Slide 15</a:t>
                      </a:r>
                    </a:p>
                  </a:txBody>
                  <a:tcPr>
                    <a:solidFill>
                      <a:srgbClr val="EDF2F7"/>
                    </a:solidFill>
                  </a:tcPr>
                </a:tc>
              </a:tr>
            </a:tbl>
          </a:graphicData>
        </a:graphic>
      </p:graphicFrame>
      <p:sp>
        <p:nvSpPr>
          <p:cNvPr id="6" name="TextBox 5"/>
          <p:cNvSpPr txBox="1"/>
          <p:nvPr/>
        </p:nvSpPr>
        <p:spPr>
          <a:xfrm>
            <a:off x="457200" y="3090672"/>
            <a:ext cx="5486400" cy="3310128"/>
          </a:xfrm>
          <a:prstGeom prst="rect">
            <a:avLst/>
          </a:prstGeom>
          <a:noFill/>
        </p:spPr>
        <p:txBody>
          <a:bodyPr wrap="square" anchor="t">
            <a:spAutoFit/>
          </a:bodyPr>
          <a:lstStyle/>
          <a:p>
            <a:pPr algn="l">
              <a:spcAft>
                <a:spcPts val="300"/>
              </a:spcAft>
            </a:pPr>
            <a:r>
              <a:rPr sz="1700">
                <a:solidFill>
                  <a:srgbClr val="2D3748"/>
                </a:solidFill>
              </a:rPr>
              <a:t>ONNX FP32 ≈6× speed-up, zero F1 drift · INT8 ≈2× faster again, 3.16× smaller</a:t>
            </a:r>
          </a:p>
          <a:p>
            <a:pPr algn="l">
              <a:spcAft>
                <a:spcPts val="300"/>
              </a:spcAft>
            </a:pPr>
            <a:r>
              <a:rPr sz="1700">
                <a:solidFill>
                  <a:srgbClr val="2D3748"/>
                </a:solidFill>
              </a:rPr>
              <a:t>Production default: BESS FP32 ONNX (0.175 MiB — still ≪50 MiB)</a:t>
            </a:r>
          </a:p>
          <a:p>
            <a:pPr algn="l">
              <a:spcAft>
                <a:spcPts val="300"/>
              </a:spcAft>
            </a:pPr>
            <a:r>
              <a:rPr sz="1700">
                <a:solidFill>
                  <a:srgbClr val="2D3748"/>
                </a:solidFill>
              </a:rPr>
              <a:t>Source: reports/model_eval.md · evaluation --compare (2026-06-03)</a:t>
            </a:r>
          </a:p>
        </p:txBody>
      </p:sp>
      <p:pic>
        <p:nvPicPr>
          <p:cNvPr id="7" name="Picture 6" descr="comparison_tradeoff.png"/>
          <p:cNvPicPr>
            <a:picLocks noChangeAspect="1"/>
          </p:cNvPicPr>
          <p:nvPr/>
        </p:nvPicPr>
        <p:blipFill>
          <a:blip r:embed="rId2"/>
          <a:stretch>
            <a:fillRect/>
          </a:stretch>
        </p:blipFill>
        <p:spPr>
          <a:xfrm>
            <a:off x="6080760" y="1143000"/>
            <a:ext cx="5029200" cy="2377440"/>
          </a:xfrm>
          <a:prstGeom prst="rect">
            <a:avLst/>
          </a:prstGeom>
        </p:spPr>
      </p:pic>
      <p:pic>
        <p:nvPicPr>
          <p:cNvPr id="8" name="Picture 7" descr="comparison_tradeoff.png"/>
          <p:cNvPicPr>
            <a:picLocks noChangeAspect="1"/>
          </p:cNvPicPr>
          <p:nvPr/>
        </p:nvPicPr>
        <p:blipFill>
          <a:blip r:embed="rId3"/>
          <a:stretch>
            <a:fillRect/>
          </a:stretch>
        </p:blipFill>
        <p:spPr>
          <a:xfrm>
            <a:off x="6080760" y="3657600"/>
            <a:ext cx="5029200" cy="237744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§15</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15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C3 — Confusion matrices (FP32 clean + INT8 failure)</a:t>
            </a:r>
          </a:p>
        </p:txBody>
      </p:sp>
      <p:sp>
        <p:nvSpPr>
          <p:cNvPr id="5" name="TextBox 4"/>
          <p:cNvSpPr txBox="1"/>
          <p:nvPr/>
        </p:nvSpPr>
        <p:spPr>
          <a:xfrm>
            <a:off x="457200" y="1143000"/>
            <a:ext cx="11247120" cy="2743200"/>
          </a:xfrm>
          <a:prstGeom prst="rect">
            <a:avLst/>
          </a:prstGeom>
          <a:noFill/>
        </p:spPr>
        <p:txBody>
          <a:bodyPr wrap="square" anchor="t">
            <a:spAutoFit/>
          </a:bodyPr>
          <a:lstStyle/>
          <a:p>
            <a:pPr algn="l">
              <a:spcAft>
                <a:spcPts val="300"/>
              </a:spcAft>
            </a:pPr>
            <a:r>
              <a:rPr sz="1700">
                <a:solidFill>
                  <a:srgbClr val="2D3748"/>
                </a:solidFill>
              </a:rPr>
              <a:t>PV ONNX FP32: clean diagonal — macro-F1 0.9994</a:t>
            </a:r>
          </a:p>
          <a:p>
            <a:pPr algn="l">
              <a:spcAft>
                <a:spcPts val="300"/>
              </a:spcAft>
            </a:pPr>
            <a:r>
              <a:rPr sz="1700">
                <a:solidFill>
                  <a:srgbClr val="2D3748"/>
                </a:solidFill>
              </a:rPr>
              <a:t>BESS ONNX FP32: clean diagonal — macro-F1 0.9980</a:t>
            </a:r>
          </a:p>
          <a:p>
            <a:pPr algn="l">
              <a:spcAft>
                <a:spcPts val="300"/>
              </a:spcAft>
            </a:pPr>
            <a:r>
              <a:rPr sz="1700">
                <a:solidFill>
                  <a:srgbClr val="2D3748"/>
                </a:solidFill>
              </a:rPr>
              <a:t>BESS ONNX INT8: confusion among BESS_Normal / Thermal_anomaly / Internal_resistance_increase</a:t>
            </a:r>
          </a:p>
          <a:p>
            <a:pPr algn="l">
              <a:spcAft>
                <a:spcPts val="300"/>
              </a:spcAft>
            </a:pPr>
          </a:p>
          <a:p>
            <a:pPr algn="l">
              <a:spcAft>
                <a:spcPts val="300"/>
              </a:spcAft>
            </a:pPr>
            <a:r>
              <a:rPr sz="1700">
                <a:solidFill>
                  <a:srgbClr val="2D3748"/>
                </a:solidFill>
              </a:rPr>
              <a:t>Root cause: narrow numeric bands in R_est, sigma_V, SoC trajectories;</a:t>
            </a:r>
          </a:p>
          <a:p>
            <a:pPr algn="l">
              <a:spcAft>
                <a:spcPts val="300"/>
              </a:spcAft>
            </a:pPr>
            <a:r>
              <a:rPr sz="1700">
                <a:solidFill>
                  <a:srgbClr val="2D3748"/>
                </a:solidFill>
              </a:rPr>
              <a:t>per-tensor MinMax INT8 collapses separability (−29.2 pp macro-F1)</a:t>
            </a:r>
          </a:p>
          <a:p>
            <a:pPr algn="l">
              <a:spcAft>
                <a:spcPts val="300"/>
              </a:spcAft>
            </a:pPr>
          </a:p>
          <a:p>
            <a:pPr algn="l">
              <a:spcAft>
                <a:spcPts val="300"/>
              </a:spcAft>
            </a:pPr>
            <a:r>
              <a:rPr sz="1700">
                <a:solidFill>
                  <a:srgbClr val="2D3748"/>
                </a:solidFill>
              </a:rPr>
              <a:t>Documented remediations (future work): Entropy calibration, per-channel quantisation</a:t>
            </a:r>
          </a:p>
          <a:p>
            <a:pPr algn="l">
              <a:spcAft>
                <a:spcPts val="300"/>
              </a:spcAft>
            </a:pPr>
            <a:r>
              <a:rPr sz="1700">
                <a:solidFill>
                  <a:srgbClr val="2D3748"/>
                </a:solidFill>
              </a:rPr>
              <a:t>Production: BESS FP32 ONNX until recovery</a:t>
            </a:r>
          </a:p>
        </p:txBody>
      </p:sp>
      <p:pic>
        <p:nvPicPr>
          <p:cNvPr id="6" name="Picture 5" descr="confusion_matrix.png"/>
          <p:cNvPicPr>
            <a:picLocks noChangeAspect="1"/>
          </p:cNvPicPr>
          <p:nvPr/>
        </p:nvPicPr>
        <p:blipFill>
          <a:blip r:embed="rId2"/>
          <a:stretch>
            <a:fillRect/>
          </a:stretch>
        </p:blipFill>
        <p:spPr>
          <a:xfrm>
            <a:off x="457200" y="3977639"/>
            <a:ext cx="3685946" cy="2423161"/>
          </a:xfrm>
          <a:prstGeom prst="rect">
            <a:avLst/>
          </a:prstGeom>
        </p:spPr>
      </p:pic>
      <p:pic>
        <p:nvPicPr>
          <p:cNvPr id="7" name="Picture 6" descr="confusion_matrix.png"/>
          <p:cNvPicPr>
            <a:picLocks noChangeAspect="1"/>
          </p:cNvPicPr>
          <p:nvPr/>
        </p:nvPicPr>
        <p:blipFill>
          <a:blip r:embed="rId3"/>
          <a:stretch>
            <a:fillRect/>
          </a:stretch>
        </p:blipFill>
        <p:spPr>
          <a:xfrm>
            <a:off x="4252874" y="3977639"/>
            <a:ext cx="3685946" cy="2423161"/>
          </a:xfrm>
          <a:prstGeom prst="rect">
            <a:avLst/>
          </a:prstGeom>
        </p:spPr>
      </p:pic>
      <p:pic>
        <p:nvPicPr>
          <p:cNvPr id="8" name="Picture 7" descr="confusion_matrix.png"/>
          <p:cNvPicPr>
            <a:picLocks noChangeAspect="1"/>
          </p:cNvPicPr>
          <p:nvPr/>
        </p:nvPicPr>
        <p:blipFill>
          <a:blip r:embed="rId4"/>
          <a:stretch>
            <a:fillRect/>
          </a:stretch>
        </p:blipFill>
        <p:spPr>
          <a:xfrm>
            <a:off x="8048548" y="3977639"/>
            <a:ext cx="3685946" cy="2423161"/>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§16</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16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Extended evaluation — deployment realism motivation</a:t>
            </a:r>
          </a:p>
        </p:txBody>
      </p:sp>
      <p:sp>
        <p:nvSpPr>
          <p:cNvPr id="5" name="TextBox 4"/>
          <p:cNvSpPr txBox="1"/>
          <p:nvPr/>
        </p:nvSpPr>
        <p:spPr>
          <a:xfrm>
            <a:off x="457200" y="1143000"/>
            <a:ext cx="11247120" cy="5257800"/>
          </a:xfrm>
          <a:prstGeom prst="rect">
            <a:avLst/>
          </a:prstGeom>
          <a:noFill/>
        </p:spPr>
        <p:txBody>
          <a:bodyPr wrap="square" anchor="t">
            <a:spAutoFit/>
          </a:bodyPr>
          <a:lstStyle/>
          <a:p>
            <a:pPr algn="l">
              <a:spcAft>
                <a:spcPts val="300"/>
              </a:spcAft>
            </a:pPr>
            <a:r>
              <a:rPr sz="1700">
                <a:solidFill>
                  <a:srgbClr val="2D3748"/>
                </a:solidFill>
              </a:rPr>
              <a:t>Baseline macro-F1 is necessary — not sufficient for deployment</a:t>
            </a:r>
          </a:p>
          <a:p>
            <a:pPr algn="l">
              <a:spcAft>
                <a:spcPts val="300"/>
              </a:spcAft>
            </a:pPr>
          </a:p>
          <a:p>
            <a:pPr algn="l">
              <a:spcAft>
                <a:spcPts val="300"/>
              </a:spcAft>
            </a:pPr>
            <a:r>
              <a:rPr sz="1700">
                <a:solidFill>
                  <a:srgbClr val="2D3748"/>
                </a:solidFill>
              </a:rPr>
              <a:t>Six stress axes (reports/robustness_eval.md)</a:t>
            </a:r>
          </a:p>
          <a:p>
            <a:pPr algn="l">
              <a:spcAft>
                <a:spcPts val="300"/>
              </a:spcAft>
            </a:pPr>
            <a:r>
              <a:rPr sz="1700">
                <a:solidFill>
                  <a:srgbClr val="2D3748"/>
                </a:solidFill>
              </a:rPr>
              <a:t>1. Distribution shift — per operating_condition slice</a:t>
            </a:r>
          </a:p>
          <a:p>
            <a:pPr algn="l">
              <a:spcAft>
                <a:spcPts val="300"/>
              </a:spcAft>
            </a:pPr>
            <a:r>
              <a:rPr sz="1700">
                <a:solidFill>
                  <a:srgbClr val="2D3748"/>
                </a:solidFill>
              </a:rPr>
              <a:t>2. Missing features — mask ratios 0 / 0.1 / 0.3 / 0.5</a:t>
            </a:r>
          </a:p>
          <a:p>
            <a:pPr algn="l">
              <a:spcAft>
                <a:spcPts val="300"/>
              </a:spcAft>
            </a:pPr>
            <a:r>
              <a:rPr sz="1700">
                <a:solidFill>
                  <a:srgbClr val="2D3748"/>
                </a:solidFill>
              </a:rPr>
              <a:t>3. Sensor noise — σ multipliers 0 → 0.5</a:t>
            </a:r>
          </a:p>
          <a:p>
            <a:pPr algn="l">
              <a:spcAft>
                <a:spcPts val="300"/>
              </a:spcAft>
            </a:pPr>
            <a:r>
              <a:rPr sz="1700">
                <a:solidFill>
                  <a:srgbClr val="2D3748"/>
                </a:solidFill>
              </a:rPr>
              <a:t>4. Calibration drift — scale factors 0.8 → 1.2</a:t>
            </a:r>
          </a:p>
          <a:p>
            <a:pPr algn="l">
              <a:spcAft>
                <a:spcPts val="300"/>
              </a:spcAft>
            </a:pPr>
            <a:r>
              <a:rPr sz="1700">
                <a:solidFill>
                  <a:srgbClr val="2D3748"/>
                </a:solidFill>
              </a:rPr>
              <a:t>5. Adversarial FGSM — ε 0 → 0.1 (PyTorch FP32)</a:t>
            </a:r>
          </a:p>
          <a:p>
            <a:pPr algn="l">
              <a:spcAft>
                <a:spcPts val="300"/>
              </a:spcAft>
            </a:pPr>
            <a:r>
              <a:rPr sz="1700">
                <a:solidFill>
                  <a:srgbClr val="2D3748"/>
                </a:solidFill>
              </a:rPr>
              <a:t>6. Cross-system OOD — other system's test windows</a:t>
            </a:r>
          </a:p>
          <a:p>
            <a:pPr algn="l">
              <a:spcAft>
                <a:spcPts val="300"/>
              </a:spcAft>
            </a:pPr>
          </a:p>
          <a:p>
            <a:pPr algn="l">
              <a:spcAft>
                <a:spcPts val="300"/>
              </a:spcAft>
            </a:pPr>
            <a:r>
              <a:rPr sz="1700">
                <a:solidFill>
                  <a:srgbClr val="2D3748"/>
                </a:solidFill>
              </a:rPr>
              <a:t>Training-free enhancement</a:t>
            </a:r>
          </a:p>
          <a:p>
            <a:pPr algn="l">
              <a:spcAft>
                <a:spcPts val="300"/>
              </a:spcAft>
            </a:pPr>
            <a:r>
              <a:rPr sz="1700">
                <a:solidFill>
                  <a:srgbClr val="2D3748"/>
                </a:solidFill>
              </a:rPr>
              <a:t>Energy-based selective prediction (Liu et al. 2020)</a:t>
            </a:r>
          </a:p>
          <a:p>
            <a:pPr algn="l">
              <a:spcAft>
                <a:spcPts val="300"/>
              </a:spcAft>
            </a:pPr>
            <a:r>
              <a:rPr sz="1700">
                <a:solidFill>
                  <a:srgbClr val="2D3748"/>
                </a:solidFill>
              </a:rPr>
              <a:t>E(x) = −logsumexp(logits); threshold calibrated to 95% val coverage</a:t>
            </a:r>
          </a:p>
          <a:p>
            <a:pPr algn="l">
              <a:spcAft>
                <a:spcPts val="300"/>
              </a:spcAft>
            </a:pPr>
            <a:r>
              <a:rPr sz="1700">
                <a:solidFill>
                  <a:srgbClr val="2D3748"/>
                </a:solidFill>
              </a:rPr>
              <a:t>Below threshold → unknown_fault / operator_review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§17</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17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Robustness — selective prediction headline numbers</a:t>
            </a:r>
          </a:p>
        </p:txBody>
      </p:sp>
      <p:graphicFrame>
        <p:nvGraphicFramePr>
          <p:cNvPr id="5" name="Table 4"/>
          <p:cNvGraphicFramePr>
            <a:graphicFrameLocks noGrp="1"/>
          </p:cNvGraphicFramePr>
          <p:nvPr/>
        </p:nvGraphicFramePr>
        <p:xfrm>
          <a:off x="457200" y="1143000"/>
          <a:ext cx="5486396" cy="813816"/>
        </p:xfrm>
        <a:graphic>
          <a:graphicData uri="http://schemas.openxmlformats.org/drawingml/2006/table">
            <a:tbl>
              <a:tblPr firstRow="1" bandRow="1">
                <a:tableStyleId>{5C22544A-7EE6-4342-B048-85BDC9FD1C3A}</a:tableStyleId>
              </a:tblPr>
              <a:tblGrid>
                <a:gridCol w="403906"/>
                <a:gridCol w="673177"/>
                <a:gridCol w="706836"/>
                <a:gridCol w="1649285"/>
                <a:gridCol w="1144402"/>
                <a:gridCol w="908790"/>
              </a:tblGrid>
              <a:tr h="271272">
                <a:tc>
                  <a:txBody>
                    <a:bodyPr wrap="square" anchor="ctr" lIns="50800" rIns="50800" tIns="25400" bIns="25400"/>
                    <a:lstStyle/>
                    <a:p>
                      <a:pPr algn="ctr"/>
                      <a:r>
                        <a:rPr sz="1000" b="1">
                          <a:solidFill>
                            <a:srgbClr val="FFFFFF"/>
                          </a:solidFill>
                        </a:rPr>
                        <a:t>System</a:t>
                      </a:r>
                    </a:p>
                  </a:txBody>
                  <a:tcPr>
                    <a:solidFill>
                      <a:srgbClr val="1A365D"/>
                    </a:solidFill>
                  </a:tcPr>
                </a:tc>
                <a:tc>
                  <a:txBody>
                    <a:bodyPr wrap="square" anchor="ctr" lIns="50800" rIns="50800" tIns="25400" bIns="25400"/>
                    <a:lstStyle/>
                    <a:p>
                      <a:pPr algn="ctr"/>
                      <a:r>
                        <a:rPr sz="1000" b="1">
                          <a:solidFill>
                            <a:srgbClr val="FFFFFF"/>
                          </a:solidFill>
                        </a:rPr>
                        <a:t>Clean F1</a:t>
                      </a:r>
                    </a:p>
                  </a:txBody>
                  <a:tcPr>
                    <a:solidFill>
                      <a:srgbClr val="1A365D"/>
                    </a:solidFill>
                  </a:tcPr>
                </a:tc>
                <a:tc>
                  <a:txBody>
                    <a:bodyPr wrap="square" anchor="ctr" lIns="50800" rIns="50800" tIns="25400" bIns="25400"/>
                    <a:lstStyle/>
                    <a:p>
                      <a:pPr algn="ctr"/>
                      <a:r>
                        <a:rPr sz="1000" b="1">
                          <a:solidFill>
                            <a:srgbClr val="FFFFFF"/>
                          </a:solidFill>
                        </a:rPr>
                        <a:t>OOD AUROC</a:t>
                      </a:r>
                    </a:p>
                  </a:txBody>
                  <a:tcPr>
                    <a:solidFill>
                      <a:srgbClr val="1A365D"/>
                    </a:solidFill>
                  </a:tcPr>
                </a:tc>
                <a:tc>
                  <a:txBody>
                    <a:bodyPr wrap="square" anchor="ctr" lIns="50800" rIns="50800" tIns="25400" bIns="25400"/>
                    <a:lstStyle/>
                    <a:p>
                      <a:pPr algn="l"/>
                      <a:r>
                        <a:rPr sz="1000" b="1">
                          <a:solidFill>
                            <a:srgbClr val="FFFFFF"/>
                          </a:solidFill>
                        </a:rPr>
                        <a:t>Score direction</a:t>
                      </a:r>
                    </a:p>
                  </a:txBody>
                  <a:tcPr>
                    <a:solidFill>
                      <a:srgbClr val="1A365D"/>
                    </a:solidFill>
                  </a:tcPr>
                </a:tc>
                <a:tc>
                  <a:txBody>
                    <a:bodyPr wrap="square" anchor="ctr" lIns="50800" rIns="50800" tIns="25400" bIns="25400"/>
                    <a:lstStyle/>
                    <a:p>
                      <a:pPr algn="l"/>
                      <a:r>
                        <a:rPr sz="1000" b="1">
                          <a:solidFill>
                            <a:srgbClr val="FFFFFF"/>
                          </a:solidFill>
                        </a:rPr>
                        <a:t>Selective acc @95% cov</a:t>
                      </a:r>
                    </a:p>
                  </a:txBody>
                  <a:tcPr>
                    <a:solidFill>
                      <a:srgbClr val="1A365D"/>
                    </a:solidFill>
                  </a:tcPr>
                </a:tc>
                <a:tc>
                  <a:txBody>
                    <a:bodyPr wrap="square" anchor="ctr" lIns="50800" rIns="50800" tIns="25400" bIns="25400"/>
                    <a:lstStyle/>
                    <a:p>
                      <a:pPr algn="l"/>
                      <a:r>
                        <a:rPr sz="1000" b="1">
                          <a:solidFill>
                            <a:srgbClr val="FFFFFF"/>
                          </a:solidFill>
                        </a:rPr>
                        <a:t>OOD reject rate</a:t>
                      </a:r>
                    </a:p>
                  </a:txBody>
                  <a:tcPr>
                    <a:solidFill>
                      <a:srgbClr val="1A365D"/>
                    </a:solidFill>
                  </a:tcPr>
                </a:tc>
              </a:tr>
              <a:tr h="271272">
                <a:tc>
                  <a:txBody>
                    <a:bodyPr wrap="square" anchor="ctr" lIns="50800" rIns="50800" tIns="25400" bIns="25400"/>
                    <a:lstStyle/>
                    <a:p>
                      <a:pPr algn="l"/>
                      <a:r>
                        <a:rPr sz="1000" b="0">
                          <a:solidFill>
                            <a:srgbClr val="2D3748"/>
                          </a:solidFill>
                        </a:rPr>
                        <a:t>PV</a:t>
                      </a:r>
                    </a:p>
                  </a:txBody>
                  <a:tcPr>
                    <a:solidFill>
                      <a:srgbClr val="FFFFFF"/>
                    </a:solidFill>
                  </a:tcPr>
                </a:tc>
                <a:tc>
                  <a:txBody>
                    <a:bodyPr wrap="square" anchor="ctr" lIns="50800" rIns="50800" tIns="25400" bIns="25400"/>
                    <a:lstStyle/>
                    <a:p>
                      <a:pPr algn="r"/>
                      <a:r>
                        <a:rPr sz="1000" b="0">
                          <a:solidFill>
                            <a:srgbClr val="2D3748"/>
                          </a:solidFill>
                        </a:rPr>
                        <a:t>0.9994</a:t>
                      </a:r>
                    </a:p>
                  </a:txBody>
                  <a:tcPr>
                    <a:solidFill>
                      <a:srgbClr val="FFFFFF"/>
                    </a:solidFill>
                  </a:tcPr>
                </a:tc>
                <a:tc>
                  <a:txBody>
                    <a:bodyPr wrap="square" anchor="ctr" lIns="50800" rIns="50800" tIns="25400" bIns="25400"/>
                    <a:lstStyle/>
                    <a:p>
                      <a:pPr algn="r"/>
                      <a:r>
                        <a:rPr sz="1000" b="0">
                          <a:solidFill>
                            <a:srgbClr val="2D3748"/>
                          </a:solidFill>
                        </a:rPr>
                        <a:t>0.6037</a:t>
                      </a:r>
                    </a:p>
                  </a:txBody>
                  <a:tcPr>
                    <a:solidFill>
                      <a:srgbClr val="FFFFFF"/>
                    </a:solidFill>
                  </a:tcPr>
                </a:tc>
                <a:tc>
                  <a:txBody>
                    <a:bodyPr wrap="square" anchor="ctr" lIns="50800" rIns="50800" tIns="25400" bIns="25400"/>
                    <a:lstStyle/>
                    <a:p>
                      <a:pPr algn="l"/>
                      <a:r>
                        <a:rPr sz="1000" b="0">
                          <a:solidFill>
                            <a:srgbClr val="2D3748"/>
                          </a:solidFill>
                        </a:rPr>
                        <a:t>inverted (out&gt;in)</a:t>
                      </a:r>
                    </a:p>
                  </a:txBody>
                  <a:tcPr>
                    <a:solidFill>
                      <a:srgbClr val="FFFFFF"/>
                    </a:solidFill>
                  </a:tcPr>
                </a:tc>
                <a:tc>
                  <a:txBody>
                    <a:bodyPr wrap="square" anchor="ctr" lIns="50800" rIns="50800" tIns="25400" bIns="25400"/>
                    <a:lstStyle/>
                    <a:p>
                      <a:pPr algn="r"/>
                      <a:r>
                        <a:rPr sz="1000" b="0">
                          <a:solidFill>
                            <a:srgbClr val="2D3748"/>
                          </a:solidFill>
                        </a:rPr>
                        <a:t>1.0000</a:t>
                      </a:r>
                    </a:p>
                  </a:txBody>
                  <a:tcPr>
                    <a:solidFill>
                      <a:srgbClr val="FFFFFF"/>
                    </a:solidFill>
                  </a:tcPr>
                </a:tc>
                <a:tc>
                  <a:txBody>
                    <a:bodyPr wrap="square" anchor="ctr" lIns="50800" rIns="50800" tIns="25400" bIns="25400"/>
                    <a:lstStyle/>
                    <a:p>
                      <a:pPr algn="r"/>
                      <a:r>
                        <a:rPr sz="1000" b="0">
                          <a:solidFill>
                            <a:srgbClr val="2D3748"/>
                          </a:solidFill>
                        </a:rPr>
                        <a:t>0.3281</a:t>
                      </a:r>
                    </a:p>
                  </a:txBody>
                  <a:tcPr>
                    <a:solidFill>
                      <a:srgbClr val="FFFFFF"/>
                    </a:solidFill>
                  </a:tcPr>
                </a:tc>
              </a:tr>
              <a:tr h="271272">
                <a:tc>
                  <a:txBody>
                    <a:bodyPr wrap="square" anchor="ctr" lIns="50800" rIns="50800" tIns="25400" bIns="25400"/>
                    <a:lstStyle/>
                    <a:p>
                      <a:pPr algn="l"/>
                      <a:r>
                        <a:rPr sz="1000" b="0">
                          <a:solidFill>
                            <a:srgbClr val="2D3748"/>
                          </a:solidFill>
                        </a:rPr>
                        <a:t>BESS</a:t>
                      </a:r>
                    </a:p>
                  </a:txBody>
                  <a:tcPr>
                    <a:solidFill>
                      <a:srgbClr val="EDF2F7"/>
                    </a:solidFill>
                  </a:tcPr>
                </a:tc>
                <a:tc>
                  <a:txBody>
                    <a:bodyPr wrap="square" anchor="ctr" lIns="50800" rIns="50800" tIns="25400" bIns="25400"/>
                    <a:lstStyle/>
                    <a:p>
                      <a:pPr algn="r"/>
                      <a:r>
                        <a:rPr sz="1000" b="0">
                          <a:solidFill>
                            <a:srgbClr val="2D3748"/>
                          </a:solidFill>
                        </a:rPr>
                        <a:t>0.9980</a:t>
                      </a:r>
                    </a:p>
                  </a:txBody>
                  <a:tcPr>
                    <a:solidFill>
                      <a:srgbClr val="EDF2F7"/>
                    </a:solidFill>
                  </a:tcPr>
                </a:tc>
                <a:tc>
                  <a:txBody>
                    <a:bodyPr wrap="square" anchor="ctr" lIns="50800" rIns="50800" tIns="25400" bIns="25400"/>
                    <a:lstStyle/>
                    <a:p>
                      <a:pPr algn="r"/>
                      <a:r>
                        <a:rPr sz="1000" b="0">
                          <a:solidFill>
                            <a:srgbClr val="2D3748"/>
                          </a:solidFill>
                        </a:rPr>
                        <a:t>1.0000</a:t>
                      </a:r>
                    </a:p>
                  </a:txBody>
                  <a:tcPr>
                    <a:solidFill>
                      <a:srgbClr val="EDF2F7"/>
                    </a:solidFill>
                  </a:tcPr>
                </a:tc>
                <a:tc>
                  <a:txBody>
                    <a:bodyPr wrap="square" anchor="ctr" lIns="50800" rIns="50800" tIns="25400" bIns="25400"/>
                    <a:lstStyle/>
                    <a:p>
                      <a:pPr algn="l"/>
                      <a:r>
                        <a:rPr sz="1000" b="0">
                          <a:solidFill>
                            <a:srgbClr val="2D3748"/>
                          </a:solidFill>
                        </a:rPr>
                        <a:t>inverted (out&gt;in)</a:t>
                      </a:r>
                    </a:p>
                  </a:txBody>
                  <a:tcPr>
                    <a:solidFill>
                      <a:srgbClr val="EDF2F7"/>
                    </a:solidFill>
                  </a:tcPr>
                </a:tc>
                <a:tc>
                  <a:txBody>
                    <a:bodyPr wrap="square" anchor="ctr" lIns="50800" rIns="50800" tIns="25400" bIns="25400"/>
                    <a:lstStyle/>
                    <a:p>
                      <a:pPr algn="r"/>
                      <a:r>
                        <a:rPr sz="1000" b="0">
                          <a:solidFill>
                            <a:srgbClr val="2D3748"/>
                          </a:solidFill>
                        </a:rPr>
                        <a:t>0.9994</a:t>
                      </a:r>
                    </a:p>
                  </a:txBody>
                  <a:tcPr>
                    <a:solidFill>
                      <a:srgbClr val="EDF2F7"/>
                    </a:solidFill>
                  </a:tcPr>
                </a:tc>
                <a:tc>
                  <a:txBody>
                    <a:bodyPr wrap="square" anchor="ctr" lIns="50800" rIns="50800" tIns="25400" bIns="25400"/>
                    <a:lstStyle/>
                    <a:p>
                      <a:pPr algn="r"/>
                      <a:r>
                        <a:rPr sz="1000" b="0">
                          <a:solidFill>
                            <a:srgbClr val="2D3748"/>
                          </a:solidFill>
                        </a:rPr>
                        <a:t>0.0000</a:t>
                      </a:r>
                    </a:p>
                  </a:txBody>
                  <a:tcPr>
                    <a:solidFill>
                      <a:srgbClr val="EDF2F7"/>
                    </a:solidFill>
                  </a:tcPr>
                </a:tc>
              </a:tr>
            </a:tbl>
          </a:graphicData>
        </a:graphic>
      </p:graphicFrame>
      <p:sp>
        <p:nvSpPr>
          <p:cNvPr id="6" name="TextBox 5"/>
          <p:cNvSpPr txBox="1"/>
          <p:nvPr/>
        </p:nvSpPr>
        <p:spPr>
          <a:xfrm>
            <a:off x="457200" y="2066544"/>
            <a:ext cx="5486400" cy="3862197"/>
          </a:xfrm>
          <a:prstGeom prst="rect">
            <a:avLst/>
          </a:prstGeom>
          <a:noFill/>
        </p:spPr>
        <p:txBody>
          <a:bodyPr wrap="square" anchor="t">
            <a:spAutoFit/>
          </a:bodyPr>
          <a:lstStyle/>
          <a:p>
            <a:pPr algn="l">
              <a:spcAft>
                <a:spcPts val="300"/>
              </a:spcAft>
            </a:pPr>
            <a:r>
              <a:rPr sz="1700">
                <a:solidFill>
                  <a:srgbClr val="2D3748"/>
                </a:solidFill>
              </a:rPr>
              <a:t>In-distribution: selective accuracy ≈1.0 at 95% coverage — policy works</a:t>
            </a:r>
          </a:p>
          <a:p>
            <a:pPr algn="l">
              <a:spcAft>
                <a:spcPts val="300"/>
              </a:spcAft>
            </a:pPr>
            <a:r>
              <a:rPr sz="1700">
                <a:solidFill>
                  <a:srgbClr val="2D3748"/>
                </a:solidFill>
              </a:rPr>
              <a:t>Cross-system OOD: energy direction inverted — still discriminative; deploy with flip rule or Mahalanobis</a:t>
            </a:r>
          </a:p>
          <a:p>
            <a:pPr algn="l">
              <a:spcAft>
                <a:spcPts val="300"/>
              </a:spcAft>
            </a:pPr>
            <a:r>
              <a:rPr sz="1700">
                <a:solidFill>
                  <a:srgbClr val="2D3748"/>
                </a:solidFill>
              </a:rPr>
              <a:t>Dataset refresh: 2026-06-03 (aligned with data/version.txt)</a:t>
            </a:r>
          </a:p>
        </p:txBody>
      </p:sp>
      <p:pic>
        <p:nvPicPr>
          <p:cNvPr id="7" name="Picture 6" descr="risk_coverage_curve.png"/>
          <p:cNvPicPr>
            <a:picLocks noChangeAspect="1"/>
          </p:cNvPicPr>
          <p:nvPr/>
        </p:nvPicPr>
        <p:blipFill>
          <a:blip r:embed="rId2"/>
          <a:stretch>
            <a:fillRect/>
          </a:stretch>
        </p:blipFill>
        <p:spPr>
          <a:xfrm>
            <a:off x="6126480" y="1143000"/>
            <a:ext cx="5303520" cy="4572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§18</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18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Robustness — when it succeeds vs fails</a:t>
            </a:r>
          </a:p>
        </p:txBody>
      </p:sp>
      <p:sp>
        <p:nvSpPr>
          <p:cNvPr id="5" name="TextBox 4"/>
          <p:cNvSpPr txBox="1"/>
          <p:nvPr/>
        </p:nvSpPr>
        <p:spPr>
          <a:xfrm>
            <a:off x="457200" y="1143000"/>
            <a:ext cx="5486400" cy="5257800"/>
          </a:xfrm>
          <a:prstGeom prst="rect">
            <a:avLst/>
          </a:prstGeom>
          <a:noFill/>
        </p:spPr>
        <p:txBody>
          <a:bodyPr wrap="square" anchor="t">
            <a:spAutoFit/>
          </a:bodyPr>
          <a:lstStyle/>
          <a:p>
            <a:pPr algn="l">
              <a:spcAft>
                <a:spcPts val="300"/>
              </a:spcAft>
            </a:pPr>
            <a:r>
              <a:rPr sz="1700">
                <a:solidFill>
                  <a:srgbClr val="2D3748"/>
                </a:solidFill>
              </a:rPr>
              <a:t>✅ Succeeds</a:t>
            </a:r>
          </a:p>
          <a:p>
            <a:pPr algn="l">
              <a:spcAft>
                <a:spcPts val="300"/>
              </a:spcAft>
            </a:pPr>
            <a:r>
              <a:rPr sz="1700">
                <a:solidFill>
                  <a:srgbClr val="2D3748"/>
                </a:solidFill>
              </a:rPr>
              <a:t>• In-distribution rejection: selective acc ≈1.0 at 95% coverage</a:t>
            </a:r>
          </a:p>
          <a:p>
            <a:pPr algn="l">
              <a:spcAft>
                <a:spcPts val="300"/>
              </a:spcAft>
            </a:pPr>
            <a:r>
              <a:rPr sz="1700">
                <a:solidFill>
                  <a:srgbClr val="2D3748"/>
                </a:solidFill>
              </a:rPr>
              <a:t>• Mild noise / drift: PV σ≤0.10, BESS σ≤0.20; drift ∈[0.95,1.05] → F1&gt;0.90</a:t>
            </a:r>
          </a:p>
          <a:p>
            <a:pPr algn="l">
              <a:spcAft>
                <a:spcPts val="300"/>
              </a:spcAft>
            </a:pPr>
          </a:p>
          <a:p>
            <a:pPr algn="l">
              <a:spcAft>
                <a:spcPts val="300"/>
              </a:spcAft>
            </a:pPr>
            <a:r>
              <a:rPr sz="1700">
                <a:solidFill>
                  <a:srgbClr val="2D3748"/>
                </a:solidFill>
              </a:rPr>
              <a:t>❌ Fails / partial</a:t>
            </a:r>
          </a:p>
          <a:p>
            <a:pPr algn="l">
              <a:spcAft>
                <a:spcPts val="300"/>
              </a:spcAft>
            </a:pPr>
            <a:r>
              <a:rPr sz="1700">
                <a:solidFill>
                  <a:srgbClr val="2D3748"/>
                </a:solidFill>
              </a:rPr>
              <a:t>• Missing 10% channels: accuracy −40 pp, confidence rises — needs upstream sensor-up check</a:t>
            </a:r>
          </a:p>
          <a:p>
            <a:pPr algn="l">
              <a:spcAft>
                <a:spcPts val="300"/>
              </a:spcAft>
            </a:pPr>
            <a:r>
              <a:rPr sz="1700">
                <a:solidFill>
                  <a:srgbClr val="2D3748"/>
                </a:solidFill>
              </a:rPr>
              <a:t>• Cross-system swap: inverted energy — calibrate or add Mahalanobis</a:t>
            </a:r>
          </a:p>
          <a:p>
            <a:pPr algn="l">
              <a:spcAft>
                <a:spcPts val="300"/>
              </a:spcAft>
            </a:pPr>
            <a:r>
              <a:rPr sz="1700">
                <a:solidFill>
                  <a:srgbClr val="2D3748"/>
                </a:solidFill>
              </a:rPr>
              <a:t>• Large drift ±20%: accuracy and confidence both collapse</a:t>
            </a:r>
          </a:p>
          <a:p>
            <a:pPr algn="l">
              <a:spcAft>
                <a:spcPts val="300"/>
              </a:spcAft>
            </a:pPr>
            <a:r>
              <a:rPr sz="1700">
                <a:solidFill>
                  <a:srgbClr val="2D3748"/>
                </a:solidFill>
              </a:rPr>
              <a:t>• FGSM ε≤0.05: BESS more fragile; rejection alone insufficient → adversarial training</a:t>
            </a:r>
          </a:p>
        </p:txBody>
      </p:sp>
      <p:pic>
        <p:nvPicPr>
          <p:cNvPr id="6" name="Picture 5" descr="missing_features_curve.png"/>
          <p:cNvPicPr>
            <a:picLocks noChangeAspect="1"/>
          </p:cNvPicPr>
          <p:nvPr/>
        </p:nvPicPr>
        <p:blipFill>
          <a:blip r:embed="rId2"/>
          <a:stretch>
            <a:fillRect/>
          </a:stretch>
        </p:blipFill>
        <p:spPr>
          <a:xfrm>
            <a:off x="6080760" y="1143000"/>
            <a:ext cx="5029200" cy="2377440"/>
          </a:xfrm>
          <a:prstGeom prst="rect">
            <a:avLst/>
          </a:prstGeom>
        </p:spPr>
      </p:pic>
      <p:pic>
        <p:nvPicPr>
          <p:cNvPr id="7" name="Picture 6" descr="fgsm_curve.png"/>
          <p:cNvPicPr>
            <a:picLocks noChangeAspect="1"/>
          </p:cNvPicPr>
          <p:nvPr/>
        </p:nvPicPr>
        <p:blipFill>
          <a:blip r:embed="rId3"/>
          <a:stretch>
            <a:fillRect/>
          </a:stretch>
        </p:blipFill>
        <p:spPr>
          <a:xfrm>
            <a:off x="6080760" y="3657600"/>
            <a:ext cx="5029200" cy="237744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§19</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19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Robustness — representative figures (OOD &amp; conditions)</a:t>
            </a:r>
          </a:p>
        </p:txBody>
      </p:sp>
      <p:sp>
        <p:nvSpPr>
          <p:cNvPr id="5" name="TextBox 4"/>
          <p:cNvSpPr txBox="1"/>
          <p:nvPr/>
        </p:nvSpPr>
        <p:spPr>
          <a:xfrm>
            <a:off x="457200" y="1143000"/>
            <a:ext cx="5486400" cy="5257800"/>
          </a:xfrm>
          <a:prstGeom prst="rect">
            <a:avLst/>
          </a:prstGeom>
          <a:noFill/>
        </p:spPr>
        <p:txBody>
          <a:bodyPr wrap="square" anchor="t">
            <a:spAutoFit/>
          </a:bodyPr>
          <a:lstStyle/>
          <a:p>
            <a:pPr algn="l">
              <a:spcAft>
                <a:spcPts val="300"/>
              </a:spcAft>
            </a:pPr>
            <a:r>
              <a:rPr sz="1700">
                <a:solidFill>
                  <a:srgbClr val="2D3748"/>
                </a:solidFill>
              </a:rPr>
              <a:t>PV OOD energy histogram</a:t>
            </a:r>
          </a:p>
          <a:p>
            <a:pPr algn="l">
              <a:spcAft>
                <a:spcPts val="300"/>
              </a:spcAft>
            </a:pPr>
            <a:r>
              <a:rPr sz="1700">
                <a:solidFill>
                  <a:srgbClr val="2D3748"/>
                </a:solidFill>
              </a:rPr>
              <a:t>• Cross-system inputs: in vs out overlap; direction inverted — visible by eye</a:t>
            </a:r>
          </a:p>
          <a:p>
            <a:pPr algn="l">
              <a:spcAft>
                <a:spcPts val="300"/>
              </a:spcAft>
            </a:pPr>
          </a:p>
          <a:p>
            <a:pPr algn="l">
              <a:spcAft>
                <a:spcPts val="300"/>
              </a:spcAft>
            </a:pPr>
            <a:r>
              <a:rPr sz="1700">
                <a:solidFill>
                  <a:srgbClr val="2D3748"/>
                </a:solidFill>
              </a:rPr>
              <a:t>PV condition heatmap</a:t>
            </a:r>
          </a:p>
          <a:p>
            <a:pPr algn="l">
              <a:spcAft>
                <a:spcPts val="300"/>
              </a:spcAft>
            </a:pPr>
            <a:r>
              <a:rPr sz="1700">
                <a:solidFill>
                  <a:srgbClr val="2D3748"/>
                </a:solidFill>
              </a:rPr>
              <a:t>• Macro-F1 high across all three operating conditions — shift axis stable</a:t>
            </a:r>
          </a:p>
          <a:p>
            <a:pPr algn="l">
              <a:spcAft>
                <a:spcPts val="300"/>
              </a:spcAft>
            </a:pPr>
          </a:p>
          <a:p>
            <a:pPr algn="l">
              <a:spcAft>
                <a:spcPts val="300"/>
              </a:spcAft>
            </a:pPr>
            <a:r>
              <a:rPr sz="1700">
                <a:solidFill>
                  <a:srgbClr val="2D3748"/>
                </a:solidFill>
              </a:rPr>
              <a:t>BESS: nine figures under reports/robustness/bess/figures/</a:t>
            </a:r>
          </a:p>
          <a:p>
            <a:pPr algn="l">
              <a:spcAft>
                <a:spcPts val="300"/>
              </a:spcAft>
            </a:pPr>
            <a:r>
              <a:rPr sz="1700">
                <a:solidFill>
                  <a:srgbClr val="2D3748"/>
                </a:solidFill>
              </a:rPr>
              <a:t>(overview_macro_f1, noise_curve, scale_drift_curve, …)</a:t>
            </a:r>
          </a:p>
        </p:txBody>
      </p:sp>
      <p:pic>
        <p:nvPicPr>
          <p:cNvPr id="6" name="Picture 5" descr="ood_energy_histogram.png"/>
          <p:cNvPicPr>
            <a:picLocks noChangeAspect="1"/>
          </p:cNvPicPr>
          <p:nvPr/>
        </p:nvPicPr>
        <p:blipFill>
          <a:blip r:embed="rId2"/>
          <a:stretch>
            <a:fillRect/>
          </a:stretch>
        </p:blipFill>
        <p:spPr>
          <a:xfrm>
            <a:off x="6080760" y="1143000"/>
            <a:ext cx="5029200" cy="2377440"/>
          </a:xfrm>
          <a:prstGeom prst="rect">
            <a:avLst/>
          </a:prstGeom>
        </p:spPr>
      </p:pic>
      <p:pic>
        <p:nvPicPr>
          <p:cNvPr id="7" name="Picture 6" descr="condition_heatmap.png"/>
          <p:cNvPicPr>
            <a:picLocks noChangeAspect="1"/>
          </p:cNvPicPr>
          <p:nvPr/>
        </p:nvPicPr>
        <p:blipFill>
          <a:blip r:embed="rId3"/>
          <a:stretch>
            <a:fillRect/>
          </a:stretch>
        </p:blipFill>
        <p:spPr>
          <a:xfrm>
            <a:off x="6080760" y="3657600"/>
            <a:ext cx="5029200" cy="237744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§20</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20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C4 — ReAct cloud agent architecture</a:t>
            </a:r>
          </a:p>
        </p:txBody>
      </p:sp>
      <p:sp>
        <p:nvSpPr>
          <p:cNvPr id="5" name="TextBox 4"/>
          <p:cNvSpPr txBox="1"/>
          <p:nvPr/>
        </p:nvSpPr>
        <p:spPr>
          <a:xfrm>
            <a:off x="457200" y="1143000"/>
            <a:ext cx="11247120" cy="1530477"/>
          </a:xfrm>
          <a:prstGeom prst="rect">
            <a:avLst/>
          </a:prstGeom>
          <a:noFill/>
        </p:spPr>
        <p:txBody>
          <a:bodyPr wrap="square" anchor="t">
            <a:spAutoFit/>
          </a:bodyPr>
          <a:lstStyle/>
          <a:p>
            <a:pPr algn="l">
              <a:spcAft>
                <a:spcPts val="300"/>
              </a:spcAft>
            </a:pPr>
            <a:r>
              <a:rPr sz="1700">
                <a:solidFill>
                  <a:srgbClr val="2D3748"/>
                </a:solidFill>
              </a:rPr>
              <a:t>Cloud agent (agent/workflows/react.py)</a:t>
            </a:r>
          </a:p>
          <a:p>
            <a:pPr algn="l">
              <a:spcAft>
                <a:spcPts val="300"/>
              </a:spcAft>
            </a:pPr>
            <a:r>
              <a:rPr sz="1700">
                <a:solidFill>
                  <a:srgbClr val="2D3748"/>
                </a:solidFill>
              </a:rPr>
              <a:t>ReAct loop: Observe → Reason → Act → Reflect → Report</a:t>
            </a:r>
          </a:p>
          <a:p>
            <a:pPr algn="l">
              <a:spcAft>
                <a:spcPts val="300"/>
              </a:spcAft>
            </a:pPr>
          </a:p>
          <a:p>
            <a:pPr algn="l">
              <a:spcAft>
                <a:spcPts val="300"/>
              </a:spcAft>
            </a:pPr>
            <a:r>
              <a:rPr sz="1700">
                <a:solidFill>
                  <a:srgbClr val="2D3748"/>
                </a:solidFill>
              </a:rPr>
              <a:t>Four tools (tools/)</a:t>
            </a:r>
          </a:p>
        </p:txBody>
      </p:sp>
      <p:graphicFrame>
        <p:nvGraphicFramePr>
          <p:cNvPr id="6" name="Table 5"/>
          <p:cNvGraphicFramePr>
            <a:graphicFrameLocks noGrp="1"/>
          </p:cNvGraphicFramePr>
          <p:nvPr/>
        </p:nvGraphicFramePr>
        <p:xfrm>
          <a:off x="457200" y="2783205"/>
          <a:ext cx="11247119" cy="1325880"/>
        </p:xfrm>
        <a:graphic>
          <a:graphicData uri="http://schemas.openxmlformats.org/drawingml/2006/table">
            <a:tbl>
              <a:tblPr firstRow="1" bandRow="1">
                <a:tableStyleId>{5C22544A-7EE6-4342-B048-85BDC9FD1C3A}</a:tableStyleId>
              </a:tblPr>
              <a:tblGrid>
                <a:gridCol w="3594440"/>
                <a:gridCol w="7652679"/>
              </a:tblGrid>
              <a:tr h="265176">
                <a:tc>
                  <a:txBody>
                    <a:bodyPr wrap="square" anchor="ctr" lIns="50800" rIns="50800" tIns="25400" bIns="25400"/>
                    <a:lstStyle/>
                    <a:p>
                      <a:pPr algn="ctr"/>
                      <a:r>
                        <a:rPr sz="1200" b="1">
                          <a:solidFill>
                            <a:srgbClr val="FFFFFF"/>
                          </a:solidFill>
                        </a:rPr>
                        <a:t>Tool</a:t>
                      </a:r>
                    </a:p>
                  </a:txBody>
                  <a:tcPr>
                    <a:solidFill>
                      <a:srgbClr val="1A365D"/>
                    </a:solidFill>
                  </a:tcPr>
                </a:tc>
                <a:tc>
                  <a:txBody>
                    <a:bodyPr wrap="square" anchor="ctr" lIns="50800" rIns="50800" tIns="25400" bIns="25400"/>
                    <a:lstStyle/>
                    <a:p>
                      <a:pPr algn="ctr"/>
                      <a:r>
                        <a:rPr sz="1200" b="1">
                          <a:solidFill>
                            <a:srgbClr val="FFFFFF"/>
                          </a:solidFill>
                        </a:rPr>
                        <a:t>Role</a:t>
                      </a:r>
                    </a:p>
                  </a:txBody>
                  <a:tcPr>
                    <a:solidFill>
                      <a:srgbClr val="1A365D"/>
                    </a:solidFill>
                  </a:tcPr>
                </a:tc>
              </a:tr>
              <a:tr h="265176">
                <a:tc>
                  <a:txBody>
                    <a:bodyPr wrap="square" anchor="ctr" lIns="50800" rIns="50800" tIns="25400" bIns="25400"/>
                    <a:lstStyle/>
                    <a:p>
                      <a:pPr algn="l"/>
                      <a:r>
                        <a:rPr sz="1200" b="0">
                          <a:solidFill>
                            <a:srgbClr val="2D3748"/>
                          </a:solidFill>
                        </a:rPr>
                        <a:t>retrieve_knowledge</a:t>
                      </a:r>
                    </a:p>
                  </a:txBody>
                  <a:tcPr>
                    <a:solidFill>
                      <a:srgbClr val="FFFFFF"/>
                    </a:solidFill>
                  </a:tcPr>
                </a:tc>
                <a:tc>
                  <a:txBody>
                    <a:bodyPr wrap="square" anchor="ctr" lIns="50800" rIns="50800" tIns="25400" bIns="25400"/>
                    <a:lstStyle/>
                    <a:p>
                      <a:pPr algn="l"/>
                      <a:r>
                        <a:rPr sz="1200" b="0">
                          <a:solidFill>
                            <a:srgbClr val="2D3748"/>
                          </a:solidFill>
                        </a:rPr>
                        <a:t>Chroma + bge-small-en-v1.5 RAG on playbooks</a:t>
                      </a:r>
                    </a:p>
                  </a:txBody>
                  <a:tcPr>
                    <a:solidFill>
                      <a:srgbClr val="FFFFFF"/>
                    </a:solidFill>
                  </a:tcPr>
                </a:tc>
              </a:tr>
              <a:tr h="265176">
                <a:tc>
                  <a:txBody>
                    <a:bodyPr wrap="square" anchor="ctr" lIns="50800" rIns="50800" tIns="25400" bIns="25400"/>
                    <a:lstStyle/>
                    <a:p>
                      <a:pPr algn="l"/>
                      <a:r>
                        <a:rPr sz="1200" b="0">
                          <a:solidFill>
                            <a:srgbClr val="2D3748"/>
                          </a:solidFill>
                        </a:rPr>
                        <a:t>system_history</a:t>
                      </a:r>
                    </a:p>
                  </a:txBody>
                  <a:tcPr>
                    <a:solidFill>
                      <a:srgbClr val="EDF2F7"/>
                    </a:solidFill>
                  </a:tcPr>
                </a:tc>
                <a:tc>
                  <a:txBody>
                    <a:bodyPr wrap="square" anchor="ctr" lIns="50800" rIns="50800" tIns="25400" bIns="25400"/>
                    <a:lstStyle/>
                    <a:p>
                      <a:pPr algn="l"/>
                      <a:r>
                        <a:rPr sz="1200" b="0">
                          <a:solidFill>
                            <a:srgbClr val="2D3748"/>
                          </a:solidFill>
                        </a:rPr>
                        <a:t>Simulated past alert frequency</a:t>
                      </a:r>
                    </a:p>
                  </a:txBody>
                  <a:tcPr>
                    <a:solidFill>
                      <a:srgbClr val="EDF2F7"/>
                    </a:solidFill>
                  </a:tcPr>
                </a:tc>
              </a:tr>
              <a:tr h="265176">
                <a:tc>
                  <a:txBody>
                    <a:bodyPr wrap="square" anchor="ctr" lIns="50800" rIns="50800" tIns="25400" bIns="25400"/>
                    <a:lstStyle/>
                    <a:p>
                      <a:pPr algn="l"/>
                      <a:r>
                        <a:rPr sz="1200" b="0">
                          <a:solidFill>
                            <a:srgbClr val="2D3748"/>
                          </a:solidFill>
                        </a:rPr>
                        <a:t>estimate_rul</a:t>
                      </a:r>
                    </a:p>
                  </a:txBody>
                  <a:tcPr>
                    <a:solidFill>
                      <a:srgbClr val="FFFFFF"/>
                    </a:solidFill>
                  </a:tcPr>
                </a:tc>
                <a:tc>
                  <a:txBody>
                    <a:bodyPr wrap="square" anchor="ctr" lIns="50800" rIns="50800" tIns="25400" bIns="25400"/>
                    <a:lstStyle/>
                    <a:p>
                      <a:pPr algn="l"/>
                      <a:r>
                        <a:rPr sz="1200" b="0">
                          <a:solidFill>
                            <a:srgbClr val="2D3748"/>
                          </a:solidFill>
                        </a:rPr>
                        <a:t>Simulated RUL estimate</a:t>
                      </a:r>
                    </a:p>
                  </a:txBody>
                  <a:tcPr>
                    <a:solidFill>
                      <a:srgbClr val="FFFFFF"/>
                    </a:solidFill>
                  </a:tcPr>
                </a:tc>
              </a:tr>
              <a:tr h="265176">
                <a:tc>
                  <a:txBody>
                    <a:bodyPr wrap="square" anchor="ctr" lIns="50800" rIns="50800" tIns="25400" bIns="25400"/>
                    <a:lstStyle/>
                    <a:p>
                      <a:pPr algn="l"/>
                      <a:r>
                        <a:rPr sz="1200" b="0">
                          <a:solidFill>
                            <a:srgbClr val="2D3748"/>
                          </a:solidFill>
                        </a:rPr>
                        <a:t>escalate_alert</a:t>
                      </a:r>
                    </a:p>
                  </a:txBody>
                  <a:tcPr>
                    <a:solidFill>
                      <a:srgbClr val="EDF2F7"/>
                    </a:solidFill>
                  </a:tcPr>
                </a:tc>
                <a:tc>
                  <a:txBody>
                    <a:bodyPr wrap="square" anchor="ctr" lIns="50800" rIns="50800" tIns="25400" bIns="25400"/>
                    <a:lstStyle/>
                    <a:p>
                      <a:pPr algn="l"/>
                      <a:r>
                        <a:rPr sz="1200" b="0">
                          <a:solidFill>
                            <a:srgbClr val="2D3748"/>
                          </a:solidFill>
                        </a:rPr>
                        <a:t>Simulated escalation notification</a:t>
                      </a:r>
                    </a:p>
                  </a:txBody>
                  <a:tcPr>
                    <a:solidFill>
                      <a:srgbClr val="EDF2F7"/>
                    </a:solidFill>
                  </a:tcPr>
                </a:tc>
              </a:tr>
            </a:tbl>
          </a:graphicData>
        </a:graphic>
      </p:graphicFrame>
      <p:sp>
        <p:nvSpPr>
          <p:cNvPr id="7" name="TextBox 6"/>
          <p:cNvSpPr txBox="1"/>
          <p:nvPr/>
        </p:nvSpPr>
        <p:spPr>
          <a:xfrm>
            <a:off x="457200" y="4218813"/>
            <a:ext cx="11247120" cy="2181987"/>
          </a:xfrm>
          <a:prstGeom prst="rect">
            <a:avLst/>
          </a:prstGeom>
          <a:noFill/>
        </p:spPr>
        <p:txBody>
          <a:bodyPr wrap="square" anchor="t">
            <a:spAutoFit/>
          </a:bodyPr>
          <a:lstStyle/>
          <a:p>
            <a:pPr algn="l">
              <a:spcAft>
                <a:spcPts val="300"/>
              </a:spcAft>
            </a:pPr>
            <a:r>
              <a:rPr sz="1700">
                <a:solidFill>
                  <a:srgbClr val="2D3748"/>
                </a:solidFill>
              </a:rPr>
              <a:t>LLM: Ollama llama3.2 (~2 GiB) — plan + synthesis</a:t>
            </a:r>
          </a:p>
          <a:p>
            <a:pPr algn="l">
              <a:spcAft>
                <a:spcPts val="300"/>
              </a:spcAft>
            </a:pPr>
            <a:r>
              <a:rPr sz="1700">
                <a:solidFill>
                  <a:srgbClr val="2D3748"/>
                </a:solidFill>
              </a:rPr>
              <a:t>Invalid planner JSON → ollama_plan_fallback_mock (graceful degradation)</a:t>
            </a:r>
          </a:p>
          <a:p>
            <a:pPr algn="l">
              <a:spcAft>
                <a:spcPts val="300"/>
              </a:spcAft>
            </a:pPr>
          </a:p>
          <a:p>
            <a:pPr algn="l">
              <a:spcAft>
                <a:spcPts val="300"/>
              </a:spcAft>
            </a:pPr>
            <a:r>
              <a:rPr sz="1700">
                <a:solidFill>
                  <a:srgbClr val="2D3748"/>
                </a:solidFill>
              </a:rPr>
              <a:t>RAG: 30 playbook documents (≥30 required) → Chroma index; citations include chunk_id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§21</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21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C4 — Alert → Recommendation data flow</a:t>
            </a:r>
          </a:p>
        </p:txBody>
      </p:sp>
      <p:sp>
        <p:nvSpPr>
          <p:cNvPr id="5" name="TextBox 4"/>
          <p:cNvSpPr txBox="1"/>
          <p:nvPr/>
        </p:nvSpPr>
        <p:spPr>
          <a:xfrm>
            <a:off x="457200" y="1143000"/>
            <a:ext cx="5486400" cy="5257800"/>
          </a:xfrm>
          <a:prstGeom prst="rect">
            <a:avLst/>
          </a:prstGeom>
          <a:noFill/>
        </p:spPr>
        <p:txBody>
          <a:bodyPr wrap="square" anchor="t">
            <a:spAutoFit/>
          </a:bodyPr>
          <a:lstStyle/>
          <a:p>
            <a:pPr algn="l">
              <a:spcAft>
                <a:spcPts val="300"/>
              </a:spcAft>
            </a:pPr>
            <a:r>
              <a:rPr sz="1700">
                <a:solidFill>
                  <a:srgbClr val="2D3748"/>
                </a:solidFill>
              </a:rPr>
              <a:t>1. Edge POST /predict(SensorWindow) → Alert</a:t>
            </a:r>
          </a:p>
          <a:p>
            <a:pPr algn="l">
              <a:spcAft>
                <a:spcPts val="300"/>
              </a:spcAft>
            </a:pPr>
            <a:r>
              <a:rPr sz="1700">
                <a:solidFill>
                  <a:srgbClr val="2D3748"/>
                </a:solidFill>
              </a:rPr>
              <a:t>   fault_class, severity, confidence, sensor_snapshot</a:t>
            </a:r>
          </a:p>
          <a:p>
            <a:pPr algn="l">
              <a:spcAft>
                <a:spcPts val="300"/>
              </a:spcAft>
            </a:pPr>
          </a:p>
          <a:p>
            <a:pPr algn="l">
              <a:spcAft>
                <a:spcPts val="300"/>
              </a:spcAft>
            </a:pPr>
            <a:r>
              <a:rPr sz="1700">
                <a:solidFill>
                  <a:srgbClr val="2D3748"/>
                </a:solidFill>
              </a:rPr>
              <a:t>2. If severity ∈ {warning, critical} → Agent POST /recommend(Alert)</a:t>
            </a:r>
          </a:p>
          <a:p>
            <a:pPr algn="l">
              <a:spcAft>
                <a:spcPts val="300"/>
              </a:spcAft>
            </a:pPr>
            <a:r>
              <a:rPr sz="1700">
                <a:solidFill>
                  <a:srgbClr val="2D3748"/>
                </a:solidFill>
              </a:rPr>
              <a:t>   → Recommendation: action, urgency, confidence, escalate_to?, knowledge_sources[]</a:t>
            </a:r>
          </a:p>
          <a:p>
            <a:pPr algn="l">
              <a:spcAft>
                <a:spcPts val="300"/>
              </a:spcAft>
            </a:pPr>
          </a:p>
          <a:p>
            <a:pPr algn="l">
              <a:spcAft>
                <a:spcPts val="300"/>
              </a:spcAft>
            </a:pPr>
            <a:r>
              <a:rPr sz="1700">
                <a:solidFill>
                  <a:srgbClr val="2D3748"/>
                </a:solidFill>
              </a:rPr>
              <a:t>3. OrchestratorEvent → JSONL → Dashboard (4 tabs)</a:t>
            </a:r>
          </a:p>
          <a:p>
            <a:pPr algn="l">
              <a:spcAft>
                <a:spcPts val="300"/>
              </a:spcAft>
            </a:pPr>
          </a:p>
          <a:p>
            <a:pPr algn="l">
              <a:spcAft>
                <a:spcPts val="300"/>
              </a:spcAft>
            </a:pPr>
            <a:r>
              <a:rPr sz="1700">
                <a:solidFill>
                  <a:srgbClr val="2D3748"/>
                </a:solidFill>
              </a:rPr>
              <a:t>Trigger rule (same as C7 demo)</a:t>
            </a:r>
          </a:p>
          <a:p>
            <a:pPr algn="l">
              <a:spcAft>
                <a:spcPts val="300"/>
              </a:spcAft>
            </a:pPr>
            <a:r>
              <a:rPr sz="1700">
                <a:solidFill>
                  <a:srgbClr val="2D3748"/>
                </a:solidFill>
              </a:rPr>
              <a:t>monitor → edge only · warning/critical → full pipeline</a:t>
            </a:r>
          </a:p>
        </p:txBody>
      </p:sp>
      <p:pic>
        <p:nvPicPr>
          <p:cNvPr id="6" name="Picture 5" descr="03_edge_vs_agent_split.png"/>
          <p:cNvPicPr>
            <a:picLocks noChangeAspect="1"/>
          </p:cNvPicPr>
          <p:nvPr/>
        </p:nvPicPr>
        <p:blipFill>
          <a:blip r:embed="rId2"/>
          <a:stretch>
            <a:fillRect/>
          </a:stretch>
        </p:blipFill>
        <p:spPr>
          <a:xfrm>
            <a:off x="6126480" y="1143000"/>
            <a:ext cx="5303520" cy="4572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§22</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22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C5 — Agent benchmark design</a:t>
            </a:r>
          </a:p>
        </p:txBody>
      </p:sp>
      <p:sp>
        <p:nvSpPr>
          <p:cNvPr id="5" name="TextBox 4"/>
          <p:cNvSpPr txBox="1"/>
          <p:nvPr/>
        </p:nvSpPr>
        <p:spPr>
          <a:xfrm>
            <a:off x="457200" y="1143000"/>
            <a:ext cx="11247120" cy="5257800"/>
          </a:xfrm>
          <a:prstGeom prst="rect">
            <a:avLst/>
          </a:prstGeom>
          <a:noFill/>
        </p:spPr>
        <p:txBody>
          <a:bodyPr wrap="square" anchor="t">
            <a:spAutoFit/>
          </a:bodyPr>
          <a:lstStyle/>
          <a:p>
            <a:pPr algn="l">
              <a:spcAft>
                <a:spcPts val="300"/>
              </a:spcAft>
            </a:pPr>
            <a:r>
              <a:rPr sz="1700">
                <a:solidFill>
                  <a:srgbClr val="2D3748"/>
                </a:solidFill>
              </a:rPr>
              <a:t>agent_eval/benchmark.json — 33 scenarios</a:t>
            </a:r>
          </a:p>
          <a:p>
            <a:pPr algn="l">
              <a:spcAft>
                <a:spcPts val="300"/>
              </a:spcAft>
            </a:pPr>
            <a:r>
              <a:rPr sz="1700">
                <a:solidFill>
                  <a:srgbClr val="2D3748"/>
                </a:solidFill>
              </a:rPr>
              <a:t>• 23 unambiguous + 10 deliberately ambiguous</a:t>
            </a:r>
          </a:p>
          <a:p>
            <a:pPr algn="l">
              <a:spcAft>
                <a:spcPts val="300"/>
              </a:spcAft>
            </a:pPr>
            <a:r>
              <a:rPr sz="1700">
                <a:solidFill>
                  <a:srgbClr val="2D3748"/>
                </a:solidFill>
              </a:rPr>
              <a:t>• Per-scenario oracle: urgency, must-contain keywords, forbidden phrases, min KB count</a:t>
            </a:r>
          </a:p>
          <a:p>
            <a:pPr algn="l">
              <a:spcAft>
                <a:spcPts val="300"/>
              </a:spcAft>
            </a:pPr>
          </a:p>
          <a:p>
            <a:pPr algn="l">
              <a:spcAft>
                <a:spcPts val="300"/>
              </a:spcAft>
            </a:pPr>
            <a:r>
              <a:rPr sz="1700">
                <a:solidFill>
                  <a:srgbClr val="2D3748"/>
                </a:solidFill>
              </a:rPr>
              <a:t>Runner pipeline</a:t>
            </a:r>
          </a:p>
          <a:p>
            <a:pPr algn="l">
              <a:spcAft>
                <a:spcPts val="300"/>
              </a:spcAft>
            </a:pPr>
            <a:r>
              <a:rPr sz="1700">
                <a:solidFill>
                  <a:srgbClr val="2D3748"/>
                </a:solidFill>
              </a:rPr>
              <a:t>Real edge model in the loop → Recommendation → dual scoring</a:t>
            </a:r>
          </a:p>
          <a:p>
            <a:pPr algn="l">
              <a:spcAft>
                <a:spcPts val="300"/>
              </a:spcAft>
            </a:pPr>
            <a:r>
              <a:rPr sz="1700">
                <a:solidFill>
                  <a:srgbClr val="2D3748"/>
                </a:solidFill>
              </a:rPr>
              <a:t>① Deterministic rubric composite (0–1)</a:t>
            </a:r>
          </a:p>
          <a:p>
            <a:pPr algn="l">
              <a:spcAft>
                <a:spcPts val="300"/>
              </a:spcAft>
            </a:pPr>
            <a:r>
              <a:rPr sz="1700">
                <a:solidFill>
                  <a:srgbClr val="2D3748"/>
                </a:solidFill>
              </a:rPr>
              <a:t>② Optional LLM-as-judge (1–5) — this run: 99/99 scored, mean 4.10</a:t>
            </a:r>
          </a:p>
          <a:p>
            <a:pPr algn="l">
              <a:spcAft>
                <a:spcPts val="300"/>
              </a:spcAft>
            </a:pPr>
          </a:p>
          <a:p>
            <a:pPr algn="l">
              <a:spcAft>
                <a:spcPts val="300"/>
              </a:spcAft>
            </a:pPr>
            <a:r>
              <a:rPr sz="1700">
                <a:solidFill>
                  <a:srgbClr val="2D3748"/>
                </a:solidFill>
              </a:rPr>
              <a:t>Three ablations (assignment §4.5)</a:t>
            </a:r>
          </a:p>
          <a:p>
            <a:pPr algn="l">
              <a:spcAft>
                <a:spcPts val="300"/>
              </a:spcAft>
            </a:pPr>
            <a:r>
              <a:rPr sz="1700">
                <a:solidFill>
                  <a:srgbClr val="2D3748"/>
                </a:solidFill>
              </a:rPr>
              <a:t>full | no_retrieve_knowledge (No-RAG) | no_reasoning_trace (No-Trace)</a:t>
            </a:r>
          </a:p>
          <a:p>
            <a:pPr algn="l">
              <a:spcAft>
                <a:spcPts val="300"/>
              </a:spcAft>
            </a:pPr>
            <a:r>
              <a:rPr sz="1700">
                <a:solidFill>
                  <a:srgbClr val="2D3748"/>
                </a:solidFill>
              </a:rPr>
              <a:t>99 records = 33 × 3 · backend: Ollama llama3.2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§23</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23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C5 — Ablation results summary</a:t>
            </a:r>
          </a:p>
        </p:txBody>
      </p:sp>
      <p:graphicFrame>
        <p:nvGraphicFramePr>
          <p:cNvPr id="5" name="Table 4"/>
          <p:cNvGraphicFramePr>
            <a:graphicFrameLocks noGrp="1"/>
          </p:cNvGraphicFramePr>
          <p:nvPr/>
        </p:nvGraphicFramePr>
        <p:xfrm>
          <a:off x="457200" y="1143000"/>
          <a:ext cx="5486396" cy="1069848"/>
        </p:xfrm>
        <a:graphic>
          <a:graphicData uri="http://schemas.openxmlformats.org/drawingml/2006/table">
            <a:tbl>
              <a:tblPr firstRow="1" bandRow="1">
                <a:tableStyleId>{5C22544A-7EE6-4342-B048-85BDC9FD1C3A}</a:tableStyleId>
              </a:tblPr>
              <a:tblGrid>
                <a:gridCol w="648392"/>
                <a:gridCol w="548640"/>
                <a:gridCol w="598516"/>
                <a:gridCol w="523701"/>
                <a:gridCol w="623454"/>
                <a:gridCol w="573578"/>
                <a:gridCol w="573578"/>
                <a:gridCol w="448887"/>
                <a:gridCol w="423949"/>
                <a:gridCol w="523701"/>
              </a:tblGrid>
              <a:tr h="267462">
                <a:tc>
                  <a:txBody>
                    <a:bodyPr wrap="square" anchor="ctr" lIns="50800" rIns="50800" tIns="25400" bIns="25400"/>
                    <a:lstStyle/>
                    <a:p>
                      <a:pPr algn="ctr"/>
                      <a:r>
                        <a:rPr sz="900" b="1">
                          <a:solidFill>
                            <a:srgbClr val="FFFFFF"/>
                          </a:solidFill>
                        </a:rPr>
                        <a:t>Ablation</a:t>
                      </a:r>
                    </a:p>
                  </a:txBody>
                  <a:tcPr>
                    <a:solidFill>
                      <a:srgbClr val="1A365D"/>
                    </a:solidFill>
                  </a:tcPr>
                </a:tc>
                <a:tc>
                  <a:txBody>
                    <a:bodyPr wrap="square" anchor="ctr" lIns="50800" rIns="50800" tIns="25400" bIns="25400"/>
                    <a:lstStyle/>
                    <a:p>
                      <a:pPr algn="ctr"/>
                      <a:r>
                        <a:rPr sz="900" b="1">
                          <a:solidFill>
                            <a:srgbClr val="FFFFFF"/>
                          </a:solidFill>
                        </a:rPr>
                        <a:t>Mean</a:t>
                      </a:r>
                    </a:p>
                  </a:txBody>
                  <a:tcPr>
                    <a:solidFill>
                      <a:srgbClr val="1A365D"/>
                    </a:solidFill>
                  </a:tcPr>
                </a:tc>
                <a:tc>
                  <a:txBody>
                    <a:bodyPr wrap="square" anchor="ctr" lIns="50800" rIns="50800" tIns="25400" bIns="25400"/>
                    <a:lstStyle/>
                    <a:p>
                      <a:pPr algn="ctr"/>
                      <a:r>
                        <a:rPr sz="900" b="1">
                          <a:solidFill>
                            <a:srgbClr val="FFFFFF"/>
                          </a:solidFill>
                        </a:rPr>
                        <a:t>% perfect</a:t>
                      </a:r>
                    </a:p>
                  </a:txBody>
                  <a:tcPr>
                    <a:solidFill>
                      <a:srgbClr val="1A365D"/>
                    </a:solidFill>
                  </a:tcPr>
                </a:tc>
                <a:tc>
                  <a:txBody>
                    <a:bodyPr wrap="square" anchor="ctr" lIns="50800" rIns="50800" tIns="25400" bIns="25400"/>
                    <a:lstStyle/>
                    <a:p>
                      <a:pPr algn="ctr"/>
                      <a:r>
                        <a:rPr sz="900" b="1">
                          <a:solidFill>
                            <a:srgbClr val="FFFFFF"/>
                          </a:solidFill>
                        </a:rPr>
                        <a:t>% urgency</a:t>
                      </a:r>
                    </a:p>
                  </a:txBody>
                  <a:tcPr>
                    <a:solidFill>
                      <a:srgbClr val="1A365D"/>
                    </a:solidFill>
                  </a:tcPr>
                </a:tc>
                <a:tc>
                  <a:txBody>
                    <a:bodyPr wrap="square" anchor="ctr" lIns="50800" rIns="50800" tIns="25400" bIns="25400"/>
                    <a:lstStyle/>
                    <a:p>
                      <a:pPr algn="ctr"/>
                      <a:r>
                        <a:rPr sz="900" b="1">
                          <a:solidFill>
                            <a:srgbClr val="FFFFFF"/>
                          </a:solidFill>
                        </a:rPr>
                        <a:t>% keywords</a:t>
                      </a:r>
                    </a:p>
                  </a:txBody>
                  <a:tcPr>
                    <a:solidFill>
                      <a:srgbClr val="1A365D"/>
                    </a:solidFill>
                  </a:tcPr>
                </a:tc>
                <a:tc>
                  <a:txBody>
                    <a:bodyPr wrap="square" anchor="ctr" lIns="50800" rIns="50800" tIns="25400" bIns="25400"/>
                    <a:lstStyle/>
                    <a:p>
                      <a:pPr algn="ctr"/>
                      <a:r>
                        <a:rPr sz="900" b="1">
                          <a:solidFill>
                            <a:srgbClr val="FFFFFF"/>
                          </a:solidFill>
                        </a:rPr>
                        <a:t>% forbidden</a:t>
                      </a:r>
                    </a:p>
                  </a:txBody>
                  <a:tcPr>
                    <a:solidFill>
                      <a:srgbClr val="1A365D"/>
                    </a:solidFill>
                  </a:tcPr>
                </a:tc>
                <a:tc>
                  <a:txBody>
                    <a:bodyPr wrap="square" anchor="ctr" lIns="50800" rIns="50800" tIns="25400" bIns="25400"/>
                    <a:lstStyle/>
                    <a:p>
                      <a:pPr algn="ctr"/>
                      <a:r>
                        <a:rPr sz="900" b="1">
                          <a:solidFill>
                            <a:srgbClr val="FFFFFF"/>
                          </a:solidFill>
                        </a:rPr>
                        <a:t>% knowledge</a:t>
                      </a:r>
                    </a:p>
                  </a:txBody>
                  <a:tcPr>
                    <a:solidFill>
                      <a:srgbClr val="1A365D"/>
                    </a:solidFill>
                  </a:tcPr>
                </a:tc>
                <a:tc>
                  <a:txBody>
                    <a:bodyPr wrap="square" anchor="ctr" lIns="50800" rIns="50800" tIns="25400" bIns="25400"/>
                    <a:lstStyle/>
                    <a:p>
                      <a:pPr algn="ctr"/>
                      <a:r>
                        <a:rPr sz="900" b="1">
                          <a:solidFill>
                            <a:srgbClr val="FFFFFF"/>
                          </a:solidFill>
                        </a:rPr>
                        <a:t>KB/scn</a:t>
                      </a:r>
                    </a:p>
                  </a:txBody>
                  <a:tcPr>
                    <a:solidFill>
                      <a:srgbClr val="1A365D"/>
                    </a:solidFill>
                  </a:tcPr>
                </a:tc>
                <a:tc>
                  <a:txBody>
                    <a:bodyPr wrap="square" anchor="ctr" lIns="50800" rIns="50800" tIns="25400" bIns="25400"/>
                    <a:lstStyle/>
                    <a:p>
                      <a:pPr algn="ctr"/>
                      <a:r>
                        <a:rPr sz="900" b="1">
                          <a:solidFill>
                            <a:srgbClr val="FFFFFF"/>
                          </a:solidFill>
                        </a:rPr>
                        <a:t>% with KB</a:t>
                      </a:r>
                    </a:p>
                  </a:txBody>
                  <a:tcPr>
                    <a:solidFill>
                      <a:srgbClr val="1A365D"/>
                    </a:solidFill>
                  </a:tcPr>
                </a:tc>
                <a:tc>
                  <a:txBody>
                    <a:bodyPr wrap="square" anchor="ctr" lIns="50800" rIns="50800" tIns="25400" bIns="25400"/>
                    <a:lstStyle/>
                    <a:p>
                      <a:pPr algn="ctr"/>
                      <a:r>
                        <a:rPr sz="900" b="1">
                          <a:solidFill>
                            <a:srgbClr val="FFFFFF"/>
                          </a:solidFill>
                        </a:rPr>
                        <a:t>Tools/scn</a:t>
                      </a:r>
                    </a:p>
                  </a:txBody>
                  <a:tcPr>
                    <a:solidFill>
                      <a:srgbClr val="1A365D"/>
                    </a:solidFill>
                  </a:tcPr>
                </a:tc>
              </a:tr>
              <a:tr h="267462">
                <a:tc>
                  <a:txBody>
                    <a:bodyPr wrap="square" anchor="ctr" lIns="50800" rIns="50800" tIns="25400" bIns="25400"/>
                    <a:lstStyle/>
                    <a:p>
                      <a:pPr algn="l"/>
                      <a:r>
                        <a:rPr sz="900" b="0">
                          <a:solidFill>
                            <a:srgbClr val="2D3748"/>
                          </a:solidFill>
                        </a:rPr>
                        <a:t>full</a:t>
                      </a:r>
                    </a:p>
                  </a:txBody>
                  <a:tcPr>
                    <a:solidFill>
                      <a:srgbClr val="FFFFFF"/>
                    </a:solidFill>
                  </a:tcPr>
                </a:tc>
                <a:tc>
                  <a:txBody>
                    <a:bodyPr wrap="square" anchor="ctr" lIns="50800" rIns="50800" tIns="25400" bIns="25400"/>
                    <a:lstStyle/>
                    <a:p>
                      <a:pPr algn="r"/>
                      <a:r>
                        <a:rPr sz="900" b="0">
                          <a:solidFill>
                            <a:srgbClr val="2D3748"/>
                          </a:solidFill>
                        </a:rPr>
                        <a:t>0.9318</a:t>
                      </a:r>
                    </a:p>
                  </a:txBody>
                  <a:tcPr>
                    <a:solidFill>
                      <a:srgbClr val="FFFFFF"/>
                    </a:solidFill>
                  </a:tcPr>
                </a:tc>
                <a:tc>
                  <a:txBody>
                    <a:bodyPr wrap="square" anchor="ctr" lIns="50800" rIns="50800" tIns="25400" bIns="25400"/>
                    <a:lstStyle/>
                    <a:p>
                      <a:pPr algn="r"/>
                      <a:r>
                        <a:rPr sz="900" b="0">
                          <a:solidFill>
                            <a:srgbClr val="2D3748"/>
                          </a:solidFill>
                        </a:rPr>
                        <a:t>72.7%</a:t>
                      </a:r>
                    </a:p>
                  </a:txBody>
                  <a:tcPr>
                    <a:solidFill>
                      <a:srgbClr val="FFFFFF"/>
                    </a:solidFill>
                  </a:tcPr>
                </a:tc>
                <a:tc>
                  <a:txBody>
                    <a:bodyPr wrap="square" anchor="ctr" lIns="50800" rIns="50800" tIns="25400" bIns="25400"/>
                    <a:lstStyle/>
                    <a:p>
                      <a:pPr algn="r"/>
                      <a:r>
                        <a:rPr sz="900" b="0">
                          <a:solidFill>
                            <a:srgbClr val="2D3748"/>
                          </a:solidFill>
                        </a:rPr>
                        <a:t>100%</a:t>
                      </a:r>
                    </a:p>
                  </a:txBody>
                  <a:tcPr>
                    <a:solidFill>
                      <a:srgbClr val="FFFFFF"/>
                    </a:solidFill>
                  </a:tcPr>
                </a:tc>
                <a:tc>
                  <a:txBody>
                    <a:bodyPr wrap="square" anchor="ctr" lIns="50800" rIns="50800" tIns="25400" bIns="25400"/>
                    <a:lstStyle/>
                    <a:p>
                      <a:pPr algn="r"/>
                      <a:r>
                        <a:rPr sz="900" b="0">
                          <a:solidFill>
                            <a:srgbClr val="2D3748"/>
                          </a:solidFill>
                        </a:rPr>
                        <a:t>72.7%</a:t>
                      </a:r>
                    </a:p>
                  </a:txBody>
                  <a:tcPr>
                    <a:solidFill>
                      <a:srgbClr val="FFFFFF"/>
                    </a:solidFill>
                  </a:tcPr>
                </a:tc>
                <a:tc>
                  <a:txBody>
                    <a:bodyPr wrap="square" anchor="ctr" lIns="50800" rIns="50800" tIns="25400" bIns="25400"/>
                    <a:lstStyle/>
                    <a:p>
                      <a:pPr algn="r"/>
                      <a:r>
                        <a:rPr sz="900" b="0">
                          <a:solidFill>
                            <a:srgbClr val="2D3748"/>
                          </a:solidFill>
                        </a:rPr>
                        <a:t>100%</a:t>
                      </a:r>
                    </a:p>
                  </a:txBody>
                  <a:tcPr>
                    <a:solidFill>
                      <a:srgbClr val="FFFFFF"/>
                    </a:solidFill>
                  </a:tcPr>
                </a:tc>
                <a:tc>
                  <a:txBody>
                    <a:bodyPr wrap="square" anchor="ctr" lIns="50800" rIns="50800" tIns="25400" bIns="25400"/>
                    <a:lstStyle/>
                    <a:p>
                      <a:pPr algn="r"/>
                      <a:r>
                        <a:rPr sz="900" b="0">
                          <a:solidFill>
                            <a:srgbClr val="2D3748"/>
                          </a:solidFill>
                        </a:rPr>
                        <a:t>100%</a:t>
                      </a:r>
                    </a:p>
                  </a:txBody>
                  <a:tcPr>
                    <a:solidFill>
                      <a:srgbClr val="FFFFFF"/>
                    </a:solidFill>
                  </a:tcPr>
                </a:tc>
                <a:tc>
                  <a:txBody>
                    <a:bodyPr wrap="square" anchor="ctr" lIns="50800" rIns="50800" tIns="25400" bIns="25400"/>
                    <a:lstStyle/>
                    <a:p>
                      <a:pPr algn="r"/>
                      <a:r>
                        <a:rPr sz="900" b="0">
                          <a:solidFill>
                            <a:srgbClr val="2D3748"/>
                          </a:solidFill>
                        </a:rPr>
                        <a:t>2.61</a:t>
                      </a:r>
                    </a:p>
                  </a:txBody>
                  <a:tcPr>
                    <a:solidFill>
                      <a:srgbClr val="FFFFFF"/>
                    </a:solidFill>
                  </a:tcPr>
                </a:tc>
                <a:tc>
                  <a:txBody>
                    <a:bodyPr wrap="square" anchor="ctr" lIns="50800" rIns="50800" tIns="25400" bIns="25400"/>
                    <a:lstStyle/>
                    <a:p>
                      <a:pPr algn="r"/>
                      <a:r>
                        <a:rPr sz="900" b="0">
                          <a:solidFill>
                            <a:srgbClr val="2D3748"/>
                          </a:solidFill>
                        </a:rPr>
                        <a:t>91%</a:t>
                      </a:r>
                    </a:p>
                  </a:txBody>
                  <a:tcPr>
                    <a:solidFill>
                      <a:srgbClr val="FFFFFF"/>
                    </a:solidFill>
                  </a:tcPr>
                </a:tc>
                <a:tc>
                  <a:txBody>
                    <a:bodyPr wrap="square" anchor="ctr" lIns="50800" rIns="50800" tIns="25400" bIns="25400"/>
                    <a:lstStyle/>
                    <a:p>
                      <a:pPr algn="r"/>
                      <a:r>
                        <a:rPr sz="900" b="0">
                          <a:solidFill>
                            <a:srgbClr val="2D3748"/>
                          </a:solidFill>
                        </a:rPr>
                        <a:t>1.82</a:t>
                      </a:r>
                    </a:p>
                  </a:txBody>
                  <a:tcPr>
                    <a:solidFill>
                      <a:srgbClr val="FFFFFF"/>
                    </a:solidFill>
                  </a:tcPr>
                </a:tc>
              </a:tr>
              <a:tr h="267462">
                <a:tc>
                  <a:txBody>
                    <a:bodyPr wrap="square" anchor="ctr" lIns="50800" rIns="50800" tIns="25400" bIns="25400"/>
                    <a:lstStyle/>
                    <a:p>
                      <a:pPr algn="l"/>
                      <a:r>
                        <a:rPr sz="900" b="0">
                          <a:solidFill>
                            <a:srgbClr val="2D3748"/>
                          </a:solidFill>
                        </a:rPr>
                        <a:t>No-RAG</a:t>
                      </a:r>
                    </a:p>
                  </a:txBody>
                  <a:tcPr>
                    <a:solidFill>
                      <a:srgbClr val="EDF2F7"/>
                    </a:solidFill>
                  </a:tcPr>
                </a:tc>
                <a:tc>
                  <a:txBody>
                    <a:bodyPr wrap="square" anchor="ctr" lIns="50800" rIns="50800" tIns="25400" bIns="25400"/>
                    <a:lstStyle/>
                    <a:p>
                      <a:pPr algn="r"/>
                      <a:r>
                        <a:rPr sz="900" b="0">
                          <a:solidFill>
                            <a:srgbClr val="2D3748"/>
                          </a:solidFill>
                        </a:rPr>
                        <a:t>0.9242</a:t>
                      </a:r>
                    </a:p>
                  </a:txBody>
                  <a:tcPr>
                    <a:solidFill>
                      <a:srgbClr val="EDF2F7"/>
                    </a:solidFill>
                  </a:tcPr>
                </a:tc>
                <a:tc>
                  <a:txBody>
                    <a:bodyPr wrap="square" anchor="ctr" lIns="50800" rIns="50800" tIns="25400" bIns="25400"/>
                    <a:lstStyle/>
                    <a:p>
                      <a:pPr algn="r"/>
                      <a:r>
                        <a:rPr sz="900" b="0">
                          <a:solidFill>
                            <a:srgbClr val="2D3748"/>
                          </a:solidFill>
                        </a:rPr>
                        <a:t>69.7%</a:t>
                      </a:r>
                    </a:p>
                  </a:txBody>
                  <a:tcPr>
                    <a:solidFill>
                      <a:srgbClr val="EDF2F7"/>
                    </a:solidFill>
                  </a:tcPr>
                </a:tc>
                <a:tc>
                  <a:txBody>
                    <a:bodyPr wrap="square" anchor="ctr" lIns="50800" rIns="50800" tIns="25400" bIns="25400"/>
                    <a:lstStyle/>
                    <a:p>
                      <a:pPr algn="r"/>
                      <a:r>
                        <a:rPr sz="900" b="0">
                          <a:solidFill>
                            <a:srgbClr val="2D3748"/>
                          </a:solidFill>
                        </a:rPr>
                        <a:t>100%</a:t>
                      </a:r>
                    </a:p>
                  </a:txBody>
                  <a:tcPr>
                    <a:solidFill>
                      <a:srgbClr val="EDF2F7"/>
                    </a:solidFill>
                  </a:tcPr>
                </a:tc>
                <a:tc>
                  <a:txBody>
                    <a:bodyPr wrap="square" anchor="ctr" lIns="50800" rIns="50800" tIns="25400" bIns="25400"/>
                    <a:lstStyle/>
                    <a:p>
                      <a:pPr algn="r"/>
                      <a:r>
                        <a:rPr sz="900" b="0">
                          <a:solidFill>
                            <a:srgbClr val="2D3748"/>
                          </a:solidFill>
                        </a:rPr>
                        <a:t>69.7%</a:t>
                      </a:r>
                    </a:p>
                  </a:txBody>
                  <a:tcPr>
                    <a:solidFill>
                      <a:srgbClr val="EDF2F7"/>
                    </a:solidFill>
                  </a:tcPr>
                </a:tc>
                <a:tc>
                  <a:txBody>
                    <a:bodyPr wrap="square" anchor="ctr" lIns="50800" rIns="50800" tIns="25400" bIns="25400"/>
                    <a:lstStyle/>
                    <a:p>
                      <a:pPr algn="r"/>
                      <a:r>
                        <a:rPr sz="900" b="0">
                          <a:solidFill>
                            <a:srgbClr val="2D3748"/>
                          </a:solidFill>
                        </a:rPr>
                        <a:t>100%</a:t>
                      </a:r>
                    </a:p>
                  </a:txBody>
                  <a:tcPr>
                    <a:solidFill>
                      <a:srgbClr val="EDF2F7"/>
                    </a:solidFill>
                  </a:tcPr>
                </a:tc>
                <a:tc>
                  <a:txBody>
                    <a:bodyPr wrap="square" anchor="ctr" lIns="50800" rIns="50800" tIns="25400" bIns="25400"/>
                    <a:lstStyle/>
                    <a:p>
                      <a:pPr algn="r"/>
                      <a:r>
                        <a:rPr sz="900" b="0">
                          <a:solidFill>
                            <a:srgbClr val="2D3748"/>
                          </a:solidFill>
                        </a:rPr>
                        <a:t>100%</a:t>
                      </a:r>
                    </a:p>
                  </a:txBody>
                  <a:tcPr>
                    <a:solidFill>
                      <a:srgbClr val="EDF2F7"/>
                    </a:solidFill>
                  </a:tcPr>
                </a:tc>
                <a:tc>
                  <a:txBody>
                    <a:bodyPr wrap="square" anchor="ctr" lIns="50800" rIns="50800" tIns="25400" bIns="25400"/>
                    <a:lstStyle/>
                    <a:p>
                      <a:pPr algn="r"/>
                      <a:r>
                        <a:rPr sz="900" b="0">
                          <a:solidFill>
                            <a:srgbClr val="2D3748"/>
                          </a:solidFill>
                        </a:rPr>
                        <a:t>0.00</a:t>
                      </a:r>
                    </a:p>
                  </a:txBody>
                  <a:tcPr>
                    <a:solidFill>
                      <a:srgbClr val="EDF2F7"/>
                    </a:solidFill>
                  </a:tcPr>
                </a:tc>
                <a:tc>
                  <a:txBody>
                    <a:bodyPr wrap="square" anchor="ctr" lIns="50800" rIns="50800" tIns="25400" bIns="25400"/>
                    <a:lstStyle/>
                    <a:p>
                      <a:pPr algn="r"/>
                      <a:r>
                        <a:rPr sz="900" b="0">
                          <a:solidFill>
                            <a:srgbClr val="2D3748"/>
                          </a:solidFill>
                        </a:rPr>
                        <a:t>0%</a:t>
                      </a:r>
                    </a:p>
                  </a:txBody>
                  <a:tcPr>
                    <a:solidFill>
                      <a:srgbClr val="EDF2F7"/>
                    </a:solidFill>
                  </a:tcPr>
                </a:tc>
                <a:tc>
                  <a:txBody>
                    <a:bodyPr wrap="square" anchor="ctr" lIns="50800" rIns="50800" tIns="25400" bIns="25400"/>
                    <a:lstStyle/>
                    <a:p>
                      <a:pPr algn="r"/>
                      <a:r>
                        <a:rPr sz="900" b="0">
                          <a:solidFill>
                            <a:srgbClr val="2D3748"/>
                          </a:solidFill>
                        </a:rPr>
                        <a:t>1.06</a:t>
                      </a:r>
                    </a:p>
                  </a:txBody>
                  <a:tcPr>
                    <a:solidFill>
                      <a:srgbClr val="EDF2F7"/>
                    </a:solidFill>
                  </a:tcPr>
                </a:tc>
              </a:tr>
              <a:tr h="267462">
                <a:tc>
                  <a:txBody>
                    <a:bodyPr wrap="square" anchor="ctr" lIns="50800" rIns="50800" tIns="25400" bIns="25400"/>
                    <a:lstStyle/>
                    <a:p>
                      <a:pPr algn="l"/>
                      <a:r>
                        <a:rPr sz="900" b="0">
                          <a:solidFill>
                            <a:srgbClr val="2D3748"/>
                          </a:solidFill>
                        </a:rPr>
                        <a:t>No-Trace</a:t>
                      </a:r>
                    </a:p>
                  </a:txBody>
                  <a:tcPr>
                    <a:solidFill>
                      <a:srgbClr val="FFFFFF"/>
                    </a:solidFill>
                  </a:tcPr>
                </a:tc>
                <a:tc>
                  <a:txBody>
                    <a:bodyPr wrap="square" anchor="ctr" lIns="50800" rIns="50800" tIns="25400" bIns="25400"/>
                    <a:lstStyle/>
                    <a:p>
                      <a:pPr algn="r"/>
                      <a:r>
                        <a:rPr sz="900" b="0">
                          <a:solidFill>
                            <a:srgbClr val="2D3748"/>
                          </a:solidFill>
                        </a:rPr>
                        <a:t>0.9015</a:t>
                      </a:r>
                    </a:p>
                  </a:txBody>
                  <a:tcPr>
                    <a:solidFill>
                      <a:srgbClr val="FFFFFF"/>
                    </a:solidFill>
                  </a:tcPr>
                </a:tc>
                <a:tc>
                  <a:txBody>
                    <a:bodyPr wrap="square" anchor="ctr" lIns="50800" rIns="50800" tIns="25400" bIns="25400"/>
                    <a:lstStyle/>
                    <a:p>
                      <a:pPr algn="r"/>
                      <a:r>
                        <a:rPr sz="900" b="0">
                          <a:solidFill>
                            <a:srgbClr val="2D3748"/>
                          </a:solidFill>
                        </a:rPr>
                        <a:t>60.6%</a:t>
                      </a:r>
                    </a:p>
                  </a:txBody>
                  <a:tcPr>
                    <a:solidFill>
                      <a:srgbClr val="FFFFFF"/>
                    </a:solidFill>
                  </a:tcPr>
                </a:tc>
                <a:tc>
                  <a:txBody>
                    <a:bodyPr wrap="square" anchor="ctr" lIns="50800" rIns="50800" tIns="25400" bIns="25400"/>
                    <a:lstStyle/>
                    <a:p>
                      <a:pPr algn="r"/>
                      <a:r>
                        <a:rPr sz="900" b="0">
                          <a:solidFill>
                            <a:srgbClr val="2D3748"/>
                          </a:solidFill>
                        </a:rPr>
                        <a:t>100%</a:t>
                      </a:r>
                    </a:p>
                  </a:txBody>
                  <a:tcPr>
                    <a:solidFill>
                      <a:srgbClr val="FFFFFF"/>
                    </a:solidFill>
                  </a:tcPr>
                </a:tc>
                <a:tc>
                  <a:txBody>
                    <a:bodyPr wrap="square" anchor="ctr" lIns="50800" rIns="50800" tIns="25400" bIns="25400"/>
                    <a:lstStyle/>
                    <a:p>
                      <a:pPr algn="r"/>
                      <a:r>
                        <a:rPr sz="900" b="0">
                          <a:solidFill>
                            <a:srgbClr val="2D3748"/>
                          </a:solidFill>
                        </a:rPr>
                        <a:t>60.6%</a:t>
                      </a:r>
                    </a:p>
                  </a:txBody>
                  <a:tcPr>
                    <a:solidFill>
                      <a:srgbClr val="FFFFFF"/>
                    </a:solidFill>
                  </a:tcPr>
                </a:tc>
                <a:tc>
                  <a:txBody>
                    <a:bodyPr wrap="square" anchor="ctr" lIns="50800" rIns="50800" tIns="25400" bIns="25400"/>
                    <a:lstStyle/>
                    <a:p>
                      <a:pPr algn="r"/>
                      <a:r>
                        <a:rPr sz="900" b="0">
                          <a:solidFill>
                            <a:srgbClr val="2D3748"/>
                          </a:solidFill>
                        </a:rPr>
                        <a:t>100%</a:t>
                      </a:r>
                    </a:p>
                  </a:txBody>
                  <a:tcPr>
                    <a:solidFill>
                      <a:srgbClr val="FFFFFF"/>
                    </a:solidFill>
                  </a:tcPr>
                </a:tc>
                <a:tc>
                  <a:txBody>
                    <a:bodyPr wrap="square" anchor="ctr" lIns="50800" rIns="50800" tIns="25400" bIns="25400"/>
                    <a:lstStyle/>
                    <a:p>
                      <a:pPr algn="r"/>
                      <a:r>
                        <a:rPr sz="900" b="0">
                          <a:solidFill>
                            <a:srgbClr val="2D3748"/>
                          </a:solidFill>
                        </a:rPr>
                        <a:t>100%</a:t>
                      </a:r>
                    </a:p>
                  </a:txBody>
                  <a:tcPr>
                    <a:solidFill>
                      <a:srgbClr val="FFFFFF"/>
                    </a:solidFill>
                  </a:tcPr>
                </a:tc>
                <a:tc>
                  <a:txBody>
                    <a:bodyPr wrap="square" anchor="ctr" lIns="50800" rIns="50800" tIns="25400" bIns="25400"/>
                    <a:lstStyle/>
                    <a:p>
                      <a:pPr algn="r"/>
                      <a:r>
                        <a:rPr sz="900" b="0">
                          <a:solidFill>
                            <a:srgbClr val="2D3748"/>
                          </a:solidFill>
                        </a:rPr>
                        <a:t>2.67</a:t>
                      </a:r>
                    </a:p>
                  </a:txBody>
                  <a:tcPr>
                    <a:solidFill>
                      <a:srgbClr val="FFFFFF"/>
                    </a:solidFill>
                  </a:tcPr>
                </a:tc>
                <a:tc>
                  <a:txBody>
                    <a:bodyPr wrap="square" anchor="ctr" lIns="50800" rIns="50800" tIns="25400" bIns="25400"/>
                    <a:lstStyle/>
                    <a:p>
                      <a:pPr algn="r"/>
                      <a:r>
                        <a:rPr sz="900" b="0">
                          <a:solidFill>
                            <a:srgbClr val="2D3748"/>
                          </a:solidFill>
                        </a:rPr>
                        <a:t>91%</a:t>
                      </a:r>
                    </a:p>
                  </a:txBody>
                  <a:tcPr>
                    <a:solidFill>
                      <a:srgbClr val="FFFFFF"/>
                    </a:solidFill>
                  </a:tcPr>
                </a:tc>
                <a:tc>
                  <a:txBody>
                    <a:bodyPr wrap="square" anchor="ctr" lIns="50800" rIns="50800" tIns="25400" bIns="25400"/>
                    <a:lstStyle/>
                    <a:p>
                      <a:pPr algn="r"/>
                      <a:r>
                        <a:rPr sz="900" b="0">
                          <a:solidFill>
                            <a:srgbClr val="2D3748"/>
                          </a:solidFill>
                        </a:rPr>
                        <a:t>0.00</a:t>
                      </a:r>
                    </a:p>
                  </a:txBody>
                  <a:tcPr>
                    <a:solidFill>
                      <a:srgbClr val="FFFFFF"/>
                    </a:solidFill>
                  </a:tcPr>
                </a:tc>
              </a:tr>
            </a:tbl>
          </a:graphicData>
        </a:graphic>
      </p:graphicFrame>
      <p:sp>
        <p:nvSpPr>
          <p:cNvPr id="6" name="TextBox 5"/>
          <p:cNvSpPr txBox="1"/>
          <p:nvPr/>
        </p:nvSpPr>
        <p:spPr>
          <a:xfrm>
            <a:off x="457200" y="2322576"/>
            <a:ext cx="5486400" cy="2404872"/>
          </a:xfrm>
          <a:prstGeom prst="rect">
            <a:avLst/>
          </a:prstGeom>
          <a:noFill/>
        </p:spPr>
        <p:txBody>
          <a:bodyPr wrap="square" anchor="t">
            <a:spAutoFit/>
          </a:bodyPr>
          <a:lstStyle/>
          <a:p>
            <a:pPr algn="l">
              <a:spcAft>
                <a:spcPts val="300"/>
              </a:spcAft>
            </a:pPr>
            <a:r>
              <a:rPr sz="1700">
                <a:solidFill>
                  <a:srgbClr val="2D3748"/>
                </a:solidFill>
              </a:rPr>
              <a:t>LLM-as-judge mean: 4.10 / 99 · Aggregate heuristic mean: 0.919</a:t>
            </a:r>
          </a:p>
          <a:p>
            <a:pPr algn="l">
              <a:spcAft>
                <a:spcPts val="300"/>
              </a:spcAft>
            </a:pPr>
            <a:r>
              <a:rPr sz="1700">
                <a:solidFill>
                  <a:srgbClr val="2D3748"/>
                </a:solidFill>
              </a:rPr>
              <a:t>Source: agent_eval/results/last_run_three_ablations_with_judge.json (2026-06-03)</a:t>
            </a:r>
          </a:p>
        </p:txBody>
      </p:sp>
      <p:pic>
        <p:nvPicPr>
          <p:cNvPr id="7" name="Picture 6" descr="ablation_summary.png"/>
          <p:cNvPicPr>
            <a:picLocks noChangeAspect="1"/>
          </p:cNvPicPr>
          <p:nvPr/>
        </p:nvPicPr>
        <p:blipFill>
          <a:blip r:embed="rId2"/>
          <a:stretch>
            <a:fillRect/>
          </a:stretch>
        </p:blipFill>
        <p:spPr>
          <a:xfrm>
            <a:off x="6126480" y="1143000"/>
            <a:ext cx="5303520" cy="4572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§24</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24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C5 — No-RAG: grounding collapse (headline finding)</a:t>
            </a:r>
          </a:p>
        </p:txBody>
      </p:sp>
      <p:sp>
        <p:nvSpPr>
          <p:cNvPr id="5" name="TextBox 4"/>
          <p:cNvSpPr txBox="1"/>
          <p:nvPr/>
        </p:nvSpPr>
        <p:spPr>
          <a:xfrm>
            <a:off x="457200" y="1143000"/>
            <a:ext cx="5486400" cy="5257800"/>
          </a:xfrm>
          <a:prstGeom prst="rect">
            <a:avLst/>
          </a:prstGeom>
          <a:noFill/>
        </p:spPr>
        <p:txBody>
          <a:bodyPr wrap="square" anchor="t">
            <a:spAutoFit/>
          </a:bodyPr>
          <a:lstStyle/>
          <a:p>
            <a:pPr algn="l">
              <a:spcAft>
                <a:spcPts val="300"/>
              </a:spcAft>
            </a:pPr>
            <a:r>
              <a:rPr sz="1700">
                <a:solidFill>
                  <a:srgbClr val="2D3748"/>
                </a:solidFill>
              </a:rPr>
              <a:t>No-RAG ablation (retrieve_knowledge disabled)</a:t>
            </a:r>
          </a:p>
          <a:p>
            <a:pPr algn="l">
              <a:spcAft>
                <a:spcPts val="300"/>
              </a:spcAft>
            </a:pPr>
            <a:r>
              <a:rPr sz="1700">
                <a:solidFill>
                  <a:srgbClr val="2D3748"/>
                </a:solidFill>
              </a:rPr>
              <a:t>• Heuristic mean: 0.9242 vs full 0.9318 — almost unchanged</a:t>
            </a:r>
          </a:p>
          <a:p>
            <a:pPr algn="l">
              <a:spcAft>
                <a:spcPts val="300"/>
              </a:spcAft>
            </a:pPr>
            <a:r>
              <a:rPr sz="1700">
                <a:solidFill>
                  <a:srgbClr val="2D3748"/>
                </a:solidFill>
              </a:rPr>
              <a:t>• KB sources / scenario: 2.61 → 0.00</a:t>
            </a:r>
          </a:p>
          <a:p>
            <a:pPr algn="l">
              <a:spcAft>
                <a:spcPts val="300"/>
              </a:spcAft>
            </a:pPr>
            <a:r>
              <a:rPr sz="1700">
                <a:solidFill>
                  <a:srgbClr val="2D3748"/>
                </a:solidFill>
              </a:rPr>
              <a:t>• % with KB: 91% → 0%</a:t>
            </a:r>
          </a:p>
          <a:p>
            <a:pPr algn="l">
              <a:spcAft>
                <a:spcPts val="300"/>
              </a:spcAft>
            </a:pPr>
            <a:r>
              <a:rPr sz="1700">
                <a:solidFill>
                  <a:srgbClr val="2D3748"/>
                </a:solidFill>
              </a:rPr>
              <a:t>• Tool calls / scenario: 1.82 → 1.06</a:t>
            </a:r>
          </a:p>
          <a:p>
            <a:pPr algn="l">
              <a:spcAft>
                <a:spcPts val="300"/>
              </a:spcAft>
            </a:pPr>
          </a:p>
          <a:p>
            <a:pPr algn="l">
              <a:spcAft>
                <a:spcPts val="300"/>
              </a:spcAft>
            </a:pPr>
            <a:r>
              <a:rPr sz="1700">
                <a:solidFill>
                  <a:srgbClr val="2D3748"/>
                </a:solidFill>
              </a:rPr>
              <a:t>Conclusion</a:t>
            </a:r>
          </a:p>
          <a:p>
            <a:pPr algn="l">
              <a:spcAft>
                <a:spcPts val="300"/>
              </a:spcAft>
            </a:pPr>
            <a:r>
              <a:rPr sz="1700">
                <a:solidFill>
                  <a:srgbClr val="2D3748"/>
                </a:solidFill>
              </a:rPr>
              <a:t>Plausible text without playbook citations → not auditable for operators</a:t>
            </a:r>
          </a:p>
          <a:p>
            <a:pPr algn="l">
              <a:spcAft>
                <a:spcPts val="300"/>
              </a:spcAft>
            </a:pPr>
            <a:r>
              <a:rPr sz="1700">
                <a:solidFill>
                  <a:srgbClr val="2D3748"/>
                </a:solidFill>
              </a:rPr>
              <a:t>→ Measure provenance (citation count), not rubric mean alone</a:t>
            </a:r>
          </a:p>
          <a:p>
            <a:pPr algn="l">
              <a:spcAft>
                <a:spcPts val="300"/>
              </a:spcAft>
            </a:pPr>
          </a:p>
          <a:p>
            <a:pPr algn="l">
              <a:spcAft>
                <a:spcPts val="300"/>
              </a:spcAft>
            </a:pPr>
            <a:r>
              <a:rPr sz="1700">
                <a:solidFill>
                  <a:srgbClr val="2D3748"/>
                </a:solidFill>
              </a:rPr>
              <a:t>No-Trace ablation</a:t>
            </a:r>
          </a:p>
          <a:p>
            <a:pPr algn="l">
              <a:spcAft>
                <a:spcPts val="300"/>
              </a:spcAft>
            </a:pPr>
            <a:r>
              <a:rPr sz="1700">
                <a:solidFill>
                  <a:srgbClr val="2D3748"/>
                </a:solidFill>
              </a:rPr>
              <a:t>Mean 0.9015; KB behaviour ≈ full → drop trace, keep grounding under bandwidth limits</a:t>
            </a:r>
          </a:p>
        </p:txBody>
      </p:sp>
      <p:pic>
        <p:nvPicPr>
          <p:cNvPr id="6" name="Picture 5" descr="kb_sources_per_ablation.png"/>
          <p:cNvPicPr>
            <a:picLocks noChangeAspect="1"/>
          </p:cNvPicPr>
          <p:nvPr/>
        </p:nvPicPr>
        <p:blipFill>
          <a:blip r:embed="rId2"/>
          <a:stretch>
            <a:fillRect/>
          </a:stretch>
        </p:blipFill>
        <p:spPr>
          <a:xfrm>
            <a:off x="6126480" y="1143000"/>
            <a:ext cx="5303520" cy="4572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§25</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25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C5 — Score distribution &amp; ablation delta</a:t>
            </a:r>
          </a:p>
        </p:txBody>
      </p:sp>
      <p:sp>
        <p:nvSpPr>
          <p:cNvPr id="5" name="TextBox 4"/>
          <p:cNvSpPr txBox="1"/>
          <p:nvPr/>
        </p:nvSpPr>
        <p:spPr>
          <a:xfrm>
            <a:off x="457200" y="1143000"/>
            <a:ext cx="5486400" cy="5257800"/>
          </a:xfrm>
          <a:prstGeom prst="rect">
            <a:avLst/>
          </a:prstGeom>
          <a:noFill/>
        </p:spPr>
        <p:txBody>
          <a:bodyPr wrap="square" anchor="t">
            <a:spAutoFit/>
          </a:bodyPr>
          <a:lstStyle/>
          <a:p>
            <a:pPr algn="l">
              <a:spcAft>
                <a:spcPts val="300"/>
              </a:spcAft>
            </a:pPr>
            <a:r>
              <a:rPr sz="1700">
                <a:solidFill>
                  <a:srgbClr val="2D3748"/>
                </a:solidFill>
              </a:rPr>
              <a:t>Score histogram</a:t>
            </a:r>
          </a:p>
          <a:p>
            <a:pPr algn="l">
              <a:spcAft>
                <a:spcPts val="300"/>
              </a:spcAft>
            </a:pPr>
            <a:r>
              <a:rPr sz="1700">
                <a:solidFill>
                  <a:srgbClr val="2D3748"/>
                </a:solidFill>
              </a:rPr>
              <a:t>• Three ablations compared; 0.90 quality line (dashed)</a:t>
            </a:r>
          </a:p>
          <a:p>
            <a:pPr algn="l">
              <a:spcAft>
                <a:spcPts val="300"/>
              </a:spcAft>
            </a:pPr>
          </a:p>
          <a:p>
            <a:pPr algn="l">
              <a:spcAft>
                <a:spcPts val="300"/>
              </a:spcAft>
            </a:pPr>
            <a:r>
              <a:rPr sz="1700">
                <a:solidFill>
                  <a:srgbClr val="2D3748"/>
                </a:solidFill>
              </a:rPr>
              <a:t>Ablation diff (full − ablated)</a:t>
            </a:r>
          </a:p>
          <a:p>
            <a:pPr algn="l">
              <a:spcAft>
                <a:spcPts val="300"/>
              </a:spcAft>
            </a:pPr>
            <a:r>
              <a:rPr sz="1700">
                <a:solidFill>
                  <a:srgbClr val="2D3748"/>
                </a:solidFill>
              </a:rPr>
              <a:t>• Red bars: quality loss when component removed</a:t>
            </a:r>
          </a:p>
          <a:p>
            <a:pPr algn="l">
              <a:spcAft>
                <a:spcPts val="300"/>
              </a:spcAft>
            </a:pPr>
            <a:r>
              <a:rPr sz="1700">
                <a:solidFill>
                  <a:srgbClr val="2D3748"/>
                </a:solidFill>
              </a:rPr>
              <a:t>• No-RAG / No-Trace impact varies by scenario</a:t>
            </a:r>
          </a:p>
          <a:p>
            <a:pPr algn="l">
              <a:spcAft>
                <a:spcPts val="300"/>
              </a:spcAft>
            </a:pPr>
          </a:p>
          <a:p>
            <a:pPr algn="l">
              <a:spcAft>
                <a:spcPts val="300"/>
              </a:spcAft>
            </a:pPr>
            <a:r>
              <a:rPr sz="1700">
                <a:solidFill>
                  <a:srgbClr val="2D3748"/>
                </a:solidFill>
              </a:rPr>
              <a:t>32 sub-1.0 records — mostly keywords slot failures, not urgency/forbidden</a:t>
            </a:r>
          </a:p>
        </p:txBody>
      </p:sp>
      <p:pic>
        <p:nvPicPr>
          <p:cNvPr id="6" name="Picture 5" descr="score_histogram.png"/>
          <p:cNvPicPr>
            <a:picLocks noChangeAspect="1"/>
          </p:cNvPicPr>
          <p:nvPr/>
        </p:nvPicPr>
        <p:blipFill>
          <a:blip r:embed="rId2"/>
          <a:stretch>
            <a:fillRect/>
          </a:stretch>
        </p:blipFill>
        <p:spPr>
          <a:xfrm>
            <a:off x="6080760" y="1143000"/>
            <a:ext cx="5029200" cy="2377440"/>
          </a:xfrm>
          <a:prstGeom prst="rect">
            <a:avLst/>
          </a:prstGeom>
        </p:spPr>
      </p:pic>
      <p:pic>
        <p:nvPicPr>
          <p:cNvPr id="7" name="Picture 6" descr="ablation_diff.png"/>
          <p:cNvPicPr>
            <a:picLocks noChangeAspect="1"/>
          </p:cNvPicPr>
          <p:nvPr/>
        </p:nvPicPr>
        <p:blipFill>
          <a:blip r:embed="rId3"/>
          <a:stretch>
            <a:fillRect/>
          </a:stretch>
        </p:blipFill>
        <p:spPr>
          <a:xfrm>
            <a:off x="6080760" y="3657600"/>
            <a:ext cx="5029200" cy="237744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§26</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26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C5 — Tool calls, ReAct depth &amp; failure taxonomy</a:t>
            </a:r>
          </a:p>
        </p:txBody>
      </p:sp>
      <p:sp>
        <p:nvSpPr>
          <p:cNvPr id="5" name="TextBox 4"/>
          <p:cNvSpPr txBox="1"/>
          <p:nvPr/>
        </p:nvSpPr>
        <p:spPr>
          <a:xfrm>
            <a:off x="457200" y="1143000"/>
            <a:ext cx="5486400" cy="5257800"/>
          </a:xfrm>
          <a:prstGeom prst="rect">
            <a:avLst/>
          </a:prstGeom>
          <a:noFill/>
        </p:spPr>
        <p:txBody>
          <a:bodyPr wrap="square" anchor="t">
            <a:spAutoFit/>
          </a:bodyPr>
          <a:lstStyle/>
          <a:p>
            <a:pPr algn="l">
              <a:spcAft>
                <a:spcPts val="300"/>
              </a:spcAft>
            </a:pPr>
            <a:r>
              <a:rPr sz="1700">
                <a:solidFill>
                  <a:srgbClr val="2D3748"/>
                </a:solidFill>
              </a:rPr>
              <a:t>Tool calls &amp; ReAct depth (full ablation)</a:t>
            </a:r>
          </a:p>
          <a:p>
            <a:pPr algn="l">
              <a:spcAft>
                <a:spcPts val="300"/>
              </a:spcAft>
            </a:pPr>
            <a:r>
              <a:rPr sz="1700">
                <a:solidFill>
                  <a:srgbClr val="2D3748"/>
                </a:solidFill>
              </a:rPr>
              <a:t>• ~1.82 tool calls / scenario · ~5.82 ReAct steps / scenario</a:t>
            </a:r>
          </a:p>
          <a:p>
            <a:pPr algn="l">
              <a:spcAft>
                <a:spcPts val="300"/>
              </a:spcAft>
            </a:pPr>
            <a:r>
              <a:rPr sz="1700">
                <a:solidFill>
                  <a:srgbClr val="2D3748"/>
                </a:solidFill>
              </a:rPr>
              <a:t>• No-RAG: fewer tools (no retrieve_knowledge)</a:t>
            </a:r>
          </a:p>
          <a:p>
            <a:pPr algn="l">
              <a:spcAft>
                <a:spcPts val="300"/>
              </a:spcAft>
            </a:pPr>
            <a:r>
              <a:rPr sz="1700">
                <a:solidFill>
                  <a:srgbClr val="2D3748"/>
                </a:solidFill>
              </a:rPr>
              <a:t>• No-Trace: ReAct steps → 1.0 (recommendation only)</a:t>
            </a:r>
          </a:p>
          <a:p>
            <a:pPr algn="l">
              <a:spcAft>
                <a:spcPts val="300"/>
              </a:spcAft>
            </a:pPr>
          </a:p>
          <a:p>
            <a:pPr algn="l">
              <a:spcAft>
                <a:spcPts val="300"/>
              </a:spcAft>
            </a:pPr>
            <a:r>
              <a:rPr sz="1700">
                <a:solidFill>
                  <a:srgbClr val="2D3748"/>
                </a:solidFill>
              </a:rPr>
              <a:t>Failure taxonomy</a:t>
            </a:r>
          </a:p>
          <a:p>
            <a:pPr algn="l">
              <a:spcAft>
                <a:spcPts val="300"/>
              </a:spcAft>
            </a:pPr>
            <a:r>
              <a:rPr sz="1700">
                <a:solidFill>
                  <a:srgbClr val="2D3748"/>
                </a:solidFill>
              </a:rPr>
              <a:t>• 32 scores &lt;1.0: predominantly keywords mismatch</a:t>
            </a:r>
          </a:p>
          <a:p>
            <a:pPr algn="l">
              <a:spcAft>
                <a:spcPts val="300"/>
              </a:spcAft>
            </a:pPr>
            <a:r>
              <a:rPr sz="1700">
                <a:solidFill>
                  <a:srgbClr val="2D3748"/>
                </a:solidFill>
              </a:rPr>
              <a:t>• urgency / forbidden / knowledge slot failures rare</a:t>
            </a:r>
          </a:p>
          <a:p>
            <a:pPr algn="l">
              <a:spcAft>
                <a:spcPts val="300"/>
              </a:spcAft>
            </a:pPr>
          </a:p>
          <a:p>
            <a:pPr algn="l">
              <a:spcAft>
                <a:spcPts val="300"/>
              </a:spcAft>
            </a:pPr>
            <a:r>
              <a:rPr sz="1700">
                <a:solidFill>
                  <a:srgbClr val="2D3748"/>
                </a:solidFill>
              </a:rPr>
              <a:t>Planner fallback: ollama_plan_fallback_mock in logs — chain still returns HTTP 200</a:t>
            </a:r>
          </a:p>
        </p:txBody>
      </p:sp>
      <p:pic>
        <p:nvPicPr>
          <p:cNvPr id="6" name="Picture 5" descr="tool_calls_reasoning.png"/>
          <p:cNvPicPr>
            <a:picLocks noChangeAspect="1"/>
          </p:cNvPicPr>
          <p:nvPr/>
        </p:nvPicPr>
        <p:blipFill>
          <a:blip r:embed="rId2"/>
          <a:stretch>
            <a:fillRect/>
          </a:stretch>
        </p:blipFill>
        <p:spPr>
          <a:xfrm>
            <a:off x="6080760" y="1143000"/>
            <a:ext cx="5029200" cy="2377440"/>
          </a:xfrm>
          <a:prstGeom prst="rect">
            <a:avLst/>
          </a:prstGeom>
        </p:spPr>
      </p:pic>
      <p:pic>
        <p:nvPicPr>
          <p:cNvPr id="7" name="Picture 6" descr="failure_taxonomy.png"/>
          <p:cNvPicPr>
            <a:picLocks noChangeAspect="1"/>
          </p:cNvPicPr>
          <p:nvPr/>
        </p:nvPicPr>
        <p:blipFill>
          <a:blip r:embed="rId3"/>
          <a:stretch>
            <a:fillRect/>
          </a:stretch>
        </p:blipFill>
        <p:spPr>
          <a:xfrm>
            <a:off x="6080760" y="3657600"/>
            <a:ext cx="5029200" cy="237744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§27</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27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C6 — Three-mode integration latency</a:t>
            </a:r>
          </a:p>
        </p:txBody>
      </p:sp>
      <p:sp>
        <p:nvSpPr>
          <p:cNvPr id="5" name="TextBox 4"/>
          <p:cNvSpPr txBox="1"/>
          <p:nvPr/>
        </p:nvSpPr>
        <p:spPr>
          <a:xfrm>
            <a:off x="457200" y="1143000"/>
            <a:ext cx="5486400" cy="1239012"/>
          </a:xfrm>
          <a:prstGeom prst="rect">
            <a:avLst/>
          </a:prstGeom>
          <a:noFill/>
        </p:spPr>
        <p:txBody>
          <a:bodyPr wrap="square" anchor="t">
            <a:spAutoFit/>
          </a:bodyPr>
          <a:lstStyle/>
          <a:p>
            <a:pPr algn="l">
              <a:spcAft>
                <a:spcPts val="300"/>
              </a:spcAft>
            </a:pPr>
            <a:r>
              <a:rPr sz="1700">
                <a:solidFill>
                  <a:srgbClr val="2D3748"/>
                </a:solidFill>
              </a:rPr>
              <a:t>Setup: live edge :8000 + agent :8001 · 50 iterations/mode (3 warmup discarded)</a:t>
            </a:r>
          </a:p>
        </p:txBody>
      </p:sp>
      <p:graphicFrame>
        <p:nvGraphicFramePr>
          <p:cNvPr id="6" name="Table 5"/>
          <p:cNvGraphicFramePr>
            <a:graphicFrameLocks noGrp="1"/>
          </p:cNvGraphicFramePr>
          <p:nvPr/>
        </p:nvGraphicFramePr>
        <p:xfrm>
          <a:off x="457200" y="2491740"/>
          <a:ext cx="5486397" cy="1069848"/>
        </p:xfrm>
        <a:graphic>
          <a:graphicData uri="http://schemas.openxmlformats.org/drawingml/2006/table">
            <a:tbl>
              <a:tblPr firstRow="1" bandRow="1">
                <a:tableStyleId>{5C22544A-7EE6-4342-B048-85BDC9FD1C3A}</a:tableStyleId>
              </a:tblPr>
              <a:tblGrid>
                <a:gridCol w="1384418"/>
                <a:gridCol w="1025495"/>
                <a:gridCol w="1025495"/>
                <a:gridCol w="1128044"/>
                <a:gridCol w="922945"/>
              </a:tblGrid>
              <a:tr h="267462">
                <a:tc>
                  <a:txBody>
                    <a:bodyPr wrap="square" anchor="ctr" lIns="50800" rIns="50800" tIns="25400" bIns="25400"/>
                    <a:lstStyle/>
                    <a:p>
                      <a:pPr algn="ctr"/>
                      <a:r>
                        <a:rPr sz="1100" b="1">
                          <a:solidFill>
                            <a:srgbClr val="FFFFFF"/>
                          </a:solidFill>
                        </a:rPr>
                        <a:t>Mode</a:t>
                      </a:r>
                    </a:p>
                  </a:txBody>
                  <a:tcPr>
                    <a:solidFill>
                      <a:srgbClr val="1A365D"/>
                    </a:solidFill>
                  </a:tcPr>
                </a:tc>
                <a:tc>
                  <a:txBody>
                    <a:bodyPr wrap="square" anchor="ctr" lIns="50800" rIns="50800" tIns="25400" bIns="25400"/>
                    <a:lstStyle/>
                    <a:p>
                      <a:pPr algn="ctr"/>
                      <a:r>
                        <a:rPr sz="1100" b="1">
                          <a:solidFill>
                            <a:srgbClr val="FFFFFF"/>
                          </a:solidFill>
                        </a:rPr>
                        <a:t>P50 (ms)</a:t>
                      </a:r>
                    </a:p>
                  </a:txBody>
                  <a:tcPr>
                    <a:solidFill>
                      <a:srgbClr val="1A365D"/>
                    </a:solidFill>
                  </a:tcPr>
                </a:tc>
                <a:tc>
                  <a:txBody>
                    <a:bodyPr wrap="square" anchor="ctr" lIns="50800" rIns="50800" tIns="25400" bIns="25400"/>
                    <a:lstStyle/>
                    <a:p>
                      <a:pPr algn="ctr"/>
                      <a:r>
                        <a:rPr sz="1100" b="1">
                          <a:solidFill>
                            <a:srgbClr val="FFFFFF"/>
                          </a:solidFill>
                        </a:rPr>
                        <a:t>P95 (ms)</a:t>
                      </a:r>
                    </a:p>
                  </a:txBody>
                  <a:tcPr>
                    <a:solidFill>
                      <a:srgbClr val="1A365D"/>
                    </a:solidFill>
                  </a:tcPr>
                </a:tc>
                <a:tc>
                  <a:txBody>
                    <a:bodyPr wrap="square" anchor="ctr" lIns="50800" rIns="50800" tIns="25400" bIns="25400"/>
                    <a:lstStyle/>
                    <a:p>
                      <a:pPr algn="ctr"/>
                      <a:r>
                        <a:rPr sz="1100" b="1">
                          <a:solidFill>
                            <a:srgbClr val="FFFFFF"/>
                          </a:solidFill>
                        </a:rPr>
                        <a:t>P99 (ms)</a:t>
                      </a:r>
                    </a:p>
                  </a:txBody>
                  <a:tcPr>
                    <a:solidFill>
                      <a:srgbClr val="1A365D"/>
                    </a:solidFill>
                  </a:tcPr>
                </a:tc>
                <a:tc>
                  <a:txBody>
                    <a:bodyPr wrap="square" anchor="ctr" lIns="50800" rIns="50800" tIns="25400" bIns="25400"/>
                    <a:lstStyle/>
                    <a:p>
                      <a:pPr algn="l"/>
                      <a:r>
                        <a:rPr sz="1100" b="1">
                          <a:solidFill>
                            <a:srgbClr val="FFFFFF"/>
                          </a:solidFill>
                        </a:rPr>
                        <a:t>10 s P95 budget</a:t>
                      </a:r>
                    </a:p>
                  </a:txBody>
                  <a:tcPr>
                    <a:solidFill>
                      <a:srgbClr val="1A365D"/>
                    </a:solidFill>
                  </a:tcPr>
                </a:tc>
              </a:tr>
              <a:tr h="267462">
                <a:tc>
                  <a:txBody>
                    <a:bodyPr wrap="square" anchor="ctr" lIns="50800" rIns="50800" tIns="25400" bIns="25400"/>
                    <a:lstStyle/>
                    <a:p>
                      <a:pPr algn="l"/>
                      <a:r>
                        <a:rPr sz="1100" b="0">
                          <a:solidFill>
                            <a:srgbClr val="2D3748"/>
                          </a:solidFill>
                        </a:rPr>
                        <a:t>edge_only</a:t>
                      </a:r>
                    </a:p>
                  </a:txBody>
                  <a:tcPr>
                    <a:solidFill>
                      <a:srgbClr val="FFFFFF"/>
                    </a:solidFill>
                  </a:tcPr>
                </a:tc>
                <a:tc>
                  <a:txBody>
                    <a:bodyPr wrap="square" anchor="ctr" lIns="50800" rIns="50800" tIns="25400" bIns="25400"/>
                    <a:lstStyle/>
                    <a:p>
                      <a:pPr algn="r"/>
                      <a:r>
                        <a:rPr sz="1100" b="0">
                          <a:solidFill>
                            <a:srgbClr val="2D3748"/>
                          </a:solidFill>
                        </a:rPr>
                        <a:t>4.50</a:t>
                      </a:r>
                    </a:p>
                  </a:txBody>
                  <a:tcPr>
                    <a:solidFill>
                      <a:srgbClr val="FFFFFF"/>
                    </a:solidFill>
                  </a:tcPr>
                </a:tc>
                <a:tc>
                  <a:txBody>
                    <a:bodyPr wrap="square" anchor="ctr" lIns="50800" rIns="50800" tIns="25400" bIns="25400"/>
                    <a:lstStyle/>
                    <a:p>
                      <a:pPr algn="r"/>
                      <a:r>
                        <a:rPr sz="1100" b="0">
                          <a:solidFill>
                            <a:srgbClr val="2D3748"/>
                          </a:solidFill>
                        </a:rPr>
                        <a:t>5.69</a:t>
                      </a:r>
                    </a:p>
                  </a:txBody>
                  <a:tcPr>
                    <a:solidFill>
                      <a:srgbClr val="FFFFFF"/>
                    </a:solidFill>
                  </a:tcPr>
                </a:tc>
                <a:tc>
                  <a:txBody>
                    <a:bodyPr wrap="square" anchor="ctr" lIns="50800" rIns="50800" tIns="25400" bIns="25400"/>
                    <a:lstStyle/>
                    <a:p>
                      <a:pPr algn="r"/>
                      <a:r>
                        <a:rPr sz="1100" b="0">
                          <a:solidFill>
                            <a:srgbClr val="2D3748"/>
                          </a:solidFill>
                        </a:rPr>
                        <a:t>6.47</a:t>
                      </a:r>
                    </a:p>
                  </a:txBody>
                  <a:tcPr>
                    <a:solidFill>
                      <a:srgbClr val="FFFFFF"/>
                    </a:solidFill>
                  </a:tcPr>
                </a:tc>
                <a:tc>
                  <a:txBody>
                    <a:bodyPr wrap="square" anchor="ctr" lIns="50800" rIns="50800" tIns="25400" bIns="25400"/>
                    <a:lstStyle/>
                    <a:p>
                      <a:pPr algn="l"/>
                      <a:r>
                        <a:rPr sz="1100" b="0">
                          <a:solidFill>
                            <a:srgbClr val="2B6CB0"/>
                          </a:solidFill>
                        </a:rPr>
                        <a:t>✅</a:t>
                      </a:r>
                    </a:p>
                  </a:txBody>
                  <a:tcPr>
                    <a:solidFill>
                      <a:srgbClr val="FFFFFF"/>
                    </a:solidFill>
                  </a:tcPr>
                </a:tc>
              </a:tr>
              <a:tr h="267462">
                <a:tc>
                  <a:txBody>
                    <a:bodyPr wrap="square" anchor="ctr" lIns="50800" rIns="50800" tIns="25400" bIns="25400"/>
                    <a:lstStyle/>
                    <a:p>
                      <a:pPr algn="l"/>
                      <a:r>
                        <a:rPr sz="1100" b="0">
                          <a:solidFill>
                            <a:srgbClr val="2D3748"/>
                          </a:solidFill>
                        </a:rPr>
                        <a:t>full</a:t>
                      </a:r>
                    </a:p>
                  </a:txBody>
                  <a:tcPr>
                    <a:solidFill>
                      <a:srgbClr val="EDF2F7"/>
                    </a:solidFill>
                  </a:tcPr>
                </a:tc>
                <a:tc>
                  <a:txBody>
                    <a:bodyPr wrap="square" anchor="ctr" lIns="50800" rIns="50800" tIns="25400" bIns="25400"/>
                    <a:lstStyle/>
                    <a:p>
                      <a:pPr algn="r"/>
                      <a:r>
                        <a:rPr sz="1100" b="0">
                          <a:solidFill>
                            <a:srgbClr val="2D3748"/>
                          </a:solidFill>
                        </a:rPr>
                        <a:t>8438</a:t>
                      </a:r>
                    </a:p>
                  </a:txBody>
                  <a:tcPr>
                    <a:solidFill>
                      <a:srgbClr val="EDF2F7"/>
                    </a:solidFill>
                  </a:tcPr>
                </a:tc>
                <a:tc>
                  <a:txBody>
                    <a:bodyPr wrap="square" anchor="ctr" lIns="50800" rIns="50800" tIns="25400" bIns="25400"/>
                    <a:lstStyle/>
                    <a:p>
                      <a:pPr algn="r"/>
                      <a:r>
                        <a:rPr sz="1100" b="0">
                          <a:solidFill>
                            <a:srgbClr val="2D3748"/>
                          </a:solidFill>
                        </a:rPr>
                        <a:t>9803</a:t>
                      </a:r>
                    </a:p>
                  </a:txBody>
                  <a:tcPr>
                    <a:solidFill>
                      <a:srgbClr val="EDF2F7"/>
                    </a:solidFill>
                  </a:tcPr>
                </a:tc>
                <a:tc>
                  <a:txBody>
                    <a:bodyPr wrap="square" anchor="ctr" lIns="50800" rIns="50800" tIns="25400" bIns="25400"/>
                    <a:lstStyle/>
                    <a:p>
                      <a:pPr algn="r"/>
                      <a:r>
                        <a:rPr sz="1100" b="0">
                          <a:solidFill>
                            <a:srgbClr val="2D3748"/>
                          </a:solidFill>
                        </a:rPr>
                        <a:t>10001</a:t>
                      </a:r>
                    </a:p>
                  </a:txBody>
                  <a:tcPr>
                    <a:solidFill>
                      <a:srgbClr val="EDF2F7"/>
                    </a:solidFill>
                  </a:tcPr>
                </a:tc>
                <a:tc>
                  <a:txBody>
                    <a:bodyPr wrap="square" anchor="ctr" lIns="50800" rIns="50800" tIns="25400" bIns="25400"/>
                    <a:lstStyle/>
                    <a:p>
                      <a:pPr algn="l"/>
                      <a:r>
                        <a:rPr sz="1100" b="0">
                          <a:solidFill>
                            <a:srgbClr val="2B6CB0"/>
                          </a:solidFill>
                        </a:rPr>
                        <a:t>✅</a:t>
                      </a:r>
                    </a:p>
                  </a:txBody>
                  <a:tcPr>
                    <a:solidFill>
                      <a:srgbClr val="EDF2F7"/>
                    </a:solidFill>
                  </a:tcPr>
                </a:tc>
              </a:tr>
              <a:tr h="267462">
                <a:tc>
                  <a:txBody>
                    <a:bodyPr wrap="square" anchor="ctr" lIns="50800" rIns="50800" tIns="25400" bIns="25400"/>
                    <a:lstStyle/>
                    <a:p>
                      <a:pPr algn="l"/>
                      <a:r>
                        <a:rPr sz="1100" b="0">
                          <a:solidFill>
                            <a:srgbClr val="2D3748"/>
                          </a:solidFill>
                        </a:rPr>
                        <a:t>cloud_only</a:t>
                      </a:r>
                    </a:p>
                  </a:txBody>
                  <a:tcPr>
                    <a:solidFill>
                      <a:srgbClr val="FFFFFF"/>
                    </a:solidFill>
                  </a:tcPr>
                </a:tc>
                <a:tc>
                  <a:txBody>
                    <a:bodyPr wrap="square" anchor="ctr" lIns="50800" rIns="50800" tIns="25400" bIns="25400"/>
                    <a:lstStyle/>
                    <a:p>
                      <a:pPr algn="r"/>
                      <a:r>
                        <a:rPr sz="1100" b="0">
                          <a:solidFill>
                            <a:srgbClr val="2D3748"/>
                          </a:solidFill>
                        </a:rPr>
                        <a:t>9163</a:t>
                      </a:r>
                    </a:p>
                  </a:txBody>
                  <a:tcPr>
                    <a:solidFill>
                      <a:srgbClr val="FFFFFF"/>
                    </a:solidFill>
                  </a:tcPr>
                </a:tc>
                <a:tc>
                  <a:txBody>
                    <a:bodyPr wrap="square" anchor="ctr" lIns="50800" rIns="50800" tIns="25400" bIns="25400"/>
                    <a:lstStyle/>
                    <a:p>
                      <a:pPr algn="r"/>
                      <a:r>
                        <a:rPr sz="1100" b="0">
                          <a:solidFill>
                            <a:srgbClr val="2D3748"/>
                          </a:solidFill>
                        </a:rPr>
                        <a:t>9941</a:t>
                      </a:r>
                    </a:p>
                  </a:txBody>
                  <a:tcPr>
                    <a:solidFill>
                      <a:srgbClr val="FFFFFF"/>
                    </a:solidFill>
                  </a:tcPr>
                </a:tc>
                <a:tc>
                  <a:txBody>
                    <a:bodyPr wrap="square" anchor="ctr" lIns="50800" rIns="50800" tIns="25400" bIns="25400"/>
                    <a:lstStyle/>
                    <a:p>
                      <a:pPr algn="r"/>
                      <a:r>
                        <a:rPr sz="1100" b="0">
                          <a:solidFill>
                            <a:srgbClr val="2D3748"/>
                          </a:solidFill>
                        </a:rPr>
                        <a:t>10626</a:t>
                      </a:r>
                    </a:p>
                  </a:txBody>
                  <a:tcPr>
                    <a:solidFill>
                      <a:srgbClr val="FFFFFF"/>
                    </a:solidFill>
                  </a:tcPr>
                </a:tc>
                <a:tc>
                  <a:txBody>
                    <a:bodyPr wrap="square" anchor="ctr" lIns="50800" rIns="50800" tIns="25400" bIns="25400"/>
                    <a:lstStyle/>
                    <a:p>
                      <a:pPr algn="l"/>
                      <a:r>
                        <a:rPr sz="1100" b="0">
                          <a:solidFill>
                            <a:srgbClr val="2B6CB0"/>
                          </a:solidFill>
                        </a:rPr>
                        <a:t>✅</a:t>
                      </a:r>
                    </a:p>
                  </a:txBody>
                  <a:tcPr>
                    <a:solidFill>
                      <a:srgbClr val="FFFFFF"/>
                    </a:solidFill>
                  </a:tcPr>
                </a:tc>
              </a:tr>
            </a:tbl>
          </a:graphicData>
        </a:graphic>
      </p:graphicFrame>
      <p:sp>
        <p:nvSpPr>
          <p:cNvPr id="7" name="TextBox 6"/>
          <p:cNvSpPr txBox="1"/>
          <p:nvPr/>
        </p:nvSpPr>
        <p:spPr>
          <a:xfrm>
            <a:off x="457200" y="3671316"/>
            <a:ext cx="5486400" cy="2729484"/>
          </a:xfrm>
          <a:prstGeom prst="rect">
            <a:avLst/>
          </a:prstGeom>
          <a:noFill/>
        </p:spPr>
        <p:txBody>
          <a:bodyPr wrap="square" anchor="t">
            <a:spAutoFit/>
          </a:bodyPr>
          <a:lstStyle/>
          <a:p>
            <a:pPr algn="l">
              <a:spcAft>
                <a:spcPts val="300"/>
              </a:spcAft>
            </a:pPr>
            <a:r>
              <a:rPr sz="1700">
                <a:solidFill>
                  <a:srgbClr val="2D3748"/>
                </a:solidFill>
              </a:rPr>
              <a:t>full-mode decomposition</a:t>
            </a:r>
          </a:p>
          <a:p>
            <a:pPr algn="l">
              <a:spcAft>
                <a:spcPts val="300"/>
              </a:spcAft>
            </a:pPr>
            <a:r>
              <a:rPr sz="1700">
                <a:solidFill>
                  <a:srgbClr val="2D3748"/>
                </a:solidFill>
              </a:rPr>
              <a:t>• Edge /predict P95: 26.27 ms (&lt;1%)</a:t>
            </a:r>
          </a:p>
          <a:p>
            <a:pPr algn="l">
              <a:spcAft>
                <a:spcPts val="300"/>
              </a:spcAft>
            </a:pPr>
            <a:r>
              <a:rPr sz="1700">
                <a:solidFill>
                  <a:srgbClr val="2D3748"/>
                </a:solidFill>
              </a:rPr>
              <a:t>• Agent /recommend P95: 9785 ms (&gt;99%) — Ollama bottleneck</a:t>
            </a:r>
          </a:p>
          <a:p>
            <a:pPr algn="l">
              <a:spcAft>
                <a:spcPts val="300"/>
              </a:spcAft>
            </a:pPr>
          </a:p>
          <a:p>
            <a:pPr algn="l">
              <a:spcAft>
                <a:spcPts val="300"/>
              </a:spcAft>
            </a:pPr>
            <a:r>
              <a:rPr sz="1700">
                <a:solidFill>
                  <a:srgbClr val="2D3748"/>
                </a:solidFill>
              </a:rPr>
              <a:t>Generated: 2026-06-03T16:17Z · Source: reports/integration_eval.md</a:t>
            </a:r>
          </a:p>
        </p:txBody>
      </p:sp>
      <p:pic>
        <p:nvPicPr>
          <p:cNvPr id="8" name="Picture 7" descr="01_latency_bars.png"/>
          <p:cNvPicPr>
            <a:picLocks noChangeAspect="1"/>
          </p:cNvPicPr>
          <p:nvPr/>
        </p:nvPicPr>
        <p:blipFill>
          <a:blip r:embed="rId2"/>
          <a:stretch>
            <a:fillRect/>
          </a:stretch>
        </p:blipFill>
        <p:spPr>
          <a:xfrm>
            <a:off x="6126480" y="1143000"/>
            <a:ext cx="5303520" cy="4572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§28</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28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C6 — Mode interpretation &amp; deployment guidance</a:t>
            </a:r>
          </a:p>
        </p:txBody>
      </p:sp>
      <p:sp>
        <p:nvSpPr>
          <p:cNvPr id="5" name="TextBox 4"/>
          <p:cNvSpPr txBox="1"/>
          <p:nvPr/>
        </p:nvSpPr>
        <p:spPr>
          <a:xfrm>
            <a:off x="457200" y="1143000"/>
            <a:ext cx="5486400" cy="5257800"/>
          </a:xfrm>
          <a:prstGeom prst="rect">
            <a:avLst/>
          </a:prstGeom>
          <a:noFill/>
        </p:spPr>
        <p:txBody>
          <a:bodyPr wrap="square" anchor="t">
            <a:spAutoFit/>
          </a:bodyPr>
          <a:lstStyle/>
          <a:p>
            <a:pPr algn="l">
              <a:spcAft>
                <a:spcPts val="300"/>
              </a:spcAft>
            </a:pPr>
            <a:r>
              <a:rPr sz="1700">
                <a:solidFill>
                  <a:srgbClr val="2D3748"/>
                </a:solidFill>
              </a:rPr>
              <a:t>1. edge_only = graceful-degradation floor (5.69 ms P95)</a:t>
            </a:r>
          </a:p>
          <a:p>
            <a:pPr algn="l">
              <a:spcAft>
                <a:spcPts val="300"/>
              </a:spcAft>
            </a:pPr>
            <a:r>
              <a:rPr sz="1700">
                <a:solidFill>
                  <a:srgbClr val="2D3748"/>
                </a:solidFill>
              </a:rPr>
              <a:t>   Operators still receive typed Alerts when Agent/LLM is down</a:t>
            </a:r>
          </a:p>
          <a:p>
            <a:pPr algn="l">
              <a:spcAft>
                <a:spcPts val="300"/>
              </a:spcAft>
            </a:pPr>
          </a:p>
          <a:p>
            <a:pPr algn="l">
              <a:spcAft>
                <a:spcPts val="300"/>
              </a:spcAft>
            </a:pPr>
            <a:r>
              <a:rPr sz="1700">
                <a:solidFill>
                  <a:srgbClr val="2D3748"/>
                </a:solidFill>
              </a:rPr>
              <a:t>2. cloud_only P95 9941 ms ≈ full 9803 ms (Δ 1.4%)</a:t>
            </a:r>
          </a:p>
          <a:p>
            <a:pPr algn="l">
              <a:spcAft>
                <a:spcPts val="300"/>
              </a:spcAft>
            </a:pPr>
            <a:r>
              <a:rPr sz="1700">
                <a:solidFill>
                  <a:srgbClr val="2D3748"/>
                </a:solidFill>
              </a:rPr>
              <a:t>   Bypassing edge saves almost no time but loses ML fault_class grounding</a:t>
            </a:r>
          </a:p>
          <a:p>
            <a:pPr algn="l">
              <a:spcAft>
                <a:spcPts val="300"/>
              </a:spcAft>
            </a:pPr>
            <a:r>
              <a:rPr sz="1700">
                <a:solidFill>
                  <a:srgbClr val="2D3748"/>
                </a:solidFill>
              </a:rPr>
              <a:t>   → Deployment recommendation: edge always-on</a:t>
            </a:r>
          </a:p>
          <a:p>
            <a:pPr algn="l">
              <a:spcAft>
                <a:spcPts val="300"/>
              </a:spcAft>
            </a:pPr>
          </a:p>
          <a:p>
            <a:pPr algn="l">
              <a:spcAft>
                <a:spcPts val="300"/>
              </a:spcAft>
            </a:pPr>
            <a:r>
              <a:rPr sz="1700">
                <a:solidFill>
                  <a:srgbClr val="2D3748"/>
                </a:solidFill>
              </a:rPr>
              <a:t>3. full P99 touches 10.0 s — headroom target: faster LLM / cache / speculative decode</a:t>
            </a:r>
          </a:p>
          <a:p>
            <a:pPr algn="l">
              <a:spcAft>
                <a:spcPts val="300"/>
              </a:spcAft>
            </a:pPr>
          </a:p>
          <a:p>
            <a:pPr algn="l">
              <a:spcAft>
                <a:spcPts val="300"/>
              </a:spcAft>
            </a:pPr>
            <a:r>
              <a:rPr sz="1700">
                <a:solidFill>
                  <a:srgbClr val="2D3748"/>
                </a:solidFill>
              </a:rPr>
              <a:t>Orchestrator tip: --http-timeout 120 (复现指南 §3.9) under concurrent fan-out</a:t>
            </a:r>
          </a:p>
        </p:txBody>
      </p:sp>
      <p:pic>
        <p:nvPicPr>
          <p:cNvPr id="6" name="Picture 5" descr="03_edge_vs_agent_split.png"/>
          <p:cNvPicPr>
            <a:picLocks noChangeAspect="1"/>
          </p:cNvPicPr>
          <p:nvPr/>
        </p:nvPicPr>
        <p:blipFill>
          <a:blip r:embed="rId2"/>
          <a:stretch>
            <a:fillRect/>
          </a:stretch>
        </p:blipFill>
        <p:spPr>
          <a:xfrm>
            <a:off x="6126480" y="1143000"/>
            <a:ext cx="5303520" cy="4572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§29</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29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C6 — 10-node orchestrator &amp; graceful degradation</a:t>
            </a:r>
          </a:p>
        </p:txBody>
      </p:sp>
      <p:sp>
        <p:nvSpPr>
          <p:cNvPr id="5" name="TextBox 4"/>
          <p:cNvSpPr txBox="1"/>
          <p:nvPr/>
        </p:nvSpPr>
        <p:spPr>
          <a:xfrm>
            <a:off x="457200" y="1143000"/>
            <a:ext cx="5486400" cy="5028057"/>
          </a:xfrm>
          <a:prstGeom prst="rect">
            <a:avLst/>
          </a:prstGeom>
          <a:noFill/>
        </p:spPr>
        <p:txBody>
          <a:bodyPr wrap="square" anchor="t">
            <a:spAutoFit/>
          </a:bodyPr>
          <a:lstStyle/>
          <a:p>
            <a:pPr algn="l">
              <a:spcAft>
                <a:spcPts val="300"/>
              </a:spcAft>
            </a:pPr>
            <a:r>
              <a:rPr sz="1700">
                <a:solidFill>
                  <a:srgbClr val="2D3748"/>
                </a:solidFill>
              </a:rPr>
              <a:t>Command: python -m orchestrator --nodes pv6_bess4 --duration 60 --http-timeout 120</a:t>
            </a:r>
          </a:p>
          <a:p>
            <a:pPr algn="l">
              <a:spcAft>
                <a:spcPts val="300"/>
              </a:spcAft>
            </a:pPr>
          </a:p>
          <a:p>
            <a:pPr algn="l">
              <a:spcAft>
                <a:spcPts val="300"/>
              </a:spcAft>
            </a:pPr>
            <a:r>
              <a:rPr sz="1700">
                <a:solidFill>
                  <a:srgbClr val="2D3748"/>
                </a:solidFill>
              </a:rPr>
              <a:t>Results (2026-06-03)</a:t>
            </a:r>
          </a:p>
          <a:p>
            <a:pPr algn="l">
              <a:spcAft>
                <a:spcPts val="300"/>
              </a:spcAft>
            </a:pPr>
            <a:r>
              <a:rPr sz="1700">
                <a:solidFill>
                  <a:srgbClr val="2D3748"/>
                </a:solidFill>
              </a:rPr>
              <a:t>• 10 distinct nodes (6 PV + 4 BESS)</a:t>
            </a:r>
          </a:p>
          <a:p>
            <a:pPr algn="l">
              <a:spcAft>
                <a:spcPts val="300"/>
              </a:spcAft>
            </a:pPr>
            <a:r>
              <a:rPr sz="1700">
                <a:solidFill>
                  <a:srgbClr val="2D3748"/>
                </a:solidFill>
              </a:rPr>
              <a:t>• 144 events in 60 s</a:t>
            </a:r>
          </a:p>
          <a:p>
            <a:pPr algn="l">
              <a:spcAft>
                <a:spcPts val="300"/>
              </a:spcAft>
            </a:pPr>
            <a:r>
              <a:rPr sz="1700">
                <a:solidFill>
                  <a:srgbClr val="2D3748"/>
                </a:solidFill>
              </a:rPr>
              <a:t>• 3 × agent_recommend_failed (httpx TimeoutException)</a:t>
            </a:r>
          </a:p>
          <a:p>
            <a:pPr algn="l">
              <a:spcAft>
                <a:spcPts val="300"/>
              </a:spcAft>
            </a:pPr>
            <a:r>
              <a:rPr sz="1700">
                <a:solidFill>
                  <a:srgbClr val="2D3748"/>
                </a:solidFill>
              </a:rPr>
              <a:t>• Orchestrator kept ticking — per-node asyncio tasks independent</a:t>
            </a:r>
          </a:p>
        </p:txBody>
      </p:sp>
      <p:graphicFrame>
        <p:nvGraphicFramePr>
          <p:cNvPr id="6" name="Table 5"/>
          <p:cNvGraphicFramePr>
            <a:graphicFrameLocks noGrp="1"/>
          </p:cNvGraphicFramePr>
          <p:nvPr/>
        </p:nvGraphicFramePr>
        <p:xfrm>
          <a:off x="457200" y="6280785"/>
          <a:ext cx="5486399" cy="120015"/>
        </p:xfrm>
        <a:graphic>
          <a:graphicData uri="http://schemas.openxmlformats.org/drawingml/2006/table">
            <a:tbl>
              <a:tblPr firstRow="1" bandRow="1">
                <a:tableStyleId>{5C22544A-7EE6-4342-B048-85BDC9FD1C3A}</a:tableStyleId>
              </a:tblPr>
              <a:tblGrid>
                <a:gridCol w="4620126"/>
                <a:gridCol w="866273"/>
              </a:tblGrid>
              <a:tr h="60007">
                <a:tc>
                  <a:txBody>
                    <a:bodyPr wrap="square" anchor="ctr" lIns="50800" rIns="50800" tIns="25400" bIns="25400"/>
                    <a:lstStyle/>
                    <a:p>
                      <a:pPr algn="ctr"/>
                      <a:r>
                        <a:rPr sz="1200" b="1">
                          <a:solidFill>
                            <a:srgbClr val="FFFFFF"/>
                          </a:solidFill>
                        </a:rPr>
                        <a:t>Error kind</a:t>
                      </a:r>
                    </a:p>
                  </a:txBody>
                  <a:tcPr>
                    <a:solidFill>
                      <a:srgbClr val="1A365D"/>
                    </a:solidFill>
                  </a:tcPr>
                </a:tc>
                <a:tc>
                  <a:txBody>
                    <a:bodyPr wrap="square" anchor="ctr" lIns="50800" rIns="50800" tIns="25400" bIns="25400"/>
                    <a:lstStyle/>
                    <a:p>
                      <a:pPr algn="ctr"/>
                      <a:r>
                        <a:rPr sz="1200" b="1">
                          <a:solidFill>
                            <a:srgbClr val="FFFFFF"/>
                          </a:solidFill>
                        </a:rPr>
                        <a:t>Count</a:t>
                      </a:r>
                    </a:p>
                  </a:txBody>
                  <a:tcPr>
                    <a:solidFill>
                      <a:srgbClr val="1A365D"/>
                    </a:solidFill>
                  </a:tcPr>
                </a:tc>
              </a:tr>
              <a:tr h="60008">
                <a:tc>
                  <a:txBody>
                    <a:bodyPr wrap="square" anchor="ctr" lIns="50800" rIns="50800" tIns="25400" bIns="25400"/>
                    <a:lstStyle/>
                    <a:p>
                      <a:pPr algn="l"/>
                      <a:r>
                        <a:rPr sz="1200" b="0">
                          <a:solidFill>
                            <a:srgbClr val="2D3748"/>
                          </a:solidFill>
                        </a:rPr>
                        <a:t>agent_recommend_failed</a:t>
                      </a:r>
                    </a:p>
                  </a:txBody>
                  <a:tcPr>
                    <a:solidFill>
                      <a:srgbClr val="FFFFFF"/>
                    </a:solidFill>
                  </a:tcPr>
                </a:tc>
                <a:tc>
                  <a:txBody>
                    <a:bodyPr wrap="square" anchor="ctr" lIns="50800" rIns="50800" tIns="25400" bIns="25400"/>
                    <a:lstStyle/>
                    <a:p>
                      <a:pPr algn="r"/>
                      <a:r>
                        <a:rPr sz="1200" b="0">
                          <a:solidFill>
                            <a:srgbClr val="2D3748"/>
                          </a:solidFill>
                        </a:rPr>
                        <a:t>3</a:t>
                      </a:r>
                    </a:p>
                  </a:txBody>
                  <a:tcPr>
                    <a:solidFill>
                      <a:srgbClr val="FFFFFF"/>
                    </a:solidFill>
                  </a:tcPr>
                </a:tc>
              </a:tr>
            </a:tbl>
          </a:graphicData>
        </a:graphic>
      </p:graphicFrame>
      <p:pic>
        <p:nvPicPr>
          <p:cNvPr id="7" name="Picture 6" descr="04_node_fanout.png"/>
          <p:cNvPicPr>
            <a:picLocks noChangeAspect="1"/>
          </p:cNvPicPr>
          <p:nvPr/>
        </p:nvPicPr>
        <p:blipFill>
          <a:blip r:embed="rId2"/>
          <a:stretch>
            <a:fillRect/>
          </a:stretch>
        </p:blipFill>
        <p:spPr>
          <a:xfrm>
            <a:off x="6080760" y="1143000"/>
            <a:ext cx="5029200" cy="2377440"/>
          </a:xfrm>
          <a:prstGeom prst="rect">
            <a:avLst/>
          </a:prstGeom>
        </p:spPr>
      </p:pic>
      <p:pic>
        <p:nvPicPr>
          <p:cNvPr id="8" name="Picture 7" descr="05_severity_mix.png"/>
          <p:cNvPicPr>
            <a:picLocks noChangeAspect="1"/>
          </p:cNvPicPr>
          <p:nvPr/>
        </p:nvPicPr>
        <p:blipFill>
          <a:blip r:embed="rId3"/>
          <a:stretch>
            <a:fillRect/>
          </a:stretch>
        </p:blipFill>
        <p:spPr>
          <a:xfrm>
            <a:off x="6080760" y="3657600"/>
            <a:ext cx="5029200" cy="237744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§30</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30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C7 — Operator UI &amp; scripted fault injection</a:t>
            </a:r>
          </a:p>
        </p:txBody>
      </p:sp>
      <p:sp>
        <p:nvSpPr>
          <p:cNvPr id="5" name="TextBox 4"/>
          <p:cNvSpPr txBox="1"/>
          <p:nvPr/>
        </p:nvSpPr>
        <p:spPr>
          <a:xfrm>
            <a:off x="457200" y="1143000"/>
            <a:ext cx="11247120" cy="5028057"/>
          </a:xfrm>
          <a:prstGeom prst="rect">
            <a:avLst/>
          </a:prstGeom>
          <a:noFill/>
        </p:spPr>
        <p:txBody>
          <a:bodyPr wrap="square" anchor="t">
            <a:spAutoFit/>
          </a:bodyPr>
          <a:lstStyle/>
          <a:p>
            <a:pPr algn="l">
              <a:spcAft>
                <a:spcPts val="300"/>
              </a:spcAft>
            </a:pPr>
            <a:r>
              <a:rPr sz="1700">
                <a:solidFill>
                  <a:srgbClr val="2D3748"/>
                </a:solidFill>
              </a:rPr>
              <a:t>Component 7 deliverable (not a live browser walkthrough in this deck)</a:t>
            </a:r>
          </a:p>
          <a:p>
            <a:pPr algn="l">
              <a:spcAft>
                <a:spcPts val="300"/>
              </a:spcAft>
            </a:pPr>
          </a:p>
          <a:p>
            <a:pPr algn="l">
              <a:spcAft>
                <a:spcPts val="300"/>
              </a:spcAft>
            </a:pPr>
            <a:r>
              <a:rPr sz="1700">
                <a:solidFill>
                  <a:srgbClr val="2D3748"/>
                </a:solidFill>
              </a:rPr>
              <a:t>Operator UI — dashboard/app.py (bilingual EN + ZH)</a:t>
            </a:r>
          </a:p>
          <a:p>
            <a:pPr algn="l">
              <a:spcAft>
                <a:spcPts val="300"/>
              </a:spcAft>
            </a:pPr>
            <a:r>
              <a:rPr sz="1700">
                <a:solidFill>
                  <a:srgbClr val="2D3748"/>
                </a:solidFill>
              </a:rPr>
              <a:t>• Four tabs: Node overview · Event timeline · Event detail · Global stats</a:t>
            </a:r>
          </a:p>
          <a:p>
            <a:pPr algn="l">
              <a:spcAft>
                <a:spcPts val="300"/>
              </a:spcAft>
            </a:pPr>
            <a:r>
              <a:rPr sz="1700">
                <a:solidFill>
                  <a:srgbClr val="2D3748"/>
                </a:solidFill>
              </a:rPr>
              <a:t>• Reads data/orchestrator/events*.jsonl · inject via dashboard/inject.py</a:t>
            </a:r>
          </a:p>
          <a:p>
            <a:pPr algn="l">
              <a:spcAft>
                <a:spcPts val="300"/>
              </a:spcAft>
            </a:pPr>
            <a:r>
              <a:rPr sz="1700">
                <a:solidFill>
                  <a:srgbClr val="2D3748"/>
                </a:solidFill>
              </a:rPr>
              <a:t>• Same HTTP path as orchestrator NodeRunner: POST /predict → POST /recommend</a:t>
            </a:r>
          </a:p>
          <a:p>
            <a:pPr algn="l">
              <a:spcAft>
                <a:spcPts val="300"/>
              </a:spcAft>
            </a:pPr>
          </a:p>
          <a:p>
            <a:pPr algn="l">
              <a:spcAft>
                <a:spcPts val="300"/>
              </a:spcAft>
            </a:pPr>
            <a:r>
              <a:rPr sz="1700">
                <a:solidFill>
                  <a:srgbClr val="2D3748"/>
                </a:solidFill>
              </a:rPr>
              <a:t>Scripted evidence — scripts/demo_fault_injection.py → fault_injection_demo.md</a:t>
            </a:r>
          </a:p>
          <a:p>
            <a:pPr algn="l">
              <a:spcAft>
                <a:spcPts val="300"/>
              </a:spcAft>
            </a:pPr>
            <a:r>
              <a:rPr sz="1700">
                <a:solidFill>
                  <a:srgbClr val="2D3748"/>
                </a:solidFill>
              </a:rPr>
              <a:t>Generated 2026-06-03T16:19Z · events → events_c7_demo.jsonl</a:t>
            </a:r>
          </a:p>
        </p:txBody>
      </p:sp>
      <p:graphicFrame>
        <p:nvGraphicFramePr>
          <p:cNvPr id="6" name="Table 5"/>
          <p:cNvGraphicFramePr>
            <a:graphicFrameLocks noGrp="1"/>
          </p:cNvGraphicFramePr>
          <p:nvPr/>
        </p:nvGraphicFramePr>
        <p:xfrm>
          <a:off x="457200" y="6280785"/>
          <a:ext cx="11247116" cy="120015"/>
        </p:xfrm>
        <a:graphic>
          <a:graphicData uri="http://schemas.openxmlformats.org/drawingml/2006/table">
            <a:tbl>
              <a:tblPr firstRow="1" bandRow="1">
                <a:tableStyleId>{5C22544A-7EE6-4342-B048-85BDC9FD1C3A}</a:tableStyleId>
              </a:tblPr>
              <a:tblGrid>
                <a:gridCol w="216986"/>
                <a:gridCol w="5894792"/>
                <a:gridCol w="1663561"/>
                <a:gridCol w="1301917"/>
                <a:gridCol w="867944"/>
                <a:gridCol w="795616"/>
                <a:gridCol w="253150"/>
                <a:gridCol w="253150"/>
              </a:tblGrid>
              <a:tr h="20002">
                <a:tc>
                  <a:txBody>
                    <a:bodyPr wrap="square" anchor="ctr" lIns="50800" rIns="50800" tIns="25400" bIns="25400"/>
                    <a:lstStyle/>
                    <a:p>
                      <a:pPr algn="ctr"/>
                      <a:r>
                        <a:rPr sz="800" b="1">
                          <a:solidFill>
                            <a:srgbClr val="FFFFFF"/>
                          </a:solidFill>
                        </a:rPr>
                        <a:t>#</a:t>
                      </a:r>
                    </a:p>
                  </a:txBody>
                  <a:tcPr>
                    <a:solidFill>
                      <a:srgbClr val="1A365D"/>
                    </a:solidFill>
                  </a:tcPr>
                </a:tc>
                <a:tc>
                  <a:txBody>
                    <a:bodyPr wrap="square" anchor="ctr" lIns="50800" rIns="50800" tIns="25400" bIns="25400"/>
                    <a:lstStyle/>
                    <a:p>
                      <a:pPr algn="ctr"/>
                      <a:r>
                        <a:rPr sz="800" b="1">
                          <a:solidFill>
                            <a:srgbClr val="FFFFFF"/>
                          </a:solidFill>
                        </a:rPr>
                        <a:t>Scenario</a:t>
                      </a:r>
                    </a:p>
                  </a:txBody>
                  <a:tcPr>
                    <a:solidFill>
                      <a:srgbClr val="1A365D"/>
                    </a:solidFill>
                  </a:tcPr>
                </a:tc>
                <a:tc>
                  <a:txBody>
                    <a:bodyPr wrap="square" anchor="ctr" lIns="50800" rIns="50800" tIns="25400" bIns="25400"/>
                    <a:lstStyle/>
                    <a:p>
                      <a:pPr algn="ctr"/>
                      <a:r>
                        <a:rPr sz="800" b="1">
                          <a:solidFill>
                            <a:srgbClr val="FFFFFF"/>
                          </a:solidFill>
                        </a:rPr>
                        <a:t>Severity</a:t>
                      </a:r>
                    </a:p>
                  </a:txBody>
                  <a:tcPr>
                    <a:solidFill>
                      <a:srgbClr val="1A365D"/>
                    </a:solidFill>
                  </a:tcPr>
                </a:tc>
                <a:tc>
                  <a:txBody>
                    <a:bodyPr wrap="square" anchor="ctr" lIns="50800" rIns="50800" tIns="25400" bIns="25400"/>
                    <a:lstStyle/>
                    <a:p>
                      <a:pPr algn="ctr"/>
                      <a:r>
                        <a:rPr sz="800" b="1">
                          <a:solidFill>
                            <a:srgbClr val="FFFFFF"/>
                          </a:solidFill>
                        </a:rPr>
                        <a:t>Urgency</a:t>
                      </a:r>
                    </a:p>
                  </a:txBody>
                  <a:tcPr>
                    <a:solidFill>
                      <a:srgbClr val="1A365D"/>
                    </a:solidFill>
                  </a:tcPr>
                </a:tc>
                <a:tc>
                  <a:txBody>
                    <a:bodyPr wrap="square" anchor="ctr" lIns="50800" rIns="50800" tIns="25400" bIns="25400"/>
                    <a:lstStyle/>
                    <a:p>
                      <a:pPr algn="ctr"/>
                      <a:r>
                        <a:rPr sz="800" b="1">
                          <a:solidFill>
                            <a:srgbClr val="FFFFFF"/>
                          </a:solidFill>
                        </a:rPr>
                        <a:t>Edge ms</a:t>
                      </a:r>
                    </a:p>
                  </a:txBody>
                  <a:tcPr>
                    <a:solidFill>
                      <a:srgbClr val="1A365D"/>
                    </a:solidFill>
                  </a:tcPr>
                </a:tc>
                <a:tc>
                  <a:txBody>
                    <a:bodyPr wrap="square" anchor="ctr" lIns="50800" rIns="50800" tIns="25400" bIns="25400"/>
                    <a:lstStyle/>
                    <a:p>
                      <a:pPr algn="ctr"/>
                      <a:r>
                        <a:rPr sz="800" b="1">
                          <a:solidFill>
                            <a:srgbClr val="FFFFFF"/>
                          </a:solidFill>
                        </a:rPr>
                        <a:t>Agent ms</a:t>
                      </a:r>
                    </a:p>
                  </a:txBody>
                  <a:tcPr>
                    <a:solidFill>
                      <a:srgbClr val="1A365D"/>
                    </a:solidFill>
                  </a:tcPr>
                </a:tc>
                <a:tc>
                  <a:txBody>
                    <a:bodyPr wrap="square" anchor="ctr" lIns="50800" rIns="50800" tIns="25400" bIns="25400"/>
                    <a:lstStyle/>
                    <a:p>
                      <a:pPr algn="ctr"/>
                      <a:r>
                        <a:rPr sz="800" b="1">
                          <a:solidFill>
                            <a:srgbClr val="FFFFFF"/>
                          </a:solidFill>
                        </a:rPr>
                        <a:t>KB</a:t>
                      </a:r>
                    </a:p>
                  </a:txBody>
                  <a:tcPr>
                    <a:solidFill>
                      <a:srgbClr val="1A365D"/>
                    </a:solidFill>
                  </a:tcPr>
                </a:tc>
                <a:tc>
                  <a:txBody>
                    <a:bodyPr wrap="square" anchor="ctr" lIns="50800" rIns="50800" tIns="25400" bIns="25400"/>
                    <a:lstStyle/>
                    <a:p>
                      <a:pPr algn="ctr"/>
                      <a:r>
                        <a:rPr sz="800" b="1">
                          <a:solidFill>
                            <a:srgbClr val="FFFFFF"/>
                          </a:solidFill>
                        </a:rPr>
                        <a:t>OK</a:t>
                      </a:r>
                    </a:p>
                  </a:txBody>
                  <a:tcPr>
                    <a:solidFill>
                      <a:srgbClr val="1A365D"/>
                    </a:solidFill>
                  </a:tcPr>
                </a:tc>
              </a:tr>
              <a:tr h="20002">
                <a:tc>
                  <a:txBody>
                    <a:bodyPr wrap="square" anchor="ctr" lIns="50800" rIns="50800" tIns="25400" bIns="25400"/>
                    <a:lstStyle/>
                    <a:p>
                      <a:pPr algn="r"/>
                      <a:r>
                        <a:rPr sz="800" b="0">
                          <a:solidFill>
                            <a:srgbClr val="2D3748"/>
                          </a:solidFill>
                        </a:rPr>
                        <a:t>1</a:t>
                      </a:r>
                    </a:p>
                  </a:txBody>
                  <a:tcPr>
                    <a:solidFill>
                      <a:srgbClr val="FFFFFF"/>
                    </a:solidFill>
                  </a:tcPr>
                </a:tc>
                <a:tc>
                  <a:txBody>
                    <a:bodyPr wrap="square" anchor="ctr" lIns="50800" rIns="50800" tIns="25400" bIns="25400"/>
                    <a:lstStyle/>
                    <a:p>
                      <a:pPr algn="l"/>
                      <a:r>
                        <a:rPr sz="800" b="0">
                          <a:solidFill>
                            <a:srgbClr val="2D3748"/>
                          </a:solidFill>
                        </a:rPr>
                        <a:t>PV Inverter_fault (critical)</a:t>
                      </a:r>
                    </a:p>
                  </a:txBody>
                  <a:tcPr>
                    <a:solidFill>
                      <a:srgbClr val="FFFFFF"/>
                    </a:solidFill>
                  </a:tcPr>
                </a:tc>
                <a:tc>
                  <a:txBody>
                    <a:bodyPr wrap="square" anchor="ctr" lIns="50800" rIns="50800" tIns="25400" bIns="25400"/>
                    <a:lstStyle/>
                    <a:p>
                      <a:pPr algn="l"/>
                      <a:r>
                        <a:rPr sz="800" b="0">
                          <a:solidFill>
                            <a:srgbClr val="2D3748"/>
                          </a:solidFill>
                        </a:rPr>
                        <a:t>critical</a:t>
                      </a:r>
                    </a:p>
                  </a:txBody>
                  <a:tcPr>
                    <a:solidFill>
                      <a:srgbClr val="FFFFFF"/>
                    </a:solidFill>
                  </a:tcPr>
                </a:tc>
                <a:tc>
                  <a:txBody>
                    <a:bodyPr wrap="square" anchor="ctr" lIns="50800" rIns="50800" tIns="25400" bIns="25400"/>
                    <a:lstStyle/>
                    <a:p>
                      <a:pPr algn="l"/>
                      <a:r>
                        <a:rPr sz="800" b="0">
                          <a:solidFill>
                            <a:srgbClr val="2D3748"/>
                          </a:solidFill>
                        </a:rPr>
                        <a:t>immediate</a:t>
                      </a:r>
                    </a:p>
                  </a:txBody>
                  <a:tcPr>
                    <a:solidFill>
                      <a:srgbClr val="FFFFFF"/>
                    </a:solidFill>
                  </a:tcPr>
                </a:tc>
                <a:tc>
                  <a:txBody>
                    <a:bodyPr wrap="square" anchor="ctr" lIns="50800" rIns="50800" tIns="25400" bIns="25400"/>
                    <a:lstStyle/>
                    <a:p>
                      <a:pPr algn="r"/>
                      <a:r>
                        <a:rPr sz="800" b="0">
                          <a:solidFill>
                            <a:srgbClr val="2D3748"/>
                          </a:solidFill>
                        </a:rPr>
                        <a:t>26.2</a:t>
                      </a:r>
                    </a:p>
                  </a:txBody>
                  <a:tcPr>
                    <a:solidFill>
                      <a:srgbClr val="FFFFFF"/>
                    </a:solidFill>
                  </a:tcPr>
                </a:tc>
                <a:tc>
                  <a:txBody>
                    <a:bodyPr wrap="square" anchor="ctr" lIns="50800" rIns="50800" tIns="25400" bIns="25400"/>
                    <a:lstStyle/>
                    <a:p>
                      <a:pPr algn="r"/>
                      <a:r>
                        <a:rPr sz="800" b="0">
                          <a:solidFill>
                            <a:srgbClr val="2D3748"/>
                          </a:solidFill>
                        </a:rPr>
                        <a:t>8653</a:t>
                      </a:r>
                    </a:p>
                  </a:txBody>
                  <a:tcPr>
                    <a:solidFill>
                      <a:srgbClr val="FFFFFF"/>
                    </a:solidFill>
                  </a:tcPr>
                </a:tc>
                <a:tc>
                  <a:txBody>
                    <a:bodyPr wrap="square" anchor="ctr" lIns="50800" rIns="50800" tIns="25400" bIns="25400"/>
                    <a:lstStyle/>
                    <a:p>
                      <a:pPr algn="r"/>
                      <a:r>
                        <a:rPr sz="800" b="0">
                          <a:solidFill>
                            <a:srgbClr val="2D3748"/>
                          </a:solidFill>
                        </a:rPr>
                        <a:t>3</a:t>
                      </a:r>
                    </a:p>
                  </a:txBody>
                  <a:tcPr>
                    <a:solidFill>
                      <a:srgbClr val="FFFFFF"/>
                    </a:solidFill>
                  </a:tcPr>
                </a:tc>
                <a:tc>
                  <a:txBody>
                    <a:bodyPr wrap="square" anchor="ctr" lIns="50800" rIns="50800" tIns="25400" bIns="25400"/>
                    <a:lstStyle/>
                    <a:p>
                      <a:pPr algn="l"/>
                      <a:r>
                        <a:rPr sz="800" b="0">
                          <a:solidFill>
                            <a:srgbClr val="2B6CB0"/>
                          </a:solidFill>
                        </a:rPr>
                        <a:t>✅</a:t>
                      </a:r>
                    </a:p>
                  </a:txBody>
                  <a:tcPr>
                    <a:solidFill>
                      <a:srgbClr val="FFFFFF"/>
                    </a:solidFill>
                  </a:tcPr>
                </a:tc>
              </a:tr>
              <a:tr h="20002">
                <a:tc>
                  <a:txBody>
                    <a:bodyPr wrap="square" anchor="ctr" lIns="50800" rIns="50800" tIns="25400" bIns="25400"/>
                    <a:lstStyle/>
                    <a:p>
                      <a:pPr algn="r"/>
                      <a:r>
                        <a:rPr sz="800" b="0">
                          <a:solidFill>
                            <a:srgbClr val="2D3748"/>
                          </a:solidFill>
                        </a:rPr>
                        <a:t>2</a:t>
                      </a:r>
                    </a:p>
                  </a:txBody>
                  <a:tcPr>
                    <a:solidFill>
                      <a:srgbClr val="EDF2F7"/>
                    </a:solidFill>
                  </a:tcPr>
                </a:tc>
                <a:tc>
                  <a:txBody>
                    <a:bodyPr wrap="square" anchor="ctr" lIns="50800" rIns="50800" tIns="25400" bIns="25400"/>
                    <a:lstStyle/>
                    <a:p>
                      <a:pPr algn="l"/>
                      <a:r>
                        <a:rPr sz="800" b="0">
                          <a:solidFill>
                            <a:srgbClr val="2D3748"/>
                          </a:solidFill>
                        </a:rPr>
                        <a:t>PV Partial_shading (warning)</a:t>
                      </a:r>
                    </a:p>
                  </a:txBody>
                  <a:tcPr>
                    <a:solidFill>
                      <a:srgbClr val="EDF2F7"/>
                    </a:solidFill>
                  </a:tcPr>
                </a:tc>
                <a:tc>
                  <a:txBody>
                    <a:bodyPr wrap="square" anchor="ctr" lIns="50800" rIns="50800" tIns="25400" bIns="25400"/>
                    <a:lstStyle/>
                    <a:p>
                      <a:pPr algn="l"/>
                      <a:r>
                        <a:rPr sz="800" b="0">
                          <a:solidFill>
                            <a:srgbClr val="2D3748"/>
                          </a:solidFill>
                        </a:rPr>
                        <a:t>warning</a:t>
                      </a:r>
                    </a:p>
                  </a:txBody>
                  <a:tcPr>
                    <a:solidFill>
                      <a:srgbClr val="EDF2F7"/>
                    </a:solidFill>
                  </a:tcPr>
                </a:tc>
                <a:tc>
                  <a:txBody>
                    <a:bodyPr wrap="square" anchor="ctr" lIns="50800" rIns="50800" tIns="25400" bIns="25400"/>
                    <a:lstStyle/>
                    <a:p>
                      <a:pPr algn="l"/>
                      <a:r>
                        <a:rPr sz="800" b="0">
                          <a:solidFill>
                            <a:srgbClr val="2D3748"/>
                          </a:solidFill>
                        </a:rPr>
                        <a:t>scheduled</a:t>
                      </a:r>
                    </a:p>
                  </a:txBody>
                  <a:tcPr>
                    <a:solidFill>
                      <a:srgbClr val="EDF2F7"/>
                    </a:solidFill>
                  </a:tcPr>
                </a:tc>
                <a:tc>
                  <a:txBody>
                    <a:bodyPr wrap="square" anchor="ctr" lIns="50800" rIns="50800" tIns="25400" bIns="25400"/>
                    <a:lstStyle/>
                    <a:p>
                      <a:pPr algn="r"/>
                      <a:r>
                        <a:rPr sz="800" b="0">
                          <a:solidFill>
                            <a:srgbClr val="2D3748"/>
                          </a:solidFill>
                        </a:rPr>
                        <a:t>6.8</a:t>
                      </a:r>
                    </a:p>
                  </a:txBody>
                  <a:tcPr>
                    <a:solidFill>
                      <a:srgbClr val="EDF2F7"/>
                    </a:solidFill>
                  </a:tcPr>
                </a:tc>
                <a:tc>
                  <a:txBody>
                    <a:bodyPr wrap="square" anchor="ctr" lIns="50800" rIns="50800" tIns="25400" bIns="25400"/>
                    <a:lstStyle/>
                    <a:p>
                      <a:pPr algn="r"/>
                      <a:r>
                        <a:rPr sz="800" b="0">
                          <a:solidFill>
                            <a:srgbClr val="2D3748"/>
                          </a:solidFill>
                        </a:rPr>
                        <a:t>8476</a:t>
                      </a:r>
                    </a:p>
                  </a:txBody>
                  <a:tcPr>
                    <a:solidFill>
                      <a:srgbClr val="EDF2F7"/>
                    </a:solidFill>
                  </a:tcPr>
                </a:tc>
                <a:tc>
                  <a:txBody>
                    <a:bodyPr wrap="square" anchor="ctr" lIns="50800" rIns="50800" tIns="25400" bIns="25400"/>
                    <a:lstStyle/>
                    <a:p>
                      <a:pPr algn="r"/>
                      <a:r>
                        <a:rPr sz="800" b="0">
                          <a:solidFill>
                            <a:srgbClr val="2D3748"/>
                          </a:solidFill>
                        </a:rPr>
                        <a:t>3</a:t>
                      </a:r>
                    </a:p>
                  </a:txBody>
                  <a:tcPr>
                    <a:solidFill>
                      <a:srgbClr val="EDF2F7"/>
                    </a:solidFill>
                  </a:tcPr>
                </a:tc>
                <a:tc>
                  <a:txBody>
                    <a:bodyPr wrap="square" anchor="ctr" lIns="50800" rIns="50800" tIns="25400" bIns="25400"/>
                    <a:lstStyle/>
                    <a:p>
                      <a:pPr algn="l"/>
                      <a:r>
                        <a:rPr sz="800" b="0">
                          <a:solidFill>
                            <a:srgbClr val="2B6CB0"/>
                          </a:solidFill>
                        </a:rPr>
                        <a:t>✅</a:t>
                      </a:r>
                    </a:p>
                  </a:txBody>
                  <a:tcPr>
                    <a:solidFill>
                      <a:srgbClr val="EDF2F7"/>
                    </a:solidFill>
                  </a:tcPr>
                </a:tc>
              </a:tr>
              <a:tr h="20002">
                <a:tc>
                  <a:txBody>
                    <a:bodyPr wrap="square" anchor="ctr" lIns="50800" rIns="50800" tIns="25400" bIns="25400"/>
                    <a:lstStyle/>
                    <a:p>
                      <a:pPr algn="r"/>
                      <a:r>
                        <a:rPr sz="800" b="0">
                          <a:solidFill>
                            <a:srgbClr val="2D3748"/>
                          </a:solidFill>
                        </a:rPr>
                        <a:t>3</a:t>
                      </a:r>
                    </a:p>
                  </a:txBody>
                  <a:tcPr>
                    <a:solidFill>
                      <a:srgbClr val="FFFFFF"/>
                    </a:solidFill>
                  </a:tcPr>
                </a:tc>
                <a:tc>
                  <a:txBody>
                    <a:bodyPr wrap="square" anchor="ctr" lIns="50800" rIns="50800" tIns="25400" bIns="25400"/>
                    <a:lstStyle/>
                    <a:p>
                      <a:pPr algn="l"/>
                      <a:r>
                        <a:rPr sz="800" b="0">
                          <a:solidFill>
                            <a:srgbClr val="2D3748"/>
                          </a:solidFill>
                        </a:rPr>
                        <a:t>BESS Thermal_anomaly (critical)</a:t>
                      </a:r>
                    </a:p>
                  </a:txBody>
                  <a:tcPr>
                    <a:solidFill>
                      <a:srgbClr val="FFFFFF"/>
                    </a:solidFill>
                  </a:tcPr>
                </a:tc>
                <a:tc>
                  <a:txBody>
                    <a:bodyPr wrap="square" anchor="ctr" lIns="50800" rIns="50800" tIns="25400" bIns="25400"/>
                    <a:lstStyle/>
                    <a:p>
                      <a:pPr algn="l"/>
                      <a:r>
                        <a:rPr sz="800" b="0">
                          <a:solidFill>
                            <a:srgbClr val="2D3748"/>
                          </a:solidFill>
                        </a:rPr>
                        <a:t>critical</a:t>
                      </a:r>
                    </a:p>
                  </a:txBody>
                  <a:tcPr>
                    <a:solidFill>
                      <a:srgbClr val="FFFFFF"/>
                    </a:solidFill>
                  </a:tcPr>
                </a:tc>
                <a:tc>
                  <a:txBody>
                    <a:bodyPr wrap="square" anchor="ctr" lIns="50800" rIns="50800" tIns="25400" bIns="25400"/>
                    <a:lstStyle/>
                    <a:p>
                      <a:pPr algn="l"/>
                      <a:r>
                        <a:rPr sz="800" b="0">
                          <a:solidFill>
                            <a:srgbClr val="2D3748"/>
                          </a:solidFill>
                        </a:rPr>
                        <a:t>immediate</a:t>
                      </a:r>
                    </a:p>
                  </a:txBody>
                  <a:tcPr>
                    <a:solidFill>
                      <a:srgbClr val="FFFFFF"/>
                    </a:solidFill>
                  </a:tcPr>
                </a:tc>
                <a:tc>
                  <a:txBody>
                    <a:bodyPr wrap="square" anchor="ctr" lIns="50800" rIns="50800" tIns="25400" bIns="25400"/>
                    <a:lstStyle/>
                    <a:p>
                      <a:pPr algn="r"/>
                      <a:r>
                        <a:rPr sz="800" b="0">
                          <a:solidFill>
                            <a:srgbClr val="2D3748"/>
                          </a:solidFill>
                        </a:rPr>
                        <a:t>8.2</a:t>
                      </a:r>
                    </a:p>
                  </a:txBody>
                  <a:tcPr>
                    <a:solidFill>
                      <a:srgbClr val="FFFFFF"/>
                    </a:solidFill>
                  </a:tcPr>
                </a:tc>
                <a:tc>
                  <a:txBody>
                    <a:bodyPr wrap="square" anchor="ctr" lIns="50800" rIns="50800" tIns="25400" bIns="25400"/>
                    <a:lstStyle/>
                    <a:p>
                      <a:pPr algn="r"/>
                      <a:r>
                        <a:rPr sz="800" b="0">
                          <a:solidFill>
                            <a:srgbClr val="2D3748"/>
                          </a:solidFill>
                        </a:rPr>
                        <a:t>8705</a:t>
                      </a:r>
                    </a:p>
                  </a:txBody>
                  <a:tcPr>
                    <a:solidFill>
                      <a:srgbClr val="FFFFFF"/>
                    </a:solidFill>
                  </a:tcPr>
                </a:tc>
                <a:tc>
                  <a:txBody>
                    <a:bodyPr wrap="square" anchor="ctr" lIns="50800" rIns="50800" tIns="25400" bIns="25400"/>
                    <a:lstStyle/>
                    <a:p>
                      <a:pPr algn="r"/>
                      <a:r>
                        <a:rPr sz="800" b="0">
                          <a:solidFill>
                            <a:srgbClr val="2D3748"/>
                          </a:solidFill>
                        </a:rPr>
                        <a:t>3</a:t>
                      </a:r>
                    </a:p>
                  </a:txBody>
                  <a:tcPr>
                    <a:solidFill>
                      <a:srgbClr val="FFFFFF"/>
                    </a:solidFill>
                  </a:tcPr>
                </a:tc>
                <a:tc>
                  <a:txBody>
                    <a:bodyPr wrap="square" anchor="ctr" lIns="50800" rIns="50800" tIns="25400" bIns="25400"/>
                    <a:lstStyle/>
                    <a:p>
                      <a:pPr algn="l"/>
                      <a:r>
                        <a:rPr sz="800" b="0">
                          <a:solidFill>
                            <a:srgbClr val="2B6CB0"/>
                          </a:solidFill>
                        </a:rPr>
                        <a:t>✅</a:t>
                      </a:r>
                    </a:p>
                  </a:txBody>
                  <a:tcPr>
                    <a:solidFill>
                      <a:srgbClr val="FFFFFF"/>
                    </a:solidFill>
                  </a:tcPr>
                </a:tc>
              </a:tr>
              <a:tr h="20002">
                <a:tc>
                  <a:txBody>
                    <a:bodyPr wrap="square" anchor="ctr" lIns="50800" rIns="50800" tIns="25400" bIns="25400"/>
                    <a:lstStyle/>
                    <a:p>
                      <a:pPr algn="r"/>
                      <a:r>
                        <a:rPr sz="800" b="0">
                          <a:solidFill>
                            <a:srgbClr val="2D3748"/>
                          </a:solidFill>
                        </a:rPr>
                        <a:t>4</a:t>
                      </a:r>
                    </a:p>
                  </a:txBody>
                  <a:tcPr>
                    <a:solidFill>
                      <a:srgbClr val="EDF2F7"/>
                    </a:solidFill>
                  </a:tcPr>
                </a:tc>
                <a:tc>
                  <a:txBody>
                    <a:bodyPr wrap="square" anchor="ctr" lIns="50800" rIns="50800" tIns="25400" bIns="25400"/>
                    <a:lstStyle/>
                    <a:p>
                      <a:pPr algn="l"/>
                      <a:r>
                        <a:rPr sz="800" b="0">
                          <a:solidFill>
                            <a:srgbClr val="2D3748"/>
                          </a:solidFill>
                        </a:rPr>
                        <a:t>PV_Normal (monitor — agent skipped)</a:t>
                      </a:r>
                    </a:p>
                  </a:txBody>
                  <a:tcPr>
                    <a:solidFill>
                      <a:srgbClr val="EDF2F7"/>
                    </a:solidFill>
                  </a:tcPr>
                </a:tc>
                <a:tc>
                  <a:txBody>
                    <a:bodyPr wrap="square" anchor="ctr" lIns="50800" rIns="50800" tIns="25400" bIns="25400"/>
                    <a:lstStyle/>
                    <a:p>
                      <a:pPr algn="l"/>
                      <a:r>
                        <a:rPr sz="800" b="0">
                          <a:solidFill>
                            <a:srgbClr val="2D3748"/>
                          </a:solidFill>
                        </a:rPr>
                        <a:t>monitor</a:t>
                      </a:r>
                    </a:p>
                  </a:txBody>
                  <a:tcPr>
                    <a:solidFill>
                      <a:srgbClr val="EDF2F7"/>
                    </a:solidFill>
                  </a:tcPr>
                </a:tc>
                <a:tc>
                  <a:txBody>
                    <a:bodyPr wrap="square" anchor="ctr" lIns="50800" rIns="50800" tIns="25400" bIns="25400"/>
                    <a:lstStyle/>
                    <a:p>
                      <a:pPr algn="l"/>
                      <a:r>
                        <a:rPr sz="800" b="0">
                          <a:solidFill>
                            <a:srgbClr val="2D3748"/>
                          </a:solidFill>
                        </a:rPr>
                        <a:t>—</a:t>
                      </a:r>
                    </a:p>
                  </a:txBody>
                  <a:tcPr>
                    <a:solidFill>
                      <a:srgbClr val="EDF2F7"/>
                    </a:solidFill>
                  </a:tcPr>
                </a:tc>
                <a:tc>
                  <a:txBody>
                    <a:bodyPr wrap="square" anchor="ctr" lIns="50800" rIns="50800" tIns="25400" bIns="25400"/>
                    <a:lstStyle/>
                    <a:p>
                      <a:pPr algn="r"/>
                      <a:r>
                        <a:rPr sz="800" b="0">
                          <a:solidFill>
                            <a:srgbClr val="2D3748"/>
                          </a:solidFill>
                        </a:rPr>
                        <a:t>6.5</a:t>
                      </a:r>
                    </a:p>
                  </a:txBody>
                  <a:tcPr>
                    <a:solidFill>
                      <a:srgbClr val="EDF2F7"/>
                    </a:solidFill>
                  </a:tcPr>
                </a:tc>
                <a:tc>
                  <a:txBody>
                    <a:bodyPr wrap="square" anchor="ctr" lIns="50800" rIns="50800" tIns="25400" bIns="25400"/>
                    <a:lstStyle/>
                    <a:p>
                      <a:pPr algn="l"/>
                      <a:r>
                        <a:rPr sz="800" b="0">
                          <a:solidFill>
                            <a:srgbClr val="2D3748"/>
                          </a:solidFill>
                        </a:rPr>
                        <a:t>—</a:t>
                      </a:r>
                    </a:p>
                  </a:txBody>
                  <a:tcPr>
                    <a:solidFill>
                      <a:srgbClr val="EDF2F7"/>
                    </a:solidFill>
                  </a:tcPr>
                </a:tc>
                <a:tc>
                  <a:txBody>
                    <a:bodyPr wrap="square" anchor="ctr" lIns="50800" rIns="50800" tIns="25400" bIns="25400"/>
                    <a:lstStyle/>
                    <a:p>
                      <a:pPr algn="r"/>
                      <a:r>
                        <a:rPr sz="800" b="0">
                          <a:solidFill>
                            <a:srgbClr val="2D3748"/>
                          </a:solidFill>
                        </a:rPr>
                        <a:t>0</a:t>
                      </a:r>
                    </a:p>
                  </a:txBody>
                  <a:tcPr>
                    <a:solidFill>
                      <a:srgbClr val="EDF2F7"/>
                    </a:solidFill>
                  </a:tcPr>
                </a:tc>
                <a:tc>
                  <a:txBody>
                    <a:bodyPr wrap="square" anchor="ctr" lIns="50800" rIns="50800" tIns="25400" bIns="25400"/>
                    <a:lstStyle/>
                    <a:p>
                      <a:pPr algn="l"/>
                      <a:r>
                        <a:rPr sz="800" b="0">
                          <a:solidFill>
                            <a:srgbClr val="2B6CB0"/>
                          </a:solidFill>
                        </a:rPr>
                        <a:t>✅</a:t>
                      </a:r>
                    </a:p>
                  </a:txBody>
                  <a:tcPr>
                    <a:solidFill>
                      <a:srgbClr val="EDF2F7"/>
                    </a:solidFill>
                  </a:tcPr>
                </a:tc>
              </a:tr>
              <a:tr h="20005">
                <a:tc>
                  <a:txBody>
                    <a:bodyPr wrap="square" anchor="ctr" lIns="50800" rIns="50800" tIns="25400" bIns="25400"/>
                    <a:lstStyle/>
                    <a:p>
                      <a:pPr algn="r"/>
                      <a:r>
                        <a:rPr sz="800" b="0">
                          <a:solidFill>
                            <a:srgbClr val="2D3748"/>
                          </a:solidFill>
                        </a:rPr>
                        <a:t>5</a:t>
                      </a:r>
                    </a:p>
                  </a:txBody>
                  <a:tcPr>
                    <a:solidFill>
                      <a:srgbClr val="FFFFFF"/>
                    </a:solidFill>
                  </a:tcPr>
                </a:tc>
                <a:tc>
                  <a:txBody>
                    <a:bodyPr wrap="square" anchor="ctr" lIns="50800" rIns="50800" tIns="25400" bIns="25400"/>
                    <a:lstStyle/>
                    <a:p>
                      <a:pPr algn="l"/>
                      <a:r>
                        <a:rPr sz="800" b="0">
                          <a:solidFill>
                            <a:srgbClr val="2D3748"/>
                          </a:solidFill>
                        </a:rPr>
                        <a:t>String_disconnection + skip_agent</a:t>
                      </a:r>
                    </a:p>
                  </a:txBody>
                  <a:tcPr>
                    <a:solidFill>
                      <a:srgbClr val="FFFFFF"/>
                    </a:solidFill>
                  </a:tcPr>
                </a:tc>
                <a:tc>
                  <a:txBody>
                    <a:bodyPr wrap="square" anchor="ctr" lIns="50800" rIns="50800" tIns="25400" bIns="25400"/>
                    <a:lstStyle/>
                    <a:p>
                      <a:pPr algn="l"/>
                      <a:r>
                        <a:rPr sz="800" b="0">
                          <a:solidFill>
                            <a:srgbClr val="2D3748"/>
                          </a:solidFill>
                        </a:rPr>
                        <a:t>critical</a:t>
                      </a:r>
                    </a:p>
                  </a:txBody>
                  <a:tcPr>
                    <a:solidFill>
                      <a:srgbClr val="FFFFFF"/>
                    </a:solidFill>
                  </a:tcPr>
                </a:tc>
                <a:tc>
                  <a:txBody>
                    <a:bodyPr wrap="square" anchor="ctr" lIns="50800" rIns="50800" tIns="25400" bIns="25400"/>
                    <a:lstStyle/>
                    <a:p>
                      <a:pPr algn="l"/>
                      <a:r>
                        <a:rPr sz="800" b="0">
                          <a:solidFill>
                            <a:srgbClr val="2D3748"/>
                          </a:solidFill>
                        </a:rPr>
                        <a:t>—</a:t>
                      </a:r>
                    </a:p>
                  </a:txBody>
                  <a:tcPr>
                    <a:solidFill>
                      <a:srgbClr val="FFFFFF"/>
                    </a:solidFill>
                  </a:tcPr>
                </a:tc>
                <a:tc>
                  <a:txBody>
                    <a:bodyPr wrap="square" anchor="ctr" lIns="50800" rIns="50800" tIns="25400" bIns="25400"/>
                    <a:lstStyle/>
                    <a:p>
                      <a:pPr algn="r"/>
                      <a:r>
                        <a:rPr sz="800" b="0">
                          <a:solidFill>
                            <a:srgbClr val="2D3748"/>
                          </a:solidFill>
                        </a:rPr>
                        <a:t>11.3</a:t>
                      </a:r>
                    </a:p>
                  </a:txBody>
                  <a:tcPr>
                    <a:solidFill>
                      <a:srgbClr val="FFFFFF"/>
                    </a:solidFill>
                  </a:tcPr>
                </a:tc>
                <a:tc>
                  <a:txBody>
                    <a:bodyPr wrap="square" anchor="ctr" lIns="50800" rIns="50800" tIns="25400" bIns="25400"/>
                    <a:lstStyle/>
                    <a:p>
                      <a:pPr algn="l"/>
                      <a:r>
                        <a:rPr sz="800" b="0">
                          <a:solidFill>
                            <a:srgbClr val="2D3748"/>
                          </a:solidFill>
                        </a:rPr>
                        <a:t>—</a:t>
                      </a:r>
                    </a:p>
                  </a:txBody>
                  <a:tcPr>
                    <a:solidFill>
                      <a:srgbClr val="FFFFFF"/>
                    </a:solidFill>
                  </a:tcPr>
                </a:tc>
                <a:tc>
                  <a:txBody>
                    <a:bodyPr wrap="square" anchor="ctr" lIns="50800" rIns="50800" tIns="25400" bIns="25400"/>
                    <a:lstStyle/>
                    <a:p>
                      <a:pPr algn="r"/>
                      <a:r>
                        <a:rPr sz="800" b="0">
                          <a:solidFill>
                            <a:srgbClr val="2D3748"/>
                          </a:solidFill>
                        </a:rPr>
                        <a:t>0</a:t>
                      </a:r>
                    </a:p>
                  </a:txBody>
                  <a:tcPr>
                    <a:solidFill>
                      <a:srgbClr val="FFFFFF"/>
                    </a:solidFill>
                  </a:tcPr>
                </a:tc>
                <a:tc>
                  <a:txBody>
                    <a:bodyPr wrap="square" anchor="ctr" lIns="50800" rIns="50800" tIns="25400" bIns="25400"/>
                    <a:lstStyle/>
                    <a:p>
                      <a:pPr algn="l"/>
                      <a:r>
                        <a:rPr sz="800" b="0">
                          <a:solidFill>
                            <a:srgbClr val="2B6CB0"/>
                          </a:solidFill>
                        </a:rPr>
                        <a:t>✅</a:t>
                      </a:r>
                    </a:p>
                  </a:txBody>
                  <a:tcPr>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§31</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31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Engineering quality &amp; tests</a:t>
            </a:r>
          </a:p>
        </p:txBody>
      </p:sp>
      <p:sp>
        <p:nvSpPr>
          <p:cNvPr id="5" name="TextBox 4"/>
          <p:cNvSpPr txBox="1"/>
          <p:nvPr/>
        </p:nvSpPr>
        <p:spPr>
          <a:xfrm>
            <a:off x="457200" y="1143000"/>
            <a:ext cx="11247120" cy="5257800"/>
          </a:xfrm>
          <a:prstGeom prst="rect">
            <a:avLst/>
          </a:prstGeom>
          <a:noFill/>
        </p:spPr>
        <p:txBody>
          <a:bodyPr wrap="square" anchor="t">
            <a:spAutoFit/>
          </a:bodyPr>
          <a:lstStyle/>
          <a:p>
            <a:pPr algn="l">
              <a:spcAft>
                <a:spcPts val="300"/>
              </a:spcAft>
            </a:pPr>
            <a:r>
              <a:rPr sz="1700">
                <a:solidFill>
                  <a:srgbClr val="2D3748"/>
                </a:solidFill>
              </a:rPr>
              <a:t>284 unit tests — pytest tests -q exit 0</a:t>
            </a:r>
          </a:p>
          <a:p>
            <a:pPr algn="l">
              <a:spcAft>
                <a:spcPts val="300"/>
              </a:spcAft>
            </a:pPr>
            <a:r>
              <a:rPr sz="1700">
                <a:solidFill>
                  <a:srgbClr val="2D3748"/>
                </a:solidFill>
              </a:rPr>
              <a:t>Ruff: 0 warnings (final report §1)</a:t>
            </a:r>
          </a:p>
          <a:p>
            <a:pPr algn="l">
              <a:spcAft>
                <a:spcPts val="300"/>
              </a:spcAft>
            </a:pPr>
          </a:p>
          <a:p>
            <a:pPr algn="l">
              <a:spcAft>
                <a:spcPts val="300"/>
              </a:spcAft>
            </a:pPr>
            <a:r>
              <a:rPr sz="1700">
                <a:solidFill>
                  <a:srgbClr val="2D3748"/>
                </a:solidFill>
              </a:rPr>
              <a:t>Key modules</a:t>
            </a:r>
          </a:p>
          <a:p>
            <a:pPr algn="l">
              <a:spcAft>
                <a:spcPts val="300"/>
              </a:spcAft>
            </a:pPr>
            <a:r>
              <a:rPr sz="1700">
                <a:solidFill>
                  <a:srgbClr val="2D3748"/>
                </a:solidFill>
              </a:rPr>
              <a:t>• tests/unit/test_dashboard_inject.py — 11 tests, MockTransport on inject path</a:t>
            </a:r>
          </a:p>
          <a:p>
            <a:pPr algn="l">
              <a:spcAft>
                <a:spcPts val="300"/>
              </a:spcAft>
            </a:pPr>
            <a:r>
              <a:rPr sz="1700">
                <a:solidFill>
                  <a:srgbClr val="2D3748"/>
                </a:solidFill>
              </a:rPr>
              <a:t>• evaluation / agent_eval / orchestrator — dedicated unit coverage</a:t>
            </a:r>
          </a:p>
          <a:p>
            <a:pPr algn="l">
              <a:spcAft>
                <a:spcPts val="300"/>
              </a:spcAft>
            </a:pPr>
          </a:p>
          <a:p>
            <a:pPr algn="l">
              <a:spcAft>
                <a:spcPts val="300"/>
              </a:spcAft>
            </a:pPr>
            <a:r>
              <a:rPr sz="1700">
                <a:solidFill>
                  <a:srgbClr val="2D3748"/>
                </a:solidFill>
              </a:rPr>
              <a:t>Local services for benchmarks &amp; C7 scripts</a:t>
            </a:r>
          </a:p>
          <a:p>
            <a:pPr algn="l">
              <a:spcAft>
                <a:spcPts val="300"/>
              </a:spcAft>
            </a:pPr>
            <a:r>
              <a:rPr sz="1700">
                <a:solidFill>
                  <a:srgbClr val="2D3748"/>
                </a:solidFill>
              </a:rPr>
              <a:t>• uvicorn api.edge_service:app --port 8000</a:t>
            </a:r>
          </a:p>
          <a:p>
            <a:pPr algn="l">
              <a:spcAft>
                <a:spcPts val="300"/>
              </a:spcAft>
            </a:pPr>
            <a:r>
              <a:rPr sz="1700">
                <a:solidFill>
                  <a:srgbClr val="2D3748"/>
                </a:solidFill>
              </a:rPr>
              <a:t>• uvicorn api.agent_service:app --port 8001</a:t>
            </a:r>
          </a:p>
          <a:p>
            <a:pPr algn="l">
              <a:spcAft>
                <a:spcPts val="300"/>
              </a:spcAft>
            </a:pPr>
            <a:r>
              <a:rPr sz="1700">
                <a:solidFill>
                  <a:srgbClr val="2D3748"/>
                </a:solidFill>
              </a:rPr>
              <a:t>• Ollama llama3.2 for agent_eval and integration benches</a:t>
            </a:r>
          </a:p>
          <a:p>
            <a:pPr algn="l">
              <a:spcAft>
                <a:spcPts val="300"/>
              </a:spcAft>
            </a:pPr>
          </a:p>
          <a:p>
            <a:pPr algn="l">
              <a:spcAft>
                <a:spcPts val="300"/>
              </a:spcAft>
            </a:pPr>
            <a:r>
              <a:rPr sz="1700">
                <a:solidFill>
                  <a:srgbClr val="2D3748"/>
                </a:solidFill>
              </a:rPr>
              <a:t>Config: configs/dev.yaml · APP_ENV=dev|test</a:t>
            </a:r>
          </a:p>
          <a:p>
            <a:pPr algn="l">
              <a:spcAft>
                <a:spcPts val="300"/>
              </a:spcAft>
            </a:pPr>
            <a:r>
              <a:rPr sz="1700">
                <a:solidFill>
                  <a:srgbClr val="2D3748"/>
                </a:solidFill>
              </a:rPr>
              <a:t>RAG corpus: 30 playbook documents ingested via python -m rag.ingest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§32</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32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Discussion — what worked</a:t>
            </a:r>
          </a:p>
        </p:txBody>
      </p:sp>
      <p:sp>
        <p:nvSpPr>
          <p:cNvPr id="5" name="TextBox 4"/>
          <p:cNvSpPr txBox="1"/>
          <p:nvPr/>
        </p:nvSpPr>
        <p:spPr>
          <a:xfrm>
            <a:off x="457200" y="1143000"/>
            <a:ext cx="11247120" cy="3570732"/>
          </a:xfrm>
          <a:prstGeom prst="rect">
            <a:avLst/>
          </a:prstGeom>
          <a:noFill/>
        </p:spPr>
        <p:txBody>
          <a:bodyPr wrap="square" anchor="t">
            <a:spAutoFit/>
          </a:bodyPr>
          <a:lstStyle/>
          <a:p>
            <a:pPr algn="l">
              <a:spcAft>
                <a:spcPts val="300"/>
              </a:spcAft>
            </a:pPr>
            <a:r>
              <a:rPr sz="1700">
                <a:solidFill>
                  <a:srgbClr val="2D3748"/>
                </a:solidFill>
              </a:rPr>
              <a:t>✅ PV/BESS FP32 macro-F1 ≥0.99 · edge P95 sub-millisecond (ONNX)</a:t>
            </a:r>
          </a:p>
          <a:p>
            <a:pPr algn="l">
              <a:spcAft>
                <a:spcPts val="300"/>
              </a:spcAft>
            </a:pPr>
            <a:r>
              <a:rPr sz="1700">
                <a:solidFill>
                  <a:srgbClr val="2D3748"/>
                </a:solidFill>
              </a:rPr>
              <a:t>✅ Honest BESS INT8 failure characterization — credible trade-off story</a:t>
            </a:r>
          </a:p>
          <a:p>
            <a:pPr algn="l">
              <a:spcAft>
                <a:spcPts val="300"/>
              </a:spcAft>
            </a:pPr>
            <a:r>
              <a:rPr sz="1700">
                <a:solidFill>
                  <a:srgbClr val="2D3748"/>
                </a:solidFill>
              </a:rPr>
              <a:t>✅ Orchestrator absorbs node failures, HTTP errors, Ollama JSON fallback</a:t>
            </a:r>
          </a:p>
          <a:p>
            <a:pPr algn="l">
              <a:spcAft>
                <a:spcPts val="300"/>
              </a:spcAft>
            </a:pPr>
            <a:r>
              <a:rPr sz="1700">
                <a:solidFill>
                  <a:srgbClr val="2D3748"/>
                </a:solidFill>
              </a:rPr>
              <a:t>✅ Real LLM: full mean 0.932 · judge 4.10 · urgency/forbidden/knowledge 100%</a:t>
            </a:r>
          </a:p>
          <a:p>
            <a:pPr algn="l">
              <a:spcAft>
                <a:spcPts val="300"/>
              </a:spcAft>
            </a:pPr>
            <a:r>
              <a:rPr sz="1700">
                <a:solidFill>
                  <a:srgbClr val="2D3748"/>
                </a:solidFill>
              </a:rPr>
              <a:t>✅ Orchestrator &amp; dashboard share inject HTTP path — evaluation fidelity</a:t>
            </a:r>
          </a:p>
          <a:p>
            <a:pPr algn="l">
              <a:spcAft>
                <a:spcPts val="300"/>
              </a:spcAft>
            </a:pPr>
            <a:r>
              <a:rPr sz="1700">
                <a:solidFill>
                  <a:srgbClr val="2D3748"/>
                </a:solidFill>
              </a:rPr>
              <a:t>✅ Six-axis robustness + selective prediction — beyond baseline F1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§33</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33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Discussion — limitations &amp; future work</a:t>
            </a:r>
          </a:p>
        </p:txBody>
      </p:sp>
      <p:sp>
        <p:nvSpPr>
          <p:cNvPr id="5" name="TextBox 4"/>
          <p:cNvSpPr txBox="1"/>
          <p:nvPr/>
        </p:nvSpPr>
        <p:spPr>
          <a:xfrm>
            <a:off x="457200" y="1143000"/>
            <a:ext cx="11247120" cy="4736592"/>
          </a:xfrm>
          <a:prstGeom prst="rect">
            <a:avLst/>
          </a:prstGeom>
          <a:noFill/>
        </p:spPr>
        <p:txBody>
          <a:bodyPr wrap="square" anchor="t">
            <a:spAutoFit/>
          </a:bodyPr>
          <a:lstStyle/>
          <a:p>
            <a:pPr algn="l">
              <a:spcAft>
                <a:spcPts val="300"/>
              </a:spcAft>
            </a:pPr>
            <a:r>
              <a:rPr sz="1700">
                <a:solidFill>
                  <a:srgbClr val="2D3748"/>
                </a:solidFill>
              </a:rPr>
              <a:t>Limitations                          Future work (prioritised)</a:t>
            </a:r>
          </a:p>
          <a:p>
            <a:pPr algn="l">
              <a:spcAft>
                <a:spcPts val="300"/>
              </a:spcAft>
            </a:pPr>
            <a:r>
              <a:rPr sz="1700">
                <a:solidFill>
                  <a:srgbClr val="2D3748"/>
                </a:solidFill>
              </a:rPr>
              <a:t>BESS INT8 F1 = 0.7058                ① Entropy calib + per-channel quant</a:t>
            </a:r>
          </a:p>
          <a:p>
            <a:pPr algn="l">
              <a:spcAft>
                <a:spcPts val="300"/>
              </a:spcAft>
            </a:pPr>
            <a:r>
              <a:rPr sz="1700">
                <a:solidFill>
                  <a:srgbClr val="2D3748"/>
                </a:solidFill>
              </a:rPr>
              <a:t>Energy OOD direction inverted        ② Auto-flip + Mahalanobis at deploy</a:t>
            </a:r>
          </a:p>
          <a:p>
            <a:pPr algn="l">
              <a:spcAft>
                <a:spcPts val="300"/>
              </a:spcAft>
            </a:pPr>
            <a:r>
              <a:rPr sz="1700">
                <a:solidFill>
                  <a:srgbClr val="2D3748"/>
                </a:solidFill>
              </a:rPr>
              <a:t>Missing channels unprotected         ③ Upstream sensor-up / NaN gate</a:t>
            </a:r>
          </a:p>
          <a:p>
            <a:pPr algn="l">
              <a:spcAft>
                <a:spcPts val="300"/>
              </a:spcAft>
            </a:pPr>
            <a:r>
              <a:rPr sz="1700">
                <a:solidFill>
                  <a:srgbClr val="2D3748"/>
                </a:solidFill>
              </a:rPr>
              <a:t>Full P95 ≈9.8 s near 10 s budget     ④ Faster 7–8B LLM; response cache</a:t>
            </a:r>
          </a:p>
          <a:p>
            <a:pPr algn="l">
              <a:spcAft>
                <a:spcPts val="300"/>
              </a:spcAft>
            </a:pPr>
            <a:r>
              <a:rPr sz="1700">
                <a:solidFill>
                  <a:srgbClr val="2D3748"/>
                </a:solidFill>
              </a:rPr>
              <a:t>llama3.2 planner JSON unstable       ⑤ Stronger model; lower fallback rate</a:t>
            </a:r>
          </a:p>
          <a:p>
            <a:pPr algn="l">
              <a:spcAft>
                <a:spcPts val="300"/>
              </a:spcAft>
            </a:pPr>
            <a:r>
              <a:rPr sz="1700">
                <a:solidFill>
                  <a:srgbClr val="2D3748"/>
                </a:solidFill>
              </a:rPr>
              <a:t>Dashboard manual JSONL refresh       ⑥ Auto-poll events feed</a:t>
            </a:r>
          </a:p>
          <a:p>
            <a:pPr algn="l">
              <a:spcAft>
                <a:spcPts val="300"/>
              </a:spcAft>
            </a:pPr>
            <a:r>
              <a:rPr sz="1700">
                <a:solidFill>
                  <a:srgbClr val="2D3748"/>
                </a:solidFill>
              </a:rPr>
              <a:t>Synthetic-only training data         ⑦ Domain adaptation when data available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§34</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34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Conclusion</a:t>
            </a:r>
          </a:p>
        </p:txBody>
      </p:sp>
      <p:sp>
        <p:nvSpPr>
          <p:cNvPr id="5" name="TextBox 4"/>
          <p:cNvSpPr txBox="1"/>
          <p:nvPr/>
        </p:nvSpPr>
        <p:spPr>
          <a:xfrm>
            <a:off x="457200" y="1143000"/>
            <a:ext cx="11247120" cy="5028057"/>
          </a:xfrm>
          <a:prstGeom prst="rect">
            <a:avLst/>
          </a:prstGeom>
          <a:noFill/>
        </p:spPr>
        <p:txBody>
          <a:bodyPr wrap="square" anchor="t">
            <a:spAutoFit/>
          </a:bodyPr>
          <a:lstStyle/>
          <a:p>
            <a:pPr algn="l">
              <a:spcAft>
                <a:spcPts val="300"/>
              </a:spcAft>
            </a:pPr>
            <a:r>
              <a:rPr sz="1700">
                <a:solidFill>
                  <a:srgbClr val="2D3748"/>
                </a:solidFill>
              </a:rPr>
              <a:t>AgentPV delivers a reproducible PV/BESS cloud–edge fault diagnosis stack</a:t>
            </a:r>
          </a:p>
          <a:p>
            <a:pPr algn="l">
              <a:spcAft>
                <a:spcPts val="300"/>
              </a:spcAft>
            </a:pPr>
          </a:p>
          <a:p>
            <a:pPr algn="l">
              <a:spcAft>
                <a:spcPts val="300"/>
              </a:spcAft>
            </a:pPr>
            <a:r>
              <a:rPr sz="1700">
                <a:solidFill>
                  <a:srgbClr val="2D3748"/>
                </a:solidFill>
              </a:rPr>
              <a:t>Assignment numeric budgets met</a:t>
            </a:r>
          </a:p>
          <a:p>
            <a:pPr algn="l">
              <a:spcAft>
                <a:spcPts val="300"/>
              </a:spcAft>
            </a:pPr>
            <a:r>
              <a:rPr sz="1700">
                <a:solidFill>
                  <a:srgbClr val="2D3748"/>
                </a:solidFill>
              </a:rPr>
              <a:t>• Macro-F1 ≥0.99 (FP32) · Edge P95 &lt;100 ms · E2E P95 &lt;10 s · Model &lt;50 MiB</a:t>
            </a:r>
          </a:p>
          <a:p>
            <a:pPr algn="l">
              <a:spcAft>
                <a:spcPts val="300"/>
              </a:spcAft>
            </a:pPr>
          </a:p>
          <a:p>
            <a:pPr algn="l">
              <a:spcAft>
                <a:spcPts val="300"/>
              </a:spcAft>
            </a:pPr>
            <a:r>
              <a:rPr sz="1700">
                <a:solidFill>
                  <a:srgbClr val="2D3748"/>
                </a:solidFill>
              </a:rPr>
              <a:t>Deployment realism answered</a:t>
            </a:r>
          </a:p>
          <a:p>
            <a:pPr algn="l">
              <a:spcAft>
                <a:spcPts val="300"/>
              </a:spcAft>
            </a:pPr>
            <a:r>
              <a:rPr sz="1700">
                <a:solidFill>
                  <a:srgbClr val="2D3748"/>
                </a:solidFill>
              </a:rPr>
              <a:t>• Six stress axes + selective prediction</a:t>
            </a:r>
          </a:p>
          <a:p>
            <a:pPr algn="l">
              <a:spcAft>
                <a:spcPts val="300"/>
              </a:spcAft>
            </a:pPr>
            <a:r>
              <a:rPr sz="1700">
                <a:solidFill>
                  <a:srgbClr val="2D3748"/>
                </a:solidFill>
              </a:rPr>
              <a:t>• LLM grounding ablation (No-RAG → 0% KB citations)</a:t>
            </a:r>
          </a:p>
          <a:p>
            <a:pPr algn="l">
              <a:spcAft>
                <a:spcPts val="300"/>
              </a:spcAft>
            </a:pPr>
            <a:r>
              <a:rPr sz="1700">
                <a:solidFill>
                  <a:srgbClr val="2D3748"/>
                </a:solidFill>
              </a:rPr>
              <a:t>• 10-node graceful degradation (144 events, 3 agent failures absorbed)</a:t>
            </a:r>
          </a:p>
          <a:p>
            <a:pPr algn="l">
              <a:spcAft>
                <a:spcPts val="300"/>
              </a:spcAft>
            </a:pPr>
          </a:p>
          <a:p>
            <a:pPr algn="l">
              <a:spcAft>
                <a:spcPts val="300"/>
              </a:spcAft>
            </a:pPr>
            <a:r>
              <a:rPr sz="1700">
                <a:solidFill>
                  <a:srgbClr val="2D3748"/>
                </a:solidFill>
              </a:rPr>
              <a:t>284 tests · 6 reports · 19+ figures · final_report.pdf (24 pages A4)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§35</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35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Reproducibility &amp; artefact index</a:t>
            </a:r>
          </a:p>
        </p:txBody>
      </p:sp>
      <p:sp>
        <p:nvSpPr>
          <p:cNvPr id="5" name="TextBox 4"/>
          <p:cNvSpPr txBox="1"/>
          <p:nvPr/>
        </p:nvSpPr>
        <p:spPr>
          <a:xfrm>
            <a:off x="457200" y="1143000"/>
            <a:ext cx="11247120" cy="2696337"/>
          </a:xfrm>
          <a:prstGeom prst="rect">
            <a:avLst/>
          </a:prstGeom>
          <a:noFill/>
        </p:spPr>
        <p:txBody>
          <a:bodyPr wrap="square" anchor="t">
            <a:spAutoFit/>
          </a:bodyPr>
          <a:lstStyle/>
          <a:p>
            <a:pPr algn="l">
              <a:spcAft>
                <a:spcPts val="300"/>
              </a:spcAft>
            </a:pPr>
            <a:r>
              <a:rPr sz="1700">
                <a:solidFill>
                  <a:srgbClr val="2D3748"/>
                </a:solidFill>
              </a:rPr>
              <a:t>One-shot pipeline (final_report §11.3 · 复现指南 §4)</a:t>
            </a:r>
          </a:p>
          <a:p>
            <a:pPr algn="l">
              <a:spcAft>
                <a:spcPts val="300"/>
              </a:spcAft>
            </a:pPr>
            <a:r>
              <a:rPr sz="1700">
                <a:solidFill>
                  <a:srgbClr val="2D3748"/>
                </a:solidFill>
              </a:rPr>
              <a:t>generate_dataset → train pv/bess → onnx + int8 → evaluation --compare</a:t>
            </a:r>
          </a:p>
          <a:p>
            <a:pPr algn="l">
              <a:spcAft>
                <a:spcPts val="300"/>
              </a:spcAft>
            </a:pPr>
            <a:r>
              <a:rPr sz="1700">
                <a:solidFill>
                  <a:srgbClr val="2D3748"/>
                </a:solidFill>
              </a:rPr>
              <a:t>→ run_robustness_eval → rag.ingest → (start services) agent_eval + judge</a:t>
            </a:r>
          </a:p>
          <a:p>
            <a:pPr algn="l">
              <a:spcAft>
                <a:spcPts val="300"/>
              </a:spcAft>
            </a:pPr>
            <a:r>
              <a:rPr sz="1700">
                <a:solidFill>
                  <a:srgbClr val="2D3748"/>
                </a:solidFill>
              </a:rPr>
              <a:t>→ e2e_latency ×3 → orchestrator --http-timeout 120 → demo_fault_injection</a:t>
            </a:r>
          </a:p>
          <a:p>
            <a:pPr algn="l">
              <a:spcAft>
                <a:spcPts val="300"/>
              </a:spcAft>
            </a:pPr>
            <a:r>
              <a:rPr sz="1700">
                <a:solidFill>
                  <a:srgbClr val="2D3748"/>
                </a:solidFill>
              </a:rPr>
              <a:t>→ render_final_report.py</a:t>
            </a:r>
          </a:p>
        </p:txBody>
      </p:sp>
      <p:graphicFrame>
        <p:nvGraphicFramePr>
          <p:cNvPr id="6" name="Table 5"/>
          <p:cNvGraphicFramePr>
            <a:graphicFrameLocks noGrp="1"/>
          </p:cNvGraphicFramePr>
          <p:nvPr/>
        </p:nvGraphicFramePr>
        <p:xfrm>
          <a:off x="457200" y="3949065"/>
          <a:ext cx="11247119" cy="1837944"/>
        </p:xfrm>
        <a:graphic>
          <a:graphicData uri="http://schemas.openxmlformats.org/drawingml/2006/table">
            <a:tbl>
              <a:tblPr firstRow="1" bandRow="1">
                <a:tableStyleId>{5C22544A-7EE6-4342-B048-85BDC9FD1C3A}</a:tableStyleId>
              </a:tblPr>
              <a:tblGrid>
                <a:gridCol w="2801327"/>
                <a:gridCol w="8445792"/>
              </a:tblGrid>
              <a:tr h="262563">
                <a:tc>
                  <a:txBody>
                    <a:bodyPr wrap="square" anchor="ctr" lIns="50800" rIns="50800" tIns="25400" bIns="25400"/>
                    <a:lstStyle/>
                    <a:p>
                      <a:pPr algn="ctr"/>
                      <a:r>
                        <a:rPr sz="1200" b="1">
                          <a:solidFill>
                            <a:srgbClr val="FFFFFF"/>
                          </a:solidFill>
                        </a:rPr>
                        <a:t>Purpose</a:t>
                      </a:r>
                    </a:p>
                  </a:txBody>
                  <a:tcPr>
                    <a:solidFill>
                      <a:srgbClr val="1A365D"/>
                    </a:solidFill>
                  </a:tcPr>
                </a:tc>
                <a:tc>
                  <a:txBody>
                    <a:bodyPr wrap="square" anchor="ctr" lIns="50800" rIns="50800" tIns="25400" bIns="25400"/>
                    <a:lstStyle/>
                    <a:p>
                      <a:pPr algn="ctr"/>
                      <a:r>
                        <a:rPr sz="1200" b="1">
                          <a:solidFill>
                            <a:srgbClr val="FFFFFF"/>
                          </a:solidFill>
                        </a:rPr>
                        <a:t>Path</a:t>
                      </a:r>
                    </a:p>
                  </a:txBody>
                  <a:tcPr>
                    <a:solidFill>
                      <a:srgbClr val="1A365D"/>
                    </a:solidFill>
                  </a:tcPr>
                </a:tc>
              </a:tr>
              <a:tr h="262563">
                <a:tc>
                  <a:txBody>
                    <a:bodyPr wrap="square" anchor="ctr" lIns="50800" rIns="50800" tIns="25400" bIns="25400"/>
                    <a:lstStyle/>
                    <a:p>
                      <a:pPr algn="l"/>
                      <a:r>
                        <a:rPr sz="1200" b="0">
                          <a:solidFill>
                            <a:srgbClr val="2D3748"/>
                          </a:solidFill>
                        </a:rPr>
                        <a:t>Data metadata</a:t>
                      </a:r>
                    </a:p>
                  </a:txBody>
                  <a:tcPr>
                    <a:solidFill>
                      <a:srgbClr val="FFFFFF"/>
                    </a:solidFill>
                  </a:tcPr>
                </a:tc>
                <a:tc>
                  <a:txBody>
                    <a:bodyPr wrap="square" anchor="ctr" lIns="50800" rIns="50800" tIns="25400" bIns="25400"/>
                    <a:lstStyle/>
                    <a:p>
                      <a:pPr algn="l"/>
                      <a:r>
                        <a:rPr sz="1200" b="0">
                          <a:solidFill>
                            <a:srgbClr val="2D3748"/>
                          </a:solidFill>
                        </a:rPr>
                        <a:t>data/version.txt</a:t>
                      </a:r>
                    </a:p>
                  </a:txBody>
                  <a:tcPr>
                    <a:solidFill>
                      <a:srgbClr val="FFFFFF"/>
                    </a:solidFill>
                  </a:tcPr>
                </a:tc>
              </a:tr>
              <a:tr h="262563">
                <a:tc>
                  <a:txBody>
                    <a:bodyPr wrap="square" anchor="ctr" lIns="50800" rIns="50800" tIns="25400" bIns="25400"/>
                    <a:lstStyle/>
                    <a:p>
                      <a:pPr algn="l"/>
                      <a:r>
                        <a:rPr sz="1200" b="0">
                          <a:solidFill>
                            <a:srgbClr val="2D3748"/>
                          </a:solidFill>
                        </a:rPr>
                        <a:t>ONNX weights</a:t>
                      </a:r>
                    </a:p>
                  </a:txBody>
                  <a:tcPr>
                    <a:solidFill>
                      <a:srgbClr val="EDF2F7"/>
                    </a:solidFill>
                  </a:tcPr>
                </a:tc>
                <a:tc>
                  <a:txBody>
                    <a:bodyPr wrap="square" anchor="ctr" lIns="50800" rIns="50800" tIns="25400" bIns="25400"/>
                    <a:lstStyle/>
                    <a:p>
                      <a:pPr algn="l"/>
                      <a:r>
                        <a:rPr sz="1200" b="0">
                          <a:solidFill>
                            <a:srgbClr val="2D3748"/>
                          </a:solidFill>
                        </a:rPr>
                        <a:t>quantization/artifacts/*.onnx</a:t>
                      </a:r>
                    </a:p>
                  </a:txBody>
                  <a:tcPr>
                    <a:solidFill>
                      <a:srgbClr val="EDF2F7"/>
                    </a:solidFill>
                  </a:tcPr>
                </a:tc>
              </a:tr>
              <a:tr h="262563">
                <a:tc>
                  <a:txBody>
                    <a:bodyPr wrap="square" anchor="ctr" lIns="50800" rIns="50800" tIns="25400" bIns="25400"/>
                    <a:lstStyle/>
                    <a:p>
                      <a:pPr algn="l"/>
                      <a:r>
                        <a:rPr sz="1200" b="0">
                          <a:solidFill>
                            <a:srgbClr val="2D3748"/>
                          </a:solidFill>
                        </a:rPr>
                        <a:t>C5 results</a:t>
                      </a:r>
                    </a:p>
                  </a:txBody>
                  <a:tcPr>
                    <a:solidFill>
                      <a:srgbClr val="FFFFFF"/>
                    </a:solidFill>
                  </a:tcPr>
                </a:tc>
                <a:tc>
                  <a:txBody>
                    <a:bodyPr wrap="square" anchor="ctr" lIns="50800" rIns="50800" tIns="25400" bIns="25400"/>
                    <a:lstStyle/>
                    <a:p>
                      <a:pPr algn="l"/>
                      <a:r>
                        <a:rPr sz="1200" b="0">
                          <a:solidFill>
                            <a:srgbClr val="2D3748"/>
                          </a:solidFill>
                        </a:rPr>
                        <a:t>agent_eval/results/last_run_three_ablations_with_judge.json</a:t>
                      </a:r>
                    </a:p>
                  </a:txBody>
                  <a:tcPr>
                    <a:solidFill>
                      <a:srgbClr val="FFFFFF"/>
                    </a:solidFill>
                  </a:tcPr>
                </a:tc>
              </a:tr>
              <a:tr h="262563">
                <a:tc>
                  <a:txBody>
                    <a:bodyPr wrap="square" anchor="ctr" lIns="50800" rIns="50800" tIns="25400" bIns="25400"/>
                    <a:lstStyle/>
                    <a:p>
                      <a:pPr algn="l"/>
                      <a:r>
                        <a:rPr sz="1200" b="0">
                          <a:solidFill>
                            <a:srgbClr val="2D3748"/>
                          </a:solidFill>
                        </a:rPr>
                        <a:t>C6 report</a:t>
                      </a:r>
                    </a:p>
                  </a:txBody>
                  <a:tcPr>
                    <a:solidFill>
                      <a:srgbClr val="EDF2F7"/>
                    </a:solidFill>
                  </a:tcPr>
                </a:tc>
                <a:tc>
                  <a:txBody>
                    <a:bodyPr wrap="square" anchor="ctr" lIns="50800" rIns="50800" tIns="25400" bIns="25400"/>
                    <a:lstStyle/>
                    <a:p>
                      <a:pPr algn="l"/>
                      <a:r>
                        <a:rPr sz="1200" b="0">
                          <a:solidFill>
                            <a:srgbClr val="2D3748"/>
                          </a:solidFill>
                        </a:rPr>
                        <a:t>reports/integration_eval.md</a:t>
                      </a:r>
                    </a:p>
                  </a:txBody>
                  <a:tcPr>
                    <a:solidFill>
                      <a:srgbClr val="EDF2F7"/>
                    </a:solidFill>
                  </a:tcPr>
                </a:tc>
              </a:tr>
              <a:tr h="262563">
                <a:tc>
                  <a:txBody>
                    <a:bodyPr wrap="square" anchor="ctr" lIns="50800" rIns="50800" tIns="25400" bIns="25400"/>
                    <a:lstStyle/>
                    <a:p>
                      <a:pPr algn="l"/>
                      <a:r>
                        <a:rPr sz="1200" b="0">
                          <a:solidFill>
                            <a:srgbClr val="2D3748"/>
                          </a:solidFill>
                        </a:rPr>
                        <a:t>C7 demo</a:t>
                      </a:r>
                    </a:p>
                  </a:txBody>
                  <a:tcPr>
                    <a:solidFill>
                      <a:srgbClr val="FFFFFF"/>
                    </a:solidFill>
                  </a:tcPr>
                </a:tc>
                <a:tc>
                  <a:txBody>
                    <a:bodyPr wrap="square" anchor="ctr" lIns="50800" rIns="50800" tIns="25400" bIns="25400"/>
                    <a:lstStyle/>
                    <a:p>
                      <a:pPr algn="l"/>
                      <a:r>
                        <a:rPr sz="1200" b="0">
                          <a:solidFill>
                            <a:srgbClr val="2D3748"/>
                          </a:solidFill>
                        </a:rPr>
                        <a:t>reports/integration/fault_injection_demo.md</a:t>
                      </a:r>
                    </a:p>
                  </a:txBody>
                  <a:tcPr>
                    <a:solidFill>
                      <a:srgbClr val="FFFFFF"/>
                    </a:solidFill>
                  </a:tcPr>
                </a:tc>
              </a:tr>
              <a:tr h="262566">
                <a:tc>
                  <a:txBody>
                    <a:bodyPr wrap="square" anchor="ctr" lIns="50800" rIns="50800" tIns="25400" bIns="25400"/>
                    <a:lstStyle/>
                    <a:p>
                      <a:pPr algn="l"/>
                      <a:r>
                        <a:rPr sz="1200" b="0">
                          <a:solidFill>
                            <a:srgbClr val="2D3748"/>
                          </a:solidFill>
                        </a:rPr>
                        <a:t>Final PDF</a:t>
                      </a:r>
                    </a:p>
                  </a:txBody>
                  <a:tcPr>
                    <a:solidFill>
                      <a:srgbClr val="EDF2F7"/>
                    </a:solidFill>
                  </a:tcPr>
                </a:tc>
                <a:tc>
                  <a:txBody>
                    <a:bodyPr wrap="square" anchor="ctr" lIns="50800" rIns="50800" tIns="25400" bIns="25400"/>
                    <a:lstStyle/>
                    <a:p>
                      <a:pPr algn="l"/>
                      <a:r>
                        <a:rPr sz="1200" b="0">
                          <a:solidFill>
                            <a:srgbClr val="2D3748"/>
                          </a:solidFill>
                        </a:rPr>
                        <a:t>reports/final_report.pdf</a:t>
                      </a:r>
                    </a:p>
                  </a:txBody>
                  <a:tcPr>
                    <a:solidFill>
                      <a:srgbClr val="EDF2F7"/>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§36</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36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Q&amp;A backup (1/2) — data &amp; models</a:t>
            </a:r>
          </a:p>
        </p:txBody>
      </p:sp>
      <p:sp>
        <p:nvSpPr>
          <p:cNvPr id="5" name="TextBox 4"/>
          <p:cNvSpPr txBox="1"/>
          <p:nvPr/>
        </p:nvSpPr>
        <p:spPr>
          <a:xfrm>
            <a:off x="457200" y="1143000"/>
            <a:ext cx="11247120" cy="5257800"/>
          </a:xfrm>
          <a:prstGeom prst="rect">
            <a:avLst/>
          </a:prstGeom>
          <a:noFill/>
        </p:spPr>
        <p:txBody>
          <a:bodyPr wrap="square" anchor="t">
            <a:spAutoFit/>
          </a:bodyPr>
          <a:lstStyle/>
          <a:p>
            <a:pPr algn="l">
              <a:spcAft>
                <a:spcPts val="300"/>
              </a:spcAft>
            </a:pPr>
            <a:r>
              <a:rPr sz="1700">
                <a:solidFill>
                  <a:srgbClr val="2D3748"/>
                </a:solidFill>
              </a:rPr>
              <a:t>Q: Why not real plant data?</a:t>
            </a:r>
          </a:p>
          <a:p>
            <a:pPr algn="l">
              <a:spcAft>
                <a:spcPts val="300"/>
              </a:spcAft>
            </a:pPr>
            <a:r>
              <a:rPr sz="1700">
                <a:solidFill>
                  <a:srgbClr val="2D3748"/>
                </a:solidFill>
              </a:rPr>
              <a:t>A: Course forbids off-the-shelf Kaggle/HF sets; industrial data is non-public; synthetic seed-42 reproducible.</a:t>
            </a:r>
          </a:p>
          <a:p>
            <a:pPr algn="l">
              <a:spcAft>
                <a:spcPts val="300"/>
              </a:spcAft>
            </a:pPr>
          </a:p>
          <a:p>
            <a:pPr algn="l">
              <a:spcAft>
                <a:spcPts val="300"/>
              </a:spcAft>
            </a:pPr>
            <a:r>
              <a:rPr sz="1700">
                <a:solidFill>
                  <a:srgbClr val="2D3748"/>
                </a:solidFill>
              </a:rPr>
              <a:t>Q: How is 50,500 built?</a:t>
            </a:r>
          </a:p>
          <a:p>
            <a:pPr algn="l">
              <a:spcAft>
                <a:spcPts val="300"/>
              </a:spcAft>
            </a:pPr>
            <a:r>
              <a:rPr sz="1700">
                <a:solidFill>
                  <a:srgbClr val="2D3748"/>
                </a:solidFill>
              </a:rPr>
              <a:t>A: PV 28,000 + BESS 22,500; Normal oversampling; see docs/data_card.md §6.</a:t>
            </a:r>
          </a:p>
          <a:p>
            <a:pPr algn="l">
              <a:spcAft>
                <a:spcPts val="300"/>
              </a:spcAft>
            </a:pPr>
          </a:p>
          <a:p>
            <a:pPr algn="l">
              <a:spcAft>
                <a:spcPts val="300"/>
              </a:spcAft>
            </a:pPr>
            <a:r>
              <a:rPr sz="1700">
                <a:solidFill>
                  <a:srgbClr val="2D3748"/>
                </a:solidFill>
              </a:rPr>
              <a:t>Q: Why is BESS INT8 poor?</a:t>
            </a:r>
          </a:p>
          <a:p>
            <a:pPr algn="l">
              <a:spcAft>
                <a:spcPts val="300"/>
              </a:spcAft>
            </a:pPr>
            <a:r>
              <a:rPr sz="1700">
                <a:solidFill>
                  <a:srgbClr val="2D3748"/>
                </a:solidFill>
              </a:rPr>
              <a:t>A: Narrow feature bands; per-tensor MinMax; production uses BESS FP32 ONNX.</a:t>
            </a:r>
          </a:p>
          <a:p>
            <a:pPr algn="l">
              <a:spcAft>
                <a:spcPts val="300"/>
              </a:spcAft>
            </a:pPr>
          </a:p>
          <a:p>
            <a:pPr algn="l">
              <a:spcAft>
                <a:spcPts val="300"/>
              </a:spcAft>
            </a:pPr>
            <a:r>
              <a:rPr sz="1700">
                <a:solidFill>
                  <a:srgbClr val="2D3748"/>
                </a:solidFill>
              </a:rPr>
              <a:t>Q: How is edge latency measured?</a:t>
            </a:r>
          </a:p>
          <a:p>
            <a:pPr algn="l">
              <a:spcAft>
                <a:spcPts val="300"/>
              </a:spcAft>
            </a:pPr>
            <a:r>
              <a:rPr sz="1700">
                <a:solidFill>
                  <a:srgbClr val="2D3748"/>
                </a:solidFill>
              </a:rPr>
              <a:t>A: evaluation --compare, 1000 CPU inferences; ONNX FP32 P95 ≈0.15 ms class.</a:t>
            </a:r>
          </a:p>
          <a:p>
            <a:pPr algn="l">
              <a:spcAft>
                <a:spcPts val="300"/>
              </a:spcAft>
            </a:pPr>
          </a:p>
          <a:p>
            <a:pPr algn="l">
              <a:spcAft>
                <a:spcPts val="300"/>
              </a:spcAft>
            </a:pPr>
            <a:r>
              <a:rPr sz="1700">
                <a:solidFill>
                  <a:srgbClr val="2D3748"/>
                </a:solidFill>
              </a:rPr>
              <a:t>Q: Macro-F1 vs accuracy?</a:t>
            </a:r>
          </a:p>
          <a:p>
            <a:pPr algn="l">
              <a:spcAft>
                <a:spcPts val="300"/>
              </a:spcAft>
            </a:pPr>
            <a:r>
              <a:rPr sz="1700">
                <a:solidFill>
                  <a:srgbClr val="2D3748"/>
                </a:solidFill>
              </a:rPr>
              <a:t>A: Macro-F1 fairer under imbalance; per-class reports in onnx_fp32/classification_report.md.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§37</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37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Q&amp;A backup (2/2) — agent &amp; integration</a:t>
            </a:r>
          </a:p>
        </p:txBody>
      </p:sp>
      <p:sp>
        <p:nvSpPr>
          <p:cNvPr id="5" name="TextBox 4"/>
          <p:cNvSpPr txBox="1"/>
          <p:nvPr/>
        </p:nvSpPr>
        <p:spPr>
          <a:xfrm>
            <a:off x="457200" y="1143000"/>
            <a:ext cx="11247120" cy="5257800"/>
          </a:xfrm>
          <a:prstGeom prst="rect">
            <a:avLst/>
          </a:prstGeom>
          <a:noFill/>
        </p:spPr>
        <p:txBody>
          <a:bodyPr wrap="square" anchor="t">
            <a:spAutoFit/>
          </a:bodyPr>
          <a:lstStyle/>
          <a:p>
            <a:pPr algn="l">
              <a:spcAft>
                <a:spcPts val="300"/>
              </a:spcAft>
            </a:pPr>
            <a:r>
              <a:rPr sz="1600">
                <a:solidFill>
                  <a:srgbClr val="2D3748"/>
                </a:solidFill>
              </a:rPr>
              <a:t>Q: Why llama3.2?</a:t>
            </a:r>
          </a:p>
          <a:p>
            <a:pPr algn="l">
              <a:spcAft>
                <a:spcPts val="300"/>
              </a:spcAft>
            </a:pPr>
            <a:r>
              <a:rPr sz="1600">
                <a:solidFill>
                  <a:srgbClr val="2D3748"/>
                </a:solidFill>
              </a:rPr>
              <a:t>A: Local ~2 GiB; dev.yaml default; mock plan fallback on bad JSON.</a:t>
            </a:r>
          </a:p>
          <a:p>
            <a:pPr algn="l">
              <a:spcAft>
                <a:spcPts val="300"/>
              </a:spcAft>
            </a:pPr>
          </a:p>
          <a:p>
            <a:pPr algn="l">
              <a:spcAft>
                <a:spcPts val="300"/>
              </a:spcAft>
            </a:pPr>
            <a:r>
              <a:rPr sz="1600">
                <a:solidFill>
                  <a:srgbClr val="2D3748"/>
                </a:solidFill>
              </a:rPr>
              <a:t>Q: What does No-RAG prove?</a:t>
            </a:r>
          </a:p>
          <a:p>
            <a:pPr algn="l">
              <a:spcAft>
                <a:spcPts val="300"/>
              </a:spcAft>
            </a:pPr>
            <a:r>
              <a:rPr sz="1600">
                <a:solidFill>
                  <a:srgbClr val="2D3748"/>
                </a:solidFill>
              </a:rPr>
              <a:t>A: RAG value is citation/audit, not surface rubric mean.</a:t>
            </a:r>
          </a:p>
          <a:p>
            <a:pPr algn="l">
              <a:spcAft>
                <a:spcPts val="300"/>
              </a:spcAft>
            </a:pPr>
          </a:p>
          <a:p>
            <a:pPr algn="l">
              <a:spcAft>
                <a:spcPts val="300"/>
              </a:spcAft>
            </a:pPr>
            <a:r>
              <a:rPr sz="1600">
                <a:solidFill>
                  <a:srgbClr val="2D3748"/>
                </a:solidFill>
              </a:rPr>
              <a:t>Q: Why not cloud_only?</a:t>
            </a:r>
          </a:p>
          <a:p>
            <a:pPr algn="l">
              <a:spcAft>
                <a:spcPts val="300"/>
              </a:spcAft>
            </a:pPr>
            <a:r>
              <a:rPr sz="1600">
                <a:solidFill>
                  <a:srgbClr val="2D3748"/>
                </a:solidFill>
              </a:rPr>
              <a:t>A: P95 ≈ full but loses fault_class grounding — keep edge always-on.</a:t>
            </a:r>
          </a:p>
          <a:p>
            <a:pPr algn="l">
              <a:spcAft>
                <a:spcPts val="300"/>
              </a:spcAft>
            </a:pPr>
          </a:p>
          <a:p>
            <a:pPr algn="l">
              <a:spcAft>
                <a:spcPts val="300"/>
              </a:spcAft>
            </a:pPr>
            <a:r>
              <a:rPr sz="1600">
                <a:solidFill>
                  <a:srgbClr val="2D3748"/>
                </a:solidFill>
              </a:rPr>
              <a:t>Q: Three agent_recommend_failed?</a:t>
            </a:r>
          </a:p>
          <a:p>
            <a:pPr algn="l">
              <a:spcAft>
                <a:spcPts val="300"/>
              </a:spcAft>
            </a:pPr>
            <a:r>
              <a:rPr sz="1600">
                <a:solidFill>
                  <a:srgbClr val="2D3748"/>
                </a:solidFill>
              </a:rPr>
              <a:t>A: Concurrent tail latency; orchestrator catches and continues — graceful degradation.</a:t>
            </a:r>
          </a:p>
          <a:p>
            <a:pPr algn="l">
              <a:spcAft>
                <a:spcPts val="300"/>
              </a:spcAft>
            </a:pPr>
          </a:p>
          <a:p>
            <a:pPr algn="l">
              <a:spcAft>
                <a:spcPts val="300"/>
              </a:spcAft>
            </a:pPr>
            <a:r>
              <a:rPr sz="1600">
                <a:solidFill>
                  <a:srgbClr val="2D3748"/>
                </a:solidFill>
              </a:rPr>
              <a:t>Q: Is C7 the real system?</a:t>
            </a:r>
          </a:p>
          <a:p>
            <a:pPr algn="l">
              <a:spcAft>
                <a:spcPts val="300"/>
              </a:spcAft>
            </a:pPr>
            <a:r>
              <a:rPr sz="1600">
                <a:solidFill>
                  <a:srgbClr val="2D3748"/>
                </a:solidFill>
              </a:rPr>
              <a:t>A: inject.py shares NodeRunner HTTP; 11 dashboard inject unit tests; fault_injection_demo.md 5/5 ✅.</a:t>
            </a:r>
          </a:p>
          <a:p>
            <a:pPr algn="l">
              <a:spcAft>
                <a:spcPts val="300"/>
              </a:spcAft>
            </a:pPr>
          </a:p>
          <a:p>
            <a:pPr algn="l">
              <a:spcAft>
                <a:spcPts val="300"/>
              </a:spcAft>
            </a:pPr>
            <a:r>
              <a:rPr sz="1600">
                <a:solidFill>
                  <a:srgbClr val="2D3748"/>
                </a:solidFill>
              </a:rPr>
              <a:t>Q: Must we rerun everything?</a:t>
            </a:r>
          </a:p>
          <a:p>
            <a:pPr algn="l">
              <a:spcAft>
                <a:spcPts val="300"/>
              </a:spcAft>
            </a:pPr>
            <a:r>
              <a:rPr sz="1600">
                <a:solidFill>
                  <a:srgbClr val="2D3748"/>
                </a:solidFill>
              </a:rPr>
              <a:t>A: Not if docs match artefacts; rerun only after code/weight/benchmark changes.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§38</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38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Thank you</a:t>
            </a:r>
          </a:p>
        </p:txBody>
      </p:sp>
      <p:sp>
        <p:nvSpPr>
          <p:cNvPr id="5" name="TextBox 4"/>
          <p:cNvSpPr txBox="1"/>
          <p:nvPr/>
        </p:nvSpPr>
        <p:spPr>
          <a:xfrm>
            <a:off x="457200" y="1143000"/>
            <a:ext cx="11247120" cy="2404872"/>
          </a:xfrm>
          <a:prstGeom prst="rect">
            <a:avLst/>
          </a:prstGeom>
          <a:noFill/>
        </p:spPr>
        <p:txBody>
          <a:bodyPr wrap="square" anchor="t">
            <a:spAutoFit/>
          </a:bodyPr>
          <a:lstStyle/>
          <a:p>
            <a:pPr algn="l">
              <a:spcAft>
                <a:spcPts val="300"/>
              </a:spcAft>
            </a:pPr>
            <a:r>
              <a:rPr sz="1700">
                <a:solidFill>
                  <a:srgbClr val="2D3748"/>
                </a:solidFill>
              </a:rPr>
              <a:t>Thank you</a:t>
            </a:r>
          </a:p>
          <a:p>
            <a:pPr algn="l">
              <a:spcAft>
                <a:spcPts val="300"/>
              </a:spcAft>
            </a:pPr>
          </a:p>
          <a:p>
            <a:pPr algn="l">
              <a:spcAft>
                <a:spcPts val="300"/>
              </a:spcAft>
            </a:pPr>
            <a:r>
              <a:rPr sz="1700">
                <a:solidFill>
                  <a:srgbClr val="2D3748"/>
                </a:solidFill>
              </a:rPr>
              <a:t>Questions welcome</a:t>
            </a:r>
          </a:p>
          <a:p>
            <a:pPr algn="l">
              <a:spcAft>
                <a:spcPts val="300"/>
              </a:spcAft>
            </a:pPr>
          </a:p>
          <a:p>
            <a:pPr algn="l">
              <a:spcAft>
                <a:spcPts val="300"/>
              </a:spcAft>
            </a:pPr>
            <a:r>
              <a:rPr sz="1700">
                <a:solidFill>
                  <a:srgbClr val="2D3748"/>
                </a:solidFill>
              </a:rPr>
              <a:t>Backup on second screen: final_report.pdf · appendix A6 (reproduction)</a:t>
            </a:r>
          </a:p>
          <a:p>
            <a:pPr algn="l">
              <a:spcAft>
                <a:spcPts val="300"/>
              </a:spcAft>
            </a:pPr>
            <a:r>
              <a:rPr sz="1700">
                <a:solidFill>
                  <a:srgbClr val="2D3748"/>
                </a:solidFill>
              </a:rPr>
              <a:t>Contact / repository: [your Git URL or local path]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App A1</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39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Full class sample counts</a:t>
            </a:r>
          </a:p>
        </p:txBody>
      </p:sp>
      <p:sp>
        <p:nvSpPr>
          <p:cNvPr id="5" name="TextBox 4"/>
          <p:cNvSpPr txBox="1"/>
          <p:nvPr/>
        </p:nvSpPr>
        <p:spPr>
          <a:xfrm>
            <a:off x="457200" y="1143000"/>
            <a:ext cx="11247120" cy="656082"/>
          </a:xfrm>
          <a:prstGeom prst="rect">
            <a:avLst/>
          </a:prstGeom>
          <a:noFill/>
        </p:spPr>
        <p:txBody>
          <a:bodyPr wrap="square" anchor="t">
            <a:spAutoFit/>
          </a:bodyPr>
          <a:lstStyle/>
          <a:p>
            <a:pPr algn="l">
              <a:spcAft>
                <a:spcPts val="300"/>
              </a:spcAft>
            </a:pPr>
            <a:r>
              <a:rPr sz="1700">
                <a:solidFill>
                  <a:srgbClr val="2D3748"/>
                </a:solidFill>
              </a:rPr>
              <a:t>Class distribution — total 50,500 samples (docs/data_card.md §6)</a:t>
            </a:r>
          </a:p>
        </p:txBody>
      </p:sp>
      <p:graphicFrame>
        <p:nvGraphicFramePr>
          <p:cNvPr id="6" name="Table 5"/>
          <p:cNvGraphicFramePr>
            <a:graphicFrameLocks noGrp="1"/>
          </p:cNvGraphicFramePr>
          <p:nvPr/>
        </p:nvGraphicFramePr>
        <p:xfrm>
          <a:off x="457200" y="1908810"/>
          <a:ext cx="11247118" cy="3374136"/>
        </p:xfrm>
        <a:graphic>
          <a:graphicData uri="http://schemas.openxmlformats.org/drawingml/2006/table">
            <a:tbl>
              <a:tblPr firstRow="1" bandRow="1">
                <a:tableStyleId>{5C22544A-7EE6-4342-B048-85BDC9FD1C3A}</a:tableStyleId>
              </a:tblPr>
              <a:tblGrid>
                <a:gridCol w="6406587"/>
                <a:gridCol w="2313489"/>
                <a:gridCol w="2527042"/>
              </a:tblGrid>
              <a:tr h="259548">
                <a:tc>
                  <a:txBody>
                    <a:bodyPr wrap="square" anchor="ctr" lIns="50800" rIns="50800" tIns="25400" bIns="25400"/>
                    <a:lstStyle/>
                    <a:p>
                      <a:pPr algn="ctr"/>
                      <a:r>
                        <a:rPr sz="900" b="1">
                          <a:solidFill>
                            <a:srgbClr val="FFFFFF"/>
                          </a:solidFill>
                        </a:rPr>
                        <a:t>Class</a:t>
                      </a:r>
                    </a:p>
                  </a:txBody>
                  <a:tcPr>
                    <a:solidFill>
                      <a:srgbClr val="1A365D"/>
                    </a:solidFill>
                  </a:tcPr>
                </a:tc>
                <a:tc>
                  <a:txBody>
                    <a:bodyPr wrap="square" anchor="ctr" lIns="50800" rIns="50800" tIns="25400" bIns="25400"/>
                    <a:lstStyle/>
                    <a:p>
                      <a:pPr algn="ctr"/>
                      <a:r>
                        <a:rPr sz="900" b="1">
                          <a:solidFill>
                            <a:srgbClr val="FFFFFF"/>
                          </a:solidFill>
                        </a:rPr>
                        <a:t>Count</a:t>
                      </a:r>
                    </a:p>
                  </a:txBody>
                  <a:tcPr>
                    <a:solidFill>
                      <a:srgbClr val="1A365D"/>
                    </a:solidFill>
                  </a:tcPr>
                </a:tc>
                <a:tc>
                  <a:txBody>
                    <a:bodyPr wrap="square" anchor="ctr" lIns="50800" rIns="50800" tIns="25400" bIns="25400"/>
                    <a:lstStyle/>
                    <a:p>
                      <a:pPr algn="ctr"/>
                      <a:r>
                        <a:rPr sz="900" b="1">
                          <a:solidFill>
                            <a:srgbClr val="FFFFFF"/>
                          </a:solidFill>
                        </a:rPr>
                        <a:t>% of total</a:t>
                      </a:r>
                    </a:p>
                  </a:txBody>
                  <a:tcPr>
                    <a:solidFill>
                      <a:srgbClr val="1A365D"/>
                    </a:solidFill>
                  </a:tcPr>
                </a:tc>
              </a:tr>
              <a:tr h="259548">
                <a:tc>
                  <a:txBody>
                    <a:bodyPr wrap="square" anchor="ctr" lIns="50800" rIns="50800" tIns="25400" bIns="25400"/>
                    <a:lstStyle/>
                    <a:p>
                      <a:pPr algn="l"/>
                      <a:r>
                        <a:rPr sz="900" b="0">
                          <a:solidFill>
                            <a:srgbClr val="2D3748"/>
                          </a:solidFill>
                        </a:rPr>
                        <a:t>PV_Normal</a:t>
                      </a:r>
                    </a:p>
                  </a:txBody>
                  <a:tcPr>
                    <a:solidFill>
                      <a:srgbClr val="FFFFFF"/>
                    </a:solidFill>
                  </a:tcPr>
                </a:tc>
                <a:tc>
                  <a:txBody>
                    <a:bodyPr wrap="square" anchor="ctr" lIns="50800" rIns="50800" tIns="25400" bIns="25400"/>
                    <a:lstStyle/>
                    <a:p>
                      <a:pPr algn="r"/>
                      <a:r>
                        <a:rPr sz="900" b="0">
                          <a:solidFill>
                            <a:srgbClr val="2D3748"/>
                          </a:solidFill>
                        </a:rPr>
                        <a:t>8,002</a:t>
                      </a:r>
                    </a:p>
                  </a:txBody>
                  <a:tcPr>
                    <a:solidFill>
                      <a:srgbClr val="FFFFFF"/>
                    </a:solidFill>
                  </a:tcPr>
                </a:tc>
                <a:tc>
                  <a:txBody>
                    <a:bodyPr wrap="square" anchor="ctr" lIns="50800" rIns="50800" tIns="25400" bIns="25400"/>
                    <a:lstStyle/>
                    <a:p>
                      <a:pPr algn="r"/>
                      <a:r>
                        <a:rPr sz="900" b="0">
                          <a:solidFill>
                            <a:srgbClr val="2D3748"/>
                          </a:solidFill>
                        </a:rPr>
                        <a:t>15.85%</a:t>
                      </a:r>
                    </a:p>
                  </a:txBody>
                  <a:tcPr>
                    <a:solidFill>
                      <a:srgbClr val="FFFFFF"/>
                    </a:solidFill>
                  </a:tcPr>
                </a:tc>
              </a:tr>
              <a:tr h="259548">
                <a:tc>
                  <a:txBody>
                    <a:bodyPr wrap="square" anchor="ctr" lIns="50800" rIns="50800" tIns="25400" bIns="25400"/>
                    <a:lstStyle/>
                    <a:p>
                      <a:pPr algn="l"/>
                      <a:r>
                        <a:rPr sz="900" b="0">
                          <a:solidFill>
                            <a:srgbClr val="2D3748"/>
                          </a:solidFill>
                        </a:rPr>
                        <a:t>Partial_shading</a:t>
                      </a:r>
                    </a:p>
                  </a:txBody>
                  <a:tcPr>
                    <a:solidFill>
                      <a:srgbClr val="EDF2F7"/>
                    </a:solidFill>
                  </a:tcPr>
                </a:tc>
                <a:tc>
                  <a:txBody>
                    <a:bodyPr wrap="square" anchor="ctr" lIns="50800" rIns="50800" tIns="25400" bIns="25400"/>
                    <a:lstStyle/>
                    <a:p>
                      <a:pPr algn="r"/>
                      <a:r>
                        <a:rPr sz="900" b="0">
                          <a:solidFill>
                            <a:srgbClr val="2D3748"/>
                          </a:solidFill>
                        </a:rPr>
                        <a:t>3,333</a:t>
                      </a:r>
                    </a:p>
                  </a:txBody>
                  <a:tcPr>
                    <a:solidFill>
                      <a:srgbClr val="EDF2F7"/>
                    </a:solidFill>
                  </a:tcPr>
                </a:tc>
                <a:tc>
                  <a:txBody>
                    <a:bodyPr wrap="square" anchor="ctr" lIns="50800" rIns="50800" tIns="25400" bIns="25400"/>
                    <a:lstStyle/>
                    <a:p>
                      <a:pPr algn="r"/>
                      <a:r>
                        <a:rPr sz="900" b="0">
                          <a:solidFill>
                            <a:srgbClr val="2D3748"/>
                          </a:solidFill>
                        </a:rPr>
                        <a:t>6.60%</a:t>
                      </a:r>
                    </a:p>
                  </a:txBody>
                  <a:tcPr>
                    <a:solidFill>
                      <a:srgbClr val="EDF2F7"/>
                    </a:solidFill>
                  </a:tcPr>
                </a:tc>
              </a:tr>
              <a:tr h="259548">
                <a:tc>
                  <a:txBody>
                    <a:bodyPr wrap="square" anchor="ctr" lIns="50800" rIns="50800" tIns="25400" bIns="25400"/>
                    <a:lstStyle/>
                    <a:p>
                      <a:pPr algn="l"/>
                      <a:r>
                        <a:rPr sz="900" b="0">
                          <a:solidFill>
                            <a:srgbClr val="2D3748"/>
                          </a:solidFill>
                        </a:rPr>
                        <a:t>Soiling</a:t>
                      </a:r>
                    </a:p>
                  </a:txBody>
                  <a:tcPr>
                    <a:solidFill>
                      <a:srgbClr val="FFFFFF"/>
                    </a:solidFill>
                  </a:tcPr>
                </a:tc>
                <a:tc>
                  <a:txBody>
                    <a:bodyPr wrap="square" anchor="ctr" lIns="50800" rIns="50800" tIns="25400" bIns="25400"/>
                    <a:lstStyle/>
                    <a:p>
                      <a:pPr algn="r"/>
                      <a:r>
                        <a:rPr sz="900" b="0">
                          <a:solidFill>
                            <a:srgbClr val="2D3748"/>
                          </a:solidFill>
                        </a:rPr>
                        <a:t>3,333</a:t>
                      </a:r>
                    </a:p>
                  </a:txBody>
                  <a:tcPr>
                    <a:solidFill>
                      <a:srgbClr val="FFFFFF"/>
                    </a:solidFill>
                  </a:tcPr>
                </a:tc>
                <a:tc>
                  <a:txBody>
                    <a:bodyPr wrap="square" anchor="ctr" lIns="50800" rIns="50800" tIns="25400" bIns="25400"/>
                    <a:lstStyle/>
                    <a:p>
                      <a:pPr algn="r"/>
                      <a:r>
                        <a:rPr sz="900" b="0">
                          <a:solidFill>
                            <a:srgbClr val="2D3748"/>
                          </a:solidFill>
                        </a:rPr>
                        <a:t>6.60%</a:t>
                      </a:r>
                    </a:p>
                  </a:txBody>
                  <a:tcPr>
                    <a:solidFill>
                      <a:srgbClr val="FFFFFF"/>
                    </a:solidFill>
                  </a:tcPr>
                </a:tc>
              </a:tr>
              <a:tr h="259548">
                <a:tc>
                  <a:txBody>
                    <a:bodyPr wrap="square" anchor="ctr" lIns="50800" rIns="50800" tIns="25400" bIns="25400"/>
                    <a:lstStyle/>
                    <a:p>
                      <a:pPr algn="l"/>
                      <a:r>
                        <a:rPr sz="900" b="0">
                          <a:solidFill>
                            <a:srgbClr val="2D3748"/>
                          </a:solidFill>
                        </a:rPr>
                        <a:t>Bypass_diode_fault</a:t>
                      </a:r>
                    </a:p>
                  </a:txBody>
                  <a:tcPr>
                    <a:solidFill>
                      <a:srgbClr val="EDF2F7"/>
                    </a:solidFill>
                  </a:tcPr>
                </a:tc>
                <a:tc>
                  <a:txBody>
                    <a:bodyPr wrap="square" anchor="ctr" lIns="50800" rIns="50800" tIns="25400" bIns="25400"/>
                    <a:lstStyle/>
                    <a:p>
                      <a:pPr algn="r"/>
                      <a:r>
                        <a:rPr sz="900" b="0">
                          <a:solidFill>
                            <a:srgbClr val="2D3748"/>
                          </a:solidFill>
                        </a:rPr>
                        <a:t>3,333</a:t>
                      </a:r>
                    </a:p>
                  </a:txBody>
                  <a:tcPr>
                    <a:solidFill>
                      <a:srgbClr val="EDF2F7"/>
                    </a:solidFill>
                  </a:tcPr>
                </a:tc>
                <a:tc>
                  <a:txBody>
                    <a:bodyPr wrap="square" anchor="ctr" lIns="50800" rIns="50800" tIns="25400" bIns="25400"/>
                    <a:lstStyle/>
                    <a:p>
                      <a:pPr algn="r"/>
                      <a:r>
                        <a:rPr sz="900" b="0">
                          <a:solidFill>
                            <a:srgbClr val="2D3748"/>
                          </a:solidFill>
                        </a:rPr>
                        <a:t>6.60%</a:t>
                      </a:r>
                    </a:p>
                  </a:txBody>
                  <a:tcPr>
                    <a:solidFill>
                      <a:srgbClr val="EDF2F7"/>
                    </a:solidFill>
                  </a:tcPr>
                </a:tc>
              </a:tr>
              <a:tr h="259548">
                <a:tc>
                  <a:txBody>
                    <a:bodyPr wrap="square" anchor="ctr" lIns="50800" rIns="50800" tIns="25400" bIns="25400"/>
                    <a:lstStyle/>
                    <a:p>
                      <a:pPr algn="l"/>
                      <a:r>
                        <a:rPr sz="900" b="0">
                          <a:solidFill>
                            <a:srgbClr val="2D3748"/>
                          </a:solidFill>
                        </a:rPr>
                        <a:t>String_disconnection</a:t>
                      </a:r>
                    </a:p>
                  </a:txBody>
                  <a:tcPr>
                    <a:solidFill>
                      <a:srgbClr val="FFFFFF"/>
                    </a:solidFill>
                  </a:tcPr>
                </a:tc>
                <a:tc>
                  <a:txBody>
                    <a:bodyPr wrap="square" anchor="ctr" lIns="50800" rIns="50800" tIns="25400" bIns="25400"/>
                    <a:lstStyle/>
                    <a:p>
                      <a:pPr algn="r"/>
                      <a:r>
                        <a:rPr sz="900" b="0">
                          <a:solidFill>
                            <a:srgbClr val="2D3748"/>
                          </a:solidFill>
                        </a:rPr>
                        <a:t>3,333</a:t>
                      </a:r>
                    </a:p>
                  </a:txBody>
                  <a:tcPr>
                    <a:solidFill>
                      <a:srgbClr val="FFFFFF"/>
                    </a:solidFill>
                  </a:tcPr>
                </a:tc>
                <a:tc>
                  <a:txBody>
                    <a:bodyPr wrap="square" anchor="ctr" lIns="50800" rIns="50800" tIns="25400" bIns="25400"/>
                    <a:lstStyle/>
                    <a:p>
                      <a:pPr algn="r"/>
                      <a:r>
                        <a:rPr sz="900" b="0">
                          <a:solidFill>
                            <a:srgbClr val="2D3748"/>
                          </a:solidFill>
                        </a:rPr>
                        <a:t>6.60%</a:t>
                      </a:r>
                    </a:p>
                  </a:txBody>
                  <a:tcPr>
                    <a:solidFill>
                      <a:srgbClr val="FFFFFF"/>
                    </a:solidFill>
                  </a:tcPr>
                </a:tc>
              </a:tr>
              <a:tr h="259548">
                <a:tc>
                  <a:txBody>
                    <a:bodyPr wrap="square" anchor="ctr" lIns="50800" rIns="50800" tIns="25400" bIns="25400"/>
                    <a:lstStyle/>
                    <a:p>
                      <a:pPr algn="l"/>
                      <a:r>
                        <a:rPr sz="900" b="0">
                          <a:solidFill>
                            <a:srgbClr val="2D3748"/>
                          </a:solidFill>
                        </a:rPr>
                        <a:t>Inverter_fault</a:t>
                      </a:r>
                    </a:p>
                  </a:txBody>
                  <a:tcPr>
                    <a:solidFill>
                      <a:srgbClr val="EDF2F7"/>
                    </a:solidFill>
                  </a:tcPr>
                </a:tc>
                <a:tc>
                  <a:txBody>
                    <a:bodyPr wrap="square" anchor="ctr" lIns="50800" rIns="50800" tIns="25400" bIns="25400"/>
                    <a:lstStyle/>
                    <a:p>
                      <a:pPr algn="r"/>
                      <a:r>
                        <a:rPr sz="900" b="0">
                          <a:solidFill>
                            <a:srgbClr val="2D3748"/>
                          </a:solidFill>
                        </a:rPr>
                        <a:t>3,333</a:t>
                      </a:r>
                    </a:p>
                  </a:txBody>
                  <a:tcPr>
                    <a:solidFill>
                      <a:srgbClr val="EDF2F7"/>
                    </a:solidFill>
                  </a:tcPr>
                </a:tc>
                <a:tc>
                  <a:txBody>
                    <a:bodyPr wrap="square" anchor="ctr" lIns="50800" rIns="50800" tIns="25400" bIns="25400"/>
                    <a:lstStyle/>
                    <a:p>
                      <a:pPr algn="r"/>
                      <a:r>
                        <a:rPr sz="900" b="0">
                          <a:solidFill>
                            <a:srgbClr val="2D3748"/>
                          </a:solidFill>
                        </a:rPr>
                        <a:t>6.60%</a:t>
                      </a:r>
                    </a:p>
                  </a:txBody>
                  <a:tcPr>
                    <a:solidFill>
                      <a:srgbClr val="EDF2F7"/>
                    </a:solidFill>
                  </a:tcPr>
                </a:tc>
              </a:tr>
              <a:tr h="259548">
                <a:tc>
                  <a:txBody>
                    <a:bodyPr wrap="square" anchor="ctr" lIns="50800" rIns="50800" tIns="25400" bIns="25400"/>
                    <a:lstStyle/>
                    <a:p>
                      <a:pPr algn="l"/>
                      <a:r>
                        <a:rPr sz="900" b="0">
                          <a:solidFill>
                            <a:srgbClr val="2D3748"/>
                          </a:solidFill>
                        </a:rPr>
                        <a:t>Degradation</a:t>
                      </a:r>
                    </a:p>
                  </a:txBody>
                  <a:tcPr>
                    <a:solidFill>
                      <a:srgbClr val="FFFFFF"/>
                    </a:solidFill>
                  </a:tcPr>
                </a:tc>
                <a:tc>
                  <a:txBody>
                    <a:bodyPr wrap="square" anchor="ctr" lIns="50800" rIns="50800" tIns="25400" bIns="25400"/>
                    <a:lstStyle/>
                    <a:p>
                      <a:pPr algn="r"/>
                      <a:r>
                        <a:rPr sz="900" b="0">
                          <a:solidFill>
                            <a:srgbClr val="2D3748"/>
                          </a:solidFill>
                        </a:rPr>
                        <a:t>3,333</a:t>
                      </a:r>
                    </a:p>
                  </a:txBody>
                  <a:tcPr>
                    <a:solidFill>
                      <a:srgbClr val="FFFFFF"/>
                    </a:solidFill>
                  </a:tcPr>
                </a:tc>
                <a:tc>
                  <a:txBody>
                    <a:bodyPr wrap="square" anchor="ctr" lIns="50800" rIns="50800" tIns="25400" bIns="25400"/>
                    <a:lstStyle/>
                    <a:p>
                      <a:pPr algn="r"/>
                      <a:r>
                        <a:rPr sz="900" b="0">
                          <a:solidFill>
                            <a:srgbClr val="2D3748"/>
                          </a:solidFill>
                        </a:rPr>
                        <a:t>6.60%</a:t>
                      </a:r>
                    </a:p>
                  </a:txBody>
                  <a:tcPr>
                    <a:solidFill>
                      <a:srgbClr val="FFFFFF"/>
                    </a:solidFill>
                  </a:tcPr>
                </a:tc>
              </a:tr>
              <a:tr h="259548">
                <a:tc>
                  <a:txBody>
                    <a:bodyPr wrap="square" anchor="ctr" lIns="50800" rIns="50800" tIns="25400" bIns="25400"/>
                    <a:lstStyle/>
                    <a:p>
                      <a:pPr algn="l"/>
                      <a:r>
                        <a:rPr sz="900" b="0">
                          <a:solidFill>
                            <a:srgbClr val="2D3748"/>
                          </a:solidFill>
                        </a:rPr>
                        <a:t>BESS_Normal</a:t>
                      </a:r>
                    </a:p>
                  </a:txBody>
                  <a:tcPr>
                    <a:solidFill>
                      <a:srgbClr val="EDF2F7"/>
                    </a:solidFill>
                  </a:tcPr>
                </a:tc>
                <a:tc>
                  <a:txBody>
                    <a:bodyPr wrap="square" anchor="ctr" lIns="50800" rIns="50800" tIns="25400" bIns="25400"/>
                    <a:lstStyle/>
                    <a:p>
                      <a:pPr algn="r"/>
                      <a:r>
                        <a:rPr sz="900" b="0">
                          <a:solidFill>
                            <a:srgbClr val="2D3748"/>
                          </a:solidFill>
                        </a:rPr>
                        <a:t>5,000</a:t>
                      </a:r>
                    </a:p>
                  </a:txBody>
                  <a:tcPr>
                    <a:solidFill>
                      <a:srgbClr val="EDF2F7"/>
                    </a:solidFill>
                  </a:tcPr>
                </a:tc>
                <a:tc>
                  <a:txBody>
                    <a:bodyPr wrap="square" anchor="ctr" lIns="50800" rIns="50800" tIns="25400" bIns="25400"/>
                    <a:lstStyle/>
                    <a:p>
                      <a:pPr algn="r"/>
                      <a:r>
                        <a:rPr sz="900" b="0">
                          <a:solidFill>
                            <a:srgbClr val="2D3748"/>
                          </a:solidFill>
                        </a:rPr>
                        <a:t>9.90%</a:t>
                      </a:r>
                    </a:p>
                  </a:txBody>
                  <a:tcPr>
                    <a:solidFill>
                      <a:srgbClr val="EDF2F7"/>
                    </a:solidFill>
                  </a:tcPr>
                </a:tc>
              </a:tr>
              <a:tr h="259548">
                <a:tc>
                  <a:txBody>
                    <a:bodyPr wrap="square" anchor="ctr" lIns="50800" rIns="50800" tIns="25400" bIns="25400"/>
                    <a:lstStyle/>
                    <a:p>
                      <a:pPr algn="l"/>
                      <a:r>
                        <a:rPr sz="900" b="0">
                          <a:solidFill>
                            <a:srgbClr val="2D3748"/>
                          </a:solidFill>
                        </a:rPr>
                        <a:t>Capacity_fade</a:t>
                      </a:r>
                    </a:p>
                  </a:txBody>
                  <a:tcPr>
                    <a:solidFill>
                      <a:srgbClr val="FFFFFF"/>
                    </a:solidFill>
                  </a:tcPr>
                </a:tc>
                <a:tc>
                  <a:txBody>
                    <a:bodyPr wrap="square" anchor="ctr" lIns="50800" rIns="50800" tIns="25400" bIns="25400"/>
                    <a:lstStyle/>
                    <a:p>
                      <a:pPr algn="r"/>
                      <a:r>
                        <a:rPr sz="900" b="0">
                          <a:solidFill>
                            <a:srgbClr val="2D3748"/>
                          </a:solidFill>
                        </a:rPr>
                        <a:t>4,375</a:t>
                      </a:r>
                    </a:p>
                  </a:txBody>
                  <a:tcPr>
                    <a:solidFill>
                      <a:srgbClr val="FFFFFF"/>
                    </a:solidFill>
                  </a:tcPr>
                </a:tc>
                <a:tc>
                  <a:txBody>
                    <a:bodyPr wrap="square" anchor="ctr" lIns="50800" rIns="50800" tIns="25400" bIns="25400"/>
                    <a:lstStyle/>
                    <a:p>
                      <a:pPr algn="r"/>
                      <a:r>
                        <a:rPr sz="900" b="0">
                          <a:solidFill>
                            <a:srgbClr val="2D3748"/>
                          </a:solidFill>
                        </a:rPr>
                        <a:t>8.66%</a:t>
                      </a:r>
                    </a:p>
                  </a:txBody>
                  <a:tcPr>
                    <a:solidFill>
                      <a:srgbClr val="FFFFFF"/>
                    </a:solidFill>
                  </a:tcPr>
                </a:tc>
              </a:tr>
              <a:tr h="259548">
                <a:tc>
                  <a:txBody>
                    <a:bodyPr wrap="square" anchor="ctr" lIns="50800" rIns="50800" tIns="25400" bIns="25400"/>
                    <a:lstStyle/>
                    <a:p>
                      <a:pPr algn="l"/>
                      <a:r>
                        <a:rPr sz="900" b="0">
                          <a:solidFill>
                            <a:srgbClr val="2D3748"/>
                          </a:solidFill>
                        </a:rPr>
                        <a:t>Internal_resistance_increase</a:t>
                      </a:r>
                    </a:p>
                  </a:txBody>
                  <a:tcPr>
                    <a:solidFill>
                      <a:srgbClr val="EDF2F7"/>
                    </a:solidFill>
                  </a:tcPr>
                </a:tc>
                <a:tc>
                  <a:txBody>
                    <a:bodyPr wrap="square" anchor="ctr" lIns="50800" rIns="50800" tIns="25400" bIns="25400"/>
                    <a:lstStyle/>
                    <a:p>
                      <a:pPr algn="r"/>
                      <a:r>
                        <a:rPr sz="900" b="0">
                          <a:solidFill>
                            <a:srgbClr val="2D3748"/>
                          </a:solidFill>
                        </a:rPr>
                        <a:t>4,375</a:t>
                      </a:r>
                    </a:p>
                  </a:txBody>
                  <a:tcPr>
                    <a:solidFill>
                      <a:srgbClr val="EDF2F7"/>
                    </a:solidFill>
                  </a:tcPr>
                </a:tc>
                <a:tc>
                  <a:txBody>
                    <a:bodyPr wrap="square" anchor="ctr" lIns="50800" rIns="50800" tIns="25400" bIns="25400"/>
                    <a:lstStyle/>
                    <a:p>
                      <a:pPr algn="r"/>
                      <a:r>
                        <a:rPr sz="900" b="0">
                          <a:solidFill>
                            <a:srgbClr val="2D3748"/>
                          </a:solidFill>
                        </a:rPr>
                        <a:t>8.66%</a:t>
                      </a:r>
                    </a:p>
                  </a:txBody>
                  <a:tcPr>
                    <a:solidFill>
                      <a:srgbClr val="EDF2F7"/>
                    </a:solidFill>
                  </a:tcPr>
                </a:tc>
              </a:tr>
              <a:tr h="259548">
                <a:tc>
                  <a:txBody>
                    <a:bodyPr wrap="square" anchor="ctr" lIns="50800" rIns="50800" tIns="25400" bIns="25400"/>
                    <a:lstStyle/>
                    <a:p>
                      <a:pPr algn="l"/>
                      <a:r>
                        <a:rPr sz="900" b="0">
                          <a:solidFill>
                            <a:srgbClr val="2D3748"/>
                          </a:solidFill>
                        </a:rPr>
                        <a:t>Thermal_anomaly</a:t>
                      </a:r>
                    </a:p>
                  </a:txBody>
                  <a:tcPr>
                    <a:solidFill>
                      <a:srgbClr val="FFFFFF"/>
                    </a:solidFill>
                  </a:tcPr>
                </a:tc>
                <a:tc>
                  <a:txBody>
                    <a:bodyPr wrap="square" anchor="ctr" lIns="50800" rIns="50800" tIns="25400" bIns="25400"/>
                    <a:lstStyle/>
                    <a:p>
                      <a:pPr algn="r"/>
                      <a:r>
                        <a:rPr sz="900" b="0">
                          <a:solidFill>
                            <a:srgbClr val="2D3748"/>
                          </a:solidFill>
                        </a:rPr>
                        <a:t>4,375</a:t>
                      </a:r>
                    </a:p>
                  </a:txBody>
                  <a:tcPr>
                    <a:solidFill>
                      <a:srgbClr val="FFFFFF"/>
                    </a:solidFill>
                  </a:tcPr>
                </a:tc>
                <a:tc>
                  <a:txBody>
                    <a:bodyPr wrap="square" anchor="ctr" lIns="50800" rIns="50800" tIns="25400" bIns="25400"/>
                    <a:lstStyle/>
                    <a:p>
                      <a:pPr algn="r"/>
                      <a:r>
                        <a:rPr sz="900" b="0">
                          <a:solidFill>
                            <a:srgbClr val="2D3748"/>
                          </a:solidFill>
                        </a:rPr>
                        <a:t>8.66%</a:t>
                      </a:r>
                    </a:p>
                  </a:txBody>
                  <a:tcPr>
                    <a:solidFill>
                      <a:srgbClr val="FFFFFF"/>
                    </a:solidFill>
                  </a:tcPr>
                </a:tc>
              </a:tr>
              <a:tr h="259560">
                <a:tc>
                  <a:txBody>
                    <a:bodyPr wrap="square" anchor="ctr" lIns="50800" rIns="50800" tIns="25400" bIns="25400"/>
                    <a:lstStyle/>
                    <a:p>
                      <a:pPr algn="l"/>
                      <a:r>
                        <a:rPr sz="900" b="0">
                          <a:solidFill>
                            <a:srgbClr val="2D3748"/>
                          </a:solidFill>
                        </a:rPr>
                        <a:t>Cell_imbalance</a:t>
                      </a:r>
                    </a:p>
                  </a:txBody>
                  <a:tcPr>
                    <a:solidFill>
                      <a:srgbClr val="EDF2F7"/>
                    </a:solidFill>
                  </a:tcPr>
                </a:tc>
                <a:tc>
                  <a:txBody>
                    <a:bodyPr wrap="square" anchor="ctr" lIns="50800" rIns="50800" tIns="25400" bIns="25400"/>
                    <a:lstStyle/>
                    <a:p>
                      <a:pPr algn="r"/>
                      <a:r>
                        <a:rPr sz="900" b="0">
                          <a:solidFill>
                            <a:srgbClr val="2D3748"/>
                          </a:solidFill>
                        </a:rPr>
                        <a:t>4,375</a:t>
                      </a:r>
                    </a:p>
                  </a:txBody>
                  <a:tcPr>
                    <a:solidFill>
                      <a:srgbClr val="EDF2F7"/>
                    </a:solidFill>
                  </a:tcPr>
                </a:tc>
                <a:tc>
                  <a:txBody>
                    <a:bodyPr wrap="square" anchor="ctr" lIns="50800" rIns="50800" tIns="25400" bIns="25400"/>
                    <a:lstStyle/>
                    <a:p>
                      <a:pPr algn="r"/>
                      <a:r>
                        <a:rPr sz="900" b="0">
                          <a:solidFill>
                            <a:srgbClr val="2D3748"/>
                          </a:solidFill>
                        </a:rPr>
                        <a:t>8.66%</a:t>
                      </a:r>
                    </a:p>
                  </a:txBody>
                  <a:tcPr>
                    <a:solidFill>
                      <a:srgbClr val="EDF2F7"/>
                    </a:solidFill>
                  </a:tcPr>
                </a:tc>
              </a:tr>
            </a:tbl>
          </a:graphicData>
        </a:graphic>
      </p:graphicFrame>
      <p:sp>
        <p:nvSpPr>
          <p:cNvPr id="7" name="TextBox 6"/>
          <p:cNvSpPr txBox="1"/>
          <p:nvPr/>
        </p:nvSpPr>
        <p:spPr>
          <a:xfrm>
            <a:off x="457200" y="5392674"/>
            <a:ext cx="11247120" cy="656082"/>
          </a:xfrm>
          <a:prstGeom prst="rect">
            <a:avLst/>
          </a:prstGeom>
          <a:noFill/>
        </p:spPr>
        <p:txBody>
          <a:bodyPr wrap="square" anchor="t">
            <a:spAutoFit/>
          </a:bodyPr>
          <a:lstStyle/>
          <a:p>
            <a:pPr algn="l">
              <a:spcAft>
                <a:spcPts val="300"/>
              </a:spcAft>
            </a:pPr>
            <a:r>
              <a:rPr sz="1700">
                <a:solidFill>
                  <a:srgbClr val="2D3748"/>
                </a:solidFill>
              </a:rPr>
              <a:t>Max/min ratio ≈2.40 — Normal classes oversampled for false-alarm control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App A2</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40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Simulation formulas (summary)</a:t>
            </a:r>
          </a:p>
        </p:txBody>
      </p:sp>
      <p:sp>
        <p:nvSpPr>
          <p:cNvPr id="5" name="TextBox 4"/>
          <p:cNvSpPr txBox="1"/>
          <p:nvPr/>
        </p:nvSpPr>
        <p:spPr>
          <a:xfrm>
            <a:off x="457200" y="1143000"/>
            <a:ext cx="11247120" cy="4445127"/>
          </a:xfrm>
          <a:prstGeom prst="rect">
            <a:avLst/>
          </a:prstGeom>
          <a:noFill/>
        </p:spPr>
        <p:txBody>
          <a:bodyPr wrap="square" anchor="t">
            <a:spAutoFit/>
          </a:bodyPr>
          <a:lstStyle/>
          <a:p>
            <a:pPr algn="l">
              <a:spcAft>
                <a:spcPts val="300"/>
              </a:spcAft>
            </a:pPr>
            <a:r>
              <a:rPr sz="1700">
                <a:solidFill>
                  <a:srgbClr val="2D3748"/>
                </a:solidFill>
              </a:rPr>
              <a:t>PV (physics-inspired, docs/data_card.md §3)</a:t>
            </a:r>
          </a:p>
          <a:p>
            <a:pPr algn="l">
              <a:spcAft>
                <a:spcPts val="300"/>
              </a:spcAft>
            </a:pPr>
            <a:r>
              <a:rPr sz="1700">
                <a:solidFill>
                  <a:srgbClr val="2D3748"/>
                </a:solidFill>
              </a:rPr>
              <a:t>• NOCT-style module temperature from T_amb, G</a:t>
            </a:r>
          </a:p>
          <a:p>
            <a:pPr algn="l">
              <a:spcAft>
                <a:spcPts val="300"/>
              </a:spcAft>
            </a:pPr>
            <a:r>
              <a:rPr sz="1700">
                <a:solidFill>
                  <a:srgbClr val="2D3748"/>
                </a:solidFill>
              </a:rPr>
              <a:t>• I_dc, V_dc, P, P_ac, eta from irradiance and electrical constraints</a:t>
            </a:r>
          </a:p>
          <a:p>
            <a:pPr algn="l">
              <a:spcAft>
                <a:spcPts val="300"/>
              </a:spcAft>
            </a:pPr>
          </a:p>
          <a:p>
            <a:pPr algn="l">
              <a:spcAft>
                <a:spcPts val="300"/>
              </a:spcAft>
            </a:pPr>
            <a:r>
              <a:rPr sz="1700">
                <a:solidFill>
                  <a:srgbClr val="2D3748"/>
                </a:solidFill>
              </a:rPr>
              <a:t>BESS (RC equivalent-circuit flavour)</a:t>
            </a:r>
          </a:p>
          <a:p>
            <a:pPr algn="l">
              <a:spcAft>
                <a:spcPts val="300"/>
              </a:spcAft>
            </a:pPr>
            <a:r>
              <a:rPr sz="1700">
                <a:solidFill>
                  <a:srgbClr val="2D3748"/>
                </a:solidFill>
              </a:rPr>
              <a:t>• SOC, V_term, I, T, R_est, sigma_V, N_cycle, SoH trajectories</a:t>
            </a:r>
          </a:p>
          <a:p>
            <a:pPr algn="l">
              <a:spcAft>
                <a:spcPts val="300"/>
              </a:spcAft>
            </a:pPr>
            <a:r>
              <a:rPr sz="1700">
                <a:solidFill>
                  <a:srgbClr val="2D3748"/>
                </a:solidFill>
              </a:rPr>
              <a:t>• Ageing and resistance cues drive fault separability (and INT8 fragility)</a:t>
            </a:r>
          </a:p>
          <a:p>
            <a:pPr algn="l">
              <a:spcAft>
                <a:spcPts val="300"/>
              </a:spcAft>
            </a:pPr>
          </a:p>
          <a:p>
            <a:pPr algn="l">
              <a:spcAft>
                <a:spcPts val="300"/>
              </a:spcAft>
            </a:pPr>
            <a:r>
              <a:rPr sz="1700">
                <a:solidFill>
                  <a:srgbClr val="2D3748"/>
                </a:solidFill>
              </a:rPr>
              <a:t>fault_injector: one pure function per fault · seedable numpy RNG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App A3</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41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Robustness figure index (PV)</a:t>
            </a:r>
          </a:p>
        </p:txBody>
      </p:sp>
      <p:sp>
        <p:nvSpPr>
          <p:cNvPr id="5" name="TextBox 4"/>
          <p:cNvSpPr txBox="1"/>
          <p:nvPr/>
        </p:nvSpPr>
        <p:spPr>
          <a:xfrm>
            <a:off x="457200" y="1143000"/>
            <a:ext cx="11247120" cy="2404872"/>
          </a:xfrm>
          <a:prstGeom prst="rect">
            <a:avLst/>
          </a:prstGeom>
          <a:noFill/>
        </p:spPr>
        <p:txBody>
          <a:bodyPr wrap="square" anchor="t">
            <a:spAutoFit/>
          </a:bodyPr>
          <a:lstStyle/>
          <a:p>
            <a:pPr algn="l">
              <a:spcAft>
                <a:spcPts val="300"/>
              </a:spcAft>
            </a:pPr>
            <a:r>
              <a:rPr sz="1700">
                <a:solidFill>
                  <a:srgbClr val="2D3748"/>
                </a:solidFill>
              </a:rPr>
              <a:t>PV robustness figures (reports/robustness/pv/figures/)</a:t>
            </a:r>
          </a:p>
          <a:p>
            <a:pPr algn="l">
              <a:spcAft>
                <a:spcPts val="300"/>
              </a:spcAft>
            </a:pPr>
            <a:r>
              <a:rPr sz="1700">
                <a:solidFill>
                  <a:srgbClr val="2D3748"/>
                </a:solidFill>
              </a:rPr>
              <a:t>overview_macro_f1 · scale_drift_curve · noise_curve · fgsm_curve</a:t>
            </a:r>
          </a:p>
          <a:p>
            <a:pPr algn="l">
              <a:spcAft>
                <a:spcPts val="300"/>
              </a:spcAft>
            </a:pPr>
            <a:r>
              <a:rPr sz="1700">
                <a:solidFill>
                  <a:srgbClr val="2D3748"/>
                </a:solidFill>
              </a:rPr>
              <a:t>missing_features_curve · condition_heatmap · confidence_sensitivity</a:t>
            </a:r>
          </a:p>
          <a:p>
            <a:pPr algn="l">
              <a:spcAft>
                <a:spcPts val="300"/>
              </a:spcAft>
            </a:pPr>
            <a:r>
              <a:rPr sz="1700">
                <a:solidFill>
                  <a:srgbClr val="2D3748"/>
                </a:solidFill>
              </a:rPr>
              <a:t>ood_energy_histogram · risk_coverage_curve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App A4</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42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Robustness figure index (BESS)</a:t>
            </a:r>
          </a:p>
        </p:txBody>
      </p:sp>
      <p:sp>
        <p:nvSpPr>
          <p:cNvPr id="5" name="TextBox 4"/>
          <p:cNvSpPr txBox="1"/>
          <p:nvPr/>
        </p:nvSpPr>
        <p:spPr>
          <a:xfrm>
            <a:off x="457200" y="1143000"/>
            <a:ext cx="11247120" cy="1239012"/>
          </a:xfrm>
          <a:prstGeom prst="rect">
            <a:avLst/>
          </a:prstGeom>
          <a:noFill/>
        </p:spPr>
        <p:txBody>
          <a:bodyPr wrap="square" anchor="t">
            <a:spAutoFit/>
          </a:bodyPr>
          <a:lstStyle/>
          <a:p>
            <a:pPr algn="l">
              <a:spcAft>
                <a:spcPts val="300"/>
              </a:spcAft>
            </a:pPr>
            <a:r>
              <a:rPr sz="1700">
                <a:solidFill>
                  <a:srgbClr val="2D3748"/>
                </a:solidFill>
              </a:rPr>
              <a:t>BESS robustness figures (reports/robustness/bess/figures/)</a:t>
            </a:r>
          </a:p>
          <a:p>
            <a:pPr algn="l">
              <a:spcAft>
                <a:spcPts val="300"/>
              </a:spcAft>
            </a:pPr>
            <a:r>
              <a:rPr sz="1700">
                <a:solidFill>
                  <a:srgbClr val="2D3748"/>
                </a:solidFill>
              </a:rPr>
              <a:t>Same filenames as PV — overview_macro_f1 through risk_coverage_curve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App A5</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43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Agent eval keyword-drift examples</a:t>
            </a:r>
          </a:p>
        </p:txBody>
      </p:sp>
      <p:sp>
        <p:nvSpPr>
          <p:cNvPr id="5" name="TextBox 4"/>
          <p:cNvSpPr txBox="1"/>
          <p:nvPr/>
        </p:nvSpPr>
        <p:spPr>
          <a:xfrm>
            <a:off x="457200" y="1143000"/>
            <a:ext cx="11247120" cy="4736592"/>
          </a:xfrm>
          <a:prstGeom prst="rect">
            <a:avLst/>
          </a:prstGeom>
          <a:noFill/>
        </p:spPr>
        <p:txBody>
          <a:bodyPr wrap="square" anchor="t">
            <a:spAutoFit/>
          </a:bodyPr>
          <a:lstStyle/>
          <a:p>
            <a:pPr algn="l">
              <a:spcAft>
                <a:spcPts val="300"/>
              </a:spcAft>
            </a:pPr>
            <a:r>
              <a:rPr sz="1700">
                <a:solidFill>
                  <a:srgbClr val="2D3748"/>
                </a:solidFill>
              </a:rPr>
              <a:t>Sub-1.0 scores — predominantly keywords slot (reports/agent_eval.md §8)</a:t>
            </a:r>
          </a:p>
          <a:p>
            <a:pPr algn="l">
              <a:spcAft>
                <a:spcPts val="300"/>
              </a:spcAft>
            </a:pPr>
          </a:p>
          <a:p>
            <a:pPr algn="l">
              <a:spcAft>
                <a:spcPts val="300"/>
              </a:spcAft>
            </a:pPr>
            <a:r>
              <a:rPr sz="1700">
                <a:solidFill>
                  <a:srgbClr val="2D3748"/>
                </a:solidFill>
              </a:rPr>
              <a:t>Examples (full ablation)</a:t>
            </a:r>
          </a:p>
          <a:p>
            <a:pPr algn="l">
              <a:spcAft>
                <a:spcPts val="300"/>
              </a:spcAft>
            </a:pPr>
            <a:r>
              <a:rPr sz="1700">
                <a:solidFill>
                  <a:srgbClr val="2D3748"/>
                </a:solidFill>
              </a:rPr>
              <a:t>• scn_ambiguous_mixed_string_id — score 0.75 · failed: keywords · kb=3</a:t>
            </a:r>
          </a:p>
          <a:p>
            <a:pPr algn="l">
              <a:spcAft>
                <a:spcPts val="300"/>
              </a:spcAft>
            </a:pPr>
            <a:r>
              <a:rPr sz="1700">
                <a:solidFill>
                  <a:srgbClr val="2D3748"/>
                </a:solidFill>
              </a:rPr>
              <a:t>• scn_ambiguous_bess_cell_imbalance_warning — 0.75 · keywords · kb=3</a:t>
            </a:r>
          </a:p>
          <a:p>
            <a:pPr algn="l">
              <a:spcAft>
                <a:spcPts val="300"/>
              </a:spcAft>
            </a:pPr>
            <a:r>
              <a:rPr sz="1700">
                <a:solidFill>
                  <a:srgbClr val="2D3748"/>
                </a:solidFill>
              </a:rPr>
              <a:t>• scn_ambiguous_pv_bypass_diode_warning — 0.75 · keywords · kb=2</a:t>
            </a:r>
          </a:p>
          <a:p>
            <a:pPr algn="l">
              <a:spcAft>
                <a:spcPts val="300"/>
              </a:spcAft>
            </a:pPr>
          </a:p>
          <a:p>
            <a:pPr algn="l">
              <a:spcAft>
                <a:spcPts val="300"/>
              </a:spcAft>
            </a:pPr>
            <a:r>
              <a:rPr sz="1700">
                <a:solidFill>
                  <a:srgbClr val="2D3748"/>
                </a:solidFill>
              </a:rPr>
              <a:t>No-RAG may still show 0.75 with kb=0 — plausible text, zero provenance</a:t>
            </a:r>
          </a:p>
          <a:p>
            <a:pPr algn="l">
              <a:spcAft>
                <a:spcPts val="300"/>
              </a:spcAft>
            </a:pPr>
            <a:r>
              <a:rPr sz="1700">
                <a:solidFill>
                  <a:srgbClr val="2D3748"/>
                </a:solidFill>
              </a:rPr>
              <a:t>Interpretation: lexical drift vs oracle phrases; urgency/forbidden remain strong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457200" y="228600"/>
            <a:ext cx="3657600" cy="320040"/>
          </a:xfrm>
          <a:prstGeom prst="rect">
            <a:avLst/>
          </a:prstGeom>
          <a:noFill/>
        </p:spPr>
        <p:txBody>
          <a:bodyPr wrap="square" anchor="t">
            <a:spAutoFit/>
          </a:bodyPr>
          <a:lstStyle/>
          <a:p>
            <a:pPr algn="l">
              <a:spcAft>
                <a:spcPts val="300"/>
              </a:spcAft>
            </a:pPr>
            <a:r>
              <a:rPr sz="1100">
                <a:solidFill>
                  <a:srgbClr val="71859A"/>
                </a:solidFill>
              </a:rPr>
              <a:t>App A6</a:t>
            </a:r>
          </a:p>
        </p:txBody>
      </p:sp>
      <p:sp>
        <p:nvSpPr>
          <p:cNvPr id="3" name="TextBox 2"/>
          <p:cNvSpPr txBox="1"/>
          <p:nvPr/>
        </p:nvSpPr>
        <p:spPr>
          <a:xfrm>
            <a:off x="10515600" y="228600"/>
            <a:ext cx="1188720" cy="320040"/>
          </a:xfrm>
          <a:prstGeom prst="rect">
            <a:avLst/>
          </a:prstGeom>
          <a:noFill/>
        </p:spPr>
        <p:txBody>
          <a:bodyPr wrap="square" anchor="t">
            <a:spAutoFit/>
          </a:bodyPr>
          <a:lstStyle/>
          <a:p>
            <a:pPr algn="r">
              <a:spcAft>
                <a:spcPts val="300"/>
              </a:spcAft>
            </a:pPr>
            <a:r>
              <a:rPr sz="1100">
                <a:solidFill>
                  <a:srgbClr val="71859A"/>
                </a:solidFill>
              </a:rPr>
              <a:t>44 / 44</a:t>
            </a:r>
          </a:p>
        </p:txBody>
      </p:sp>
      <p:sp>
        <p:nvSpPr>
          <p:cNvPr id="4" name="TextBox 3"/>
          <p:cNvSpPr txBox="1"/>
          <p:nvPr/>
        </p:nvSpPr>
        <p:spPr>
          <a:xfrm>
            <a:off x="457200" y="502920"/>
            <a:ext cx="11247120" cy="502920"/>
          </a:xfrm>
          <a:prstGeom prst="rect">
            <a:avLst/>
          </a:prstGeom>
          <a:noFill/>
        </p:spPr>
        <p:txBody>
          <a:bodyPr wrap="square" anchor="t">
            <a:spAutoFit/>
          </a:bodyPr>
          <a:lstStyle/>
          <a:p>
            <a:pPr algn="l">
              <a:spcAft>
                <a:spcPts val="300"/>
              </a:spcAft>
            </a:pPr>
            <a:r>
              <a:rPr sz="2400">
                <a:solidFill>
                  <a:srgbClr val="1A365D"/>
                </a:solidFill>
              </a:rPr>
              <a:t>Full reproduction commands (PowerShell)</a:t>
            </a:r>
          </a:p>
        </p:txBody>
      </p:sp>
      <p:sp>
        <p:nvSpPr>
          <p:cNvPr id="5" name="TextBox 4"/>
          <p:cNvSpPr txBox="1"/>
          <p:nvPr/>
        </p:nvSpPr>
        <p:spPr>
          <a:xfrm>
            <a:off x="457200" y="1143000"/>
            <a:ext cx="11247120" cy="5257800"/>
          </a:xfrm>
          <a:prstGeom prst="rect">
            <a:avLst/>
          </a:prstGeom>
          <a:noFill/>
        </p:spPr>
        <p:txBody>
          <a:bodyPr wrap="square" anchor="t">
            <a:spAutoFit/>
          </a:bodyPr>
          <a:lstStyle/>
          <a:p>
            <a:pPr algn="l">
              <a:spcAft>
                <a:spcPts val="300"/>
              </a:spcAft>
            </a:pPr>
            <a:r>
              <a:rPr sz="1600">
                <a:solidFill>
                  <a:srgbClr val="2D3748"/>
                </a:solidFill>
              </a:rPr>
              <a:t>One-shot reproduction (复现指南.md §4 — excerpt)</a:t>
            </a:r>
          </a:p>
          <a:p>
            <a:pPr algn="l">
              <a:spcAft>
                <a:spcPts val="300"/>
              </a:spcAft>
            </a:pPr>
            <a:r>
              <a:rPr sz="1600">
                <a:solidFill>
                  <a:srgbClr val="2D3748"/>
                </a:solidFill>
              </a:rPr>
              <a:t>cd &lt;repo&gt; · pip install -e ".[dev]" · pytest tests -q</a:t>
            </a:r>
          </a:p>
          <a:p>
            <a:pPr algn="l">
              <a:spcAft>
                <a:spcPts val="300"/>
              </a:spcAft>
            </a:pPr>
            <a:r>
              <a:rPr sz="1600">
                <a:solidFill>
                  <a:srgbClr val="2D3748"/>
                </a:solidFill>
              </a:rPr>
              <a:t>python -m simulation.generate_dataset --seed 42 --n-pv 28000 --n-bess 22500 ...</a:t>
            </a:r>
          </a:p>
          <a:p>
            <a:pPr algn="l">
              <a:spcAft>
                <a:spcPts val="300"/>
              </a:spcAft>
            </a:pPr>
            <a:r>
              <a:rPr sz="1600">
                <a:solidFill>
                  <a:srgbClr val="2D3748"/>
                </a:solidFill>
              </a:rPr>
              <a:t>python -m training.train --system pv|bess ...</a:t>
            </a:r>
          </a:p>
          <a:p>
            <a:pPr algn="l">
              <a:spcAft>
                <a:spcPts val="300"/>
              </a:spcAft>
            </a:pPr>
            <a:r>
              <a:rPr sz="1600">
                <a:solidFill>
                  <a:srgbClr val="2D3748"/>
                </a:solidFill>
              </a:rPr>
              <a:t>python -m quantization.onnx_export / int8_static</a:t>
            </a:r>
          </a:p>
          <a:p>
            <a:pPr algn="l">
              <a:spcAft>
                <a:spcPts val="300"/>
              </a:spcAft>
            </a:pPr>
            <a:r>
              <a:rPr sz="1600">
                <a:solidFill>
                  <a:srgbClr val="2D3748"/>
                </a:solidFill>
              </a:rPr>
              <a:t>python -m evaluation --compare</a:t>
            </a:r>
          </a:p>
          <a:p>
            <a:pPr algn="l">
              <a:spcAft>
                <a:spcPts val="300"/>
              </a:spcAft>
            </a:pPr>
            <a:r>
              <a:rPr sz="1600">
                <a:solidFill>
                  <a:srgbClr val="2D3748"/>
                </a:solidFill>
              </a:rPr>
              <a:t>python scripts/run_robustness_eval.py</a:t>
            </a:r>
          </a:p>
          <a:p>
            <a:pPr algn="l">
              <a:spcAft>
                <a:spcPts val="300"/>
              </a:spcAft>
            </a:pPr>
            <a:r>
              <a:rPr sz="1600">
                <a:solidFill>
                  <a:srgbClr val="2D3748"/>
                </a:solidFill>
              </a:rPr>
              <a:t>python -m rag.ingest</a:t>
            </a:r>
          </a:p>
          <a:p>
            <a:pPr algn="l">
              <a:spcAft>
                <a:spcPts val="300"/>
              </a:spcAft>
            </a:pPr>
            <a:r>
              <a:rPr sz="1600">
                <a:solidFill>
                  <a:srgbClr val="2D3748"/>
                </a:solidFill>
              </a:rPr>
              <a:t># Terminals A/B: uvicorn edge :8000 · agent :8001</a:t>
            </a:r>
          </a:p>
          <a:p>
            <a:pPr algn="l">
              <a:spcAft>
                <a:spcPts val="300"/>
              </a:spcAft>
            </a:pPr>
            <a:r>
              <a:rPr sz="1600">
                <a:solidFill>
                  <a:srgbClr val="2D3748"/>
                </a:solidFill>
              </a:rPr>
              <a:t>$env:AGENTPV_JUDGE_API_BASE='http://127.0.0.1:11434/v1'</a:t>
            </a:r>
          </a:p>
          <a:p>
            <a:pPr algn="l">
              <a:spcAft>
                <a:spcPts val="300"/>
              </a:spcAft>
            </a:pPr>
            <a:r>
              <a:rPr sz="1600">
                <a:solidFill>
                  <a:srgbClr val="2D3748"/>
                </a:solidFill>
              </a:rPr>
              <a:t>$env:AGENTPV_JUDGE_MODEL='llama3.2:latest'</a:t>
            </a:r>
          </a:p>
          <a:p>
            <a:pPr algn="l">
              <a:spcAft>
                <a:spcPts val="300"/>
              </a:spcAft>
            </a:pPr>
            <a:r>
              <a:rPr sz="1600">
                <a:solidFill>
                  <a:srgbClr val="2D3748"/>
                </a:solidFill>
              </a:rPr>
              <a:t>python -m agent_eval --ablations full no_retrieve_knowledge no_reasoning_trace ...</a:t>
            </a:r>
          </a:p>
          <a:p>
            <a:pPr algn="l">
              <a:spcAft>
                <a:spcPts val="300"/>
              </a:spcAft>
            </a:pPr>
            <a:r>
              <a:rPr sz="1600">
                <a:solidFill>
                  <a:srgbClr val="2D3748"/>
                </a:solidFill>
              </a:rPr>
              <a:t>python scripts/e2e_latency_bench.py --mode edge_only|full|cloud_only ...</a:t>
            </a:r>
          </a:p>
          <a:p>
            <a:pPr algn="l">
              <a:spcAft>
                <a:spcPts val="300"/>
              </a:spcAft>
            </a:pPr>
            <a:r>
              <a:rPr sz="1600">
                <a:solidFill>
                  <a:srgbClr val="2D3748"/>
                </a:solidFill>
              </a:rPr>
              <a:t>python -m orchestrator --nodes pv6_bess4 --duration 60 --http-timeout 120</a:t>
            </a:r>
          </a:p>
          <a:p>
            <a:pPr algn="l">
              <a:spcAft>
                <a:spcPts val="300"/>
              </a:spcAft>
            </a:pPr>
            <a:r>
              <a:rPr sz="1600">
                <a:solidFill>
                  <a:srgbClr val="2D3748"/>
                </a:solidFill>
              </a:rPr>
              <a:t>python scripts/demo_fault_injection.py</a:t>
            </a:r>
          </a:p>
          <a:p>
            <a:pPr algn="l">
              <a:spcAft>
                <a:spcPts val="300"/>
              </a:spcAft>
            </a:pPr>
            <a:r>
              <a:rPr sz="1600">
                <a:solidFill>
                  <a:srgbClr val="2D3748"/>
                </a:solidFill>
              </a:rPr>
              <a:t>python scripts/render_final_report.py</a:t>
            </a:r>
          </a:p>
          <a:p>
            <a:pPr algn="l">
              <a:spcAft>
                <a:spcPts val="300"/>
              </a:spcAft>
            </a:pPr>
          </a:p>
          <a:p>
            <a:pPr algn="l">
              <a:spcAft>
                <a:spcPts val="300"/>
              </a:spcAft>
            </a:pPr>
            <a:r>
              <a:rPr sz="1600">
                <a:solidFill>
                  <a:srgbClr val="2D3748"/>
                </a:solidFill>
              </a:rPr>
              <a:t>Full copy-paste block: 复现指南.md §4 (lines 501–556)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